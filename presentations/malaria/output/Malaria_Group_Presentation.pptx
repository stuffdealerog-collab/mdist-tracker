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Javohir · Introduction" id="{b5b7406b-1c67-997a-bd7b-e176e47f8fbb}">
          <p14:sldIdLst>
            <p14:sldId id="256"/>
            <p14:sldId id="257"/>
            <p14:sldId id="258"/>
            <p14:sldId id="259"/>
          </p14:sldIdLst>
        </p14:section>
        <p14:section name="Muhammadrizo · History" id="{a6820970-684f-33d2-15b7-62c260ba302c}">
          <p14:sldIdLst>
            <p14:sldId id="260"/>
            <p14:sldId id="261"/>
            <p14:sldId id="262"/>
          </p14:sldIdLst>
        </p14:section>
        <p14:section name="Ramazan · Malaria today" id="{58ed8778-0526-5867-c15f-e7ea9b45c093}">
          <p14:sldIdLst>
            <p14:sldId id="263"/>
            <p14:sldId id="264"/>
            <p14:sldId id="265"/>
          </p14:sldIdLst>
        </p14:section>
        <p14:section name="Akmalbek · Fighting back" id="{d2b0b607-77b9-51d3-521c-564511c8ed55}">
          <p14:sldIdLst>
            <p14:sldId id="266"/>
            <p14:sldId id="267"/>
            <p14:sldId id="268"/>
          </p14:sldIdLst>
        </p14:section>
        <p14:section name="Javohir · Conclusion" id="{96476603-e9fb-391e-2c2c-5cebe3e349a6}">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4ECE8"/>
                </a:solidFill>
                <a:latin typeface="Arial"/>
              </a:defRPr>
            </a:pPr>
            <a:r>
              <a:rPr sz="1400" b="0" i="0" u="none" strike="noStrike">
                <a:solidFill>
                  <a:srgbClr val="F4ECE8"/>
                </a:solidFill>
                <a:latin typeface="Arial"/>
              </a:rPr>
              <a:t>Malaria cases worldwide, millions</a:t>
            </a:r>
          </a:p>
        </c:rich>
      </c:tx>
      <c:layout/>
      <c:overlay val="0"/>
    </c:title>
    <c:autoTitleDeleted val="0"/>
    <c:plotArea>
      <c:layout/>
      <c:barChart>
        <c:barDir val="col"/>
        <c:grouping val="clustered"/>
        <c:varyColors val="0"/>
        <c:ser>
          <c:idx val="0"/>
          <c:order val="0"/>
          <c:tx>
            <c:strRef>
              <c:f>Sheet1!$B$1</c:f>
              <c:strCache>
                <c:ptCount val="1"/>
                <c:pt idx="0">
                  <c:v>Malaria cases, millions</c:v>
                </c:pt>
              </c:strCache>
            </c:strRef>
          </c:tx>
          <c:spPr>
            <a:solidFill>
              <a:srgbClr val="C8202F"/>
            </a:solidFill>
            <a:effectLst/>
          </c:spPr>
          <c:invertIfNegative val="0"/>
          <c:dLbls>
            <c:numFmt formatCode="#,##0" sourceLinked="0"/>
            <c:txPr>
              <a:bodyPr/>
              <a:lstStyle/>
              <a:p>
                <a:pPr>
                  <a:defRPr b="1" i="0" strike="noStrike" sz="1600" u="none">
                    <a:solidFill>
                      <a:srgbClr val="F4ECE8"/>
                    </a:solidFill>
                    <a:latin typeface="Arial"/>
                  </a:defRPr>
                </a:pPr>
              </a:p>
            </c:txPr>
            <c:showLegendKey val="0"/>
            <c:showVal val="1"/>
            <c:showCatName val="0"/>
            <c:showSerName val="0"/>
            <c:showPercent val="0"/>
            <c:showBubbleSize val="0"/>
            <c:showLeaderLines val="0"/>
          </c:dLbls>
          <c:cat>
            <c:multiLvlStrRef>
              <c:f>Sheet1!$A$2:$A$4</c:f>
              <c:multiLvlStrCache>
                <c:ptCount val="3"/>
                <c:lvl>
                  <c:pt idx="0">
                    <c:v>2015</c:v>
                  </c:pt>
                  <c:pt idx="1">
                    <c:v>2023</c:v>
                  </c:pt>
                  <c:pt idx="2">
                    <c:v>2024</c:v>
                  </c:pt>
                </c:lvl>
              </c:multiLvlStrCache>
            </c:multiLvlStrRef>
          </c:cat>
          <c:val>
            <c:numRef>
              <c:f>Sheet1!$B$2:$B$4</c:f>
              <c:numCache>
                <c:formatCode>General</c:formatCode>
                <c:ptCount val="3"/>
                <c:pt idx="0">
                  <c:v>230</c:v>
                </c:pt>
                <c:pt idx="1">
                  <c:v>273</c:v>
                </c:pt>
                <c:pt idx="2">
                  <c:v>282</c:v>
                </c:pt>
              </c:numCache>
            </c:numRef>
          </c:val>
        </c:ser>
        <c:dLbls>
          <c:numFmt formatCode="#,##0" sourceLinked="0"/>
          <c:txPr>
            <a:bodyPr/>
            <a:lstStyle/>
            <a:p>
              <a:pPr>
                <a:defRPr b="1" i="0" strike="noStrike" sz="1600" u="none">
                  <a:solidFill>
                    <a:srgbClr val="F4ECE8"/>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C9B2AE"/>
                </a:solidFill>
                <a:latin typeface="Arial"/>
              </a:defRPr>
            </a:pPr>
            <a:endParaRPr lang="en-US"/>
          </a:p>
        </c:txPr>
        <c:crossAx val="2094734552"/>
        <c:crosses val="autoZero"/>
        <c:auto val="1"/>
        <c:lblAlgn val="ctr"/>
        <c:noMultiLvlLbl val="1"/>
      </c:catAx>
      <c:valAx>
        <c:axId val="2094734552"/>
        <c:scaling>
          <c:orientation val="minMax"/>
          <c:max val="3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Funding</c:v>
                </c:pt>
              </c:strCache>
            </c:strRef>
          </c:tx>
          <c:spPr>
            <a:solidFill>
              <a:schemeClr val="accent1"/>
            </a:solidFill>
            <a:ln w="9525" cap="flat">
              <a:solidFill>
                <a:srgbClr val="F9F9F9"/>
              </a:solidFill>
              <a:prstDash val="solid"/>
              <a:round/>
            </a:ln>
            <a:effectLst/>
          </c:spPr>
          <c:dPt>
            <c:idx val="0"/>
            <c:bubble3D val="0"/>
            <c:spPr>
              <a:solidFill>
                <a:srgbClr val="E5333D"/>
              </a:solidFill>
              <a:ln w="6350" cap="flat">
                <a:solidFill>
                  <a:srgbClr val="1C080B"/>
                </a:solidFill>
                <a:prstDash val="solid"/>
                <a:round/>
              </a:ln>
              <a:effectLst/>
            </c:spPr>
          </c:dPt>
          <c:dPt>
            <c:idx val="1"/>
            <c:bubble3D val="0"/>
            <c:spPr>
              <a:solidFill>
                <a:srgbClr val="3A1418"/>
              </a:solidFill>
              <a:ln w="6350" cap="flat">
                <a:solidFill>
                  <a:srgbClr val="1C080B"/>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Invested</c:v>
                </c:pt>
                <c:pt idx="1">
                  <c:v>Gap</c:v>
                </c:pt>
              </c:strCache>
            </c:strRef>
          </c:cat>
          <c:val>
            <c:numRef>
              <c:f>Sheet1!$B$2:$B$3</c:f>
              <c:numCache>
                <c:ptCount val="2"/>
                <c:pt idx="0">
                  <c:v>3.9</c:v>
                </c:pt>
                <c:pt idx="1">
                  <c:v>5.4</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[Javohir Azamov]
Good afternoon, dear teacher and dear audience. Today our group will present one of the oldest and deadliest diseases in human history: malaria. Before we start, let us introduce ourselves. My name is Azamov Javohir Latipovich, and my ID number is b2600910.
[Muhammadrizo Asatullayev]
Good afternoon. My name is Asatullayev Muhammadrizo Anvarjon o'g'li, and my ID number is b2603096.
[Ramazan Bakiyev]
Good afternoon. My name is Bakiyev Ramazan Sherzodovich, and my ID number is b2605509.
[Akmalbek Abduraimov]
Good afternoon. My name is Abduraimov Akmalbek Jamshit o'g'li, and my ID number is b2606469.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[Javohir Azamov]
Thank you. First, I will explain what malaria is and how deadly it is. Then Muhammadrizo will talk about its history and the biggest outbreaks, Ramazan about the numbers today, and Akmalbek about how we fight back: vaccines, prevention and treatment. Finally, I will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[Javohir Azamov]
So, what is malaria? According to the World Health Organization, it is a life-threatening disease spread to humans by mosquitoes. Our task asks if it is viral or bacterial. The answer is: neither. Malaria is caused by a parasite, a tiny single-celled organism called Plasmodium.
The parasite travels inside the female Anopheles mosquito, which bites mostly at night. After the bite, the parasites hide in the liver, and then they attack the red blood cells. Malaria does not spread from person to person.
Five species of Plasmodium infect humans. The most dangerous are vivax, the most common outside Africa, and falciparum, the deadliest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[Javohir Azamov]
And how deadly is it? The first symptoms usually start ten to fifteen days after the bite: fever, chills and headache. It looks like the flu, and that is exactly the danger. Left untreated, falciparum malaria can progress to severe illness and death within twenty-four hours.
When severe malaria is not treated, the death rate approaches one hundred percent. Even with good hospital treatment, ten to twenty percent of these patients still die. So the key word is time: fast diagnosis saves lives.
But how long has this parasite been with us? Muhammadrizo will tell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[Muhammadrizo Asatullayev]
Thank you, Javohir. As Javohir said, malaria is a very old enemy. In fact, it is one of the oldest diseases known to humanity.
The first records come from China. A Chinese medical text from about 2700 BC describes fevers that return again and again, together with an enlarged spleen. These are the classic signs of malaria.
In Egypt, medical papyri from 1570 BC describe similar fevers. And modern science found real proof: in 2010, researchers found the DNA of the malaria parasite in the mummy of the pharaoh Tutankhamun. So even a king could not escape it.
In ancient Greece, Hippocrates noticed that people who lived near marshes often suffered from these fevers. And the name itself is Italian: mal aria means bad air, because people believed that the disease came from the air of the swamps.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[Muhammadrizo Asatullayev]
For thousands of years, nobody knew the real cause. The answer came only at the end of the nineteenth century.
In 1880, a French army doctor in Algeria, Alphonse Laveran, looked through his microscope at the blood of a sick soldier and saw the parasite. Later he received the Nobel Prize for this work.
On the twentieth of August 1897, the British doctor Ronald Ross, working in India, found the parasite inside a mosquito. He called this day Mosquito Day, and in 1902 he received the Nobel Prize. A year later, in 1898, the Italian scientist Giovanni Grassi and his team proved that human malaria is carried by Anopheles mosquitoes.
Now, for the first time, people knew exactly who the enemy was: a parasite, and its carrier, the mosquito.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[Muhammadrizo Asatullayev]
Once people knew the enemy, they could fight it. But malaria still caused terrible epidemics.
In 1934 and 1935, in Sri Lanka, which was then called Ceylon, a drought created perfect breeding places for mosquitoes. About one and a half million people fell ill, and about eighty thousand died.
In 1958, Ethiopia suffered one of the worst epidemics in history: about three million cases and one hundred and fifty thousand deaths.
And this is not only history. After the terrible floods of 2022 in Pakistan, malaria cases grew at least four times. And in 2024, Ethiopia, Madagascar and Yemen together added about five million new cases in just one year.
So what does malaria cost the world today? Ramazan will show you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[Ramazan Bakiyev]
Thank you, Muhammadrizo. As Muhammadrizo showed, malaria is not only a disease of the past. Let me show you the latest numbers from the World Malaria Report, published by WHO in December 2025.
In 2024, there were about two hundred and eighty-two million cases of malaria in eighty countries. Six hundred and ten thousand people died. That is almost one thousand seven hundred people every single day.
The burden is very unequal. Africa carries ninety-four percent of all cases and ninety-five percent of all deaths. Just five countries, Nigeria, the Democratic Republic of the Congo, Uganda, Ethiopia and Mozambique, have more than half of all cases in the world.
And the most painful number: in Africa, three out of four people who die from malaria are children under five years old. That is more than one thousand small children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[Ramazan Bakiyev]
And here is the worrying part: the number of cases is going up. In 2015, there were two hundred and thirty million cases. In 2023, two hundred and seventy-three million. And in 2024, two hundred and eighty-two million. Deaths also grew, from five hundred and seventy-eight thousand to six hundred and ten thousand. The death rate per person is lower than ten years ago, but the population keeps growing.
One big reason is money. The global strategy needs about nine point three billion dollars a year. In 2024, the world invested only three point nine billion dollars. That is just forty-two percent of what is needed. And without money, there are fewer nets, fewer tests and fewer medicines.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[Ramazan Bakiyev]
But there is also good news. Since the year 2000, malaria control has prevented two point three billion cases and fourteen million deaths. Today, forty-seven countries and one territory are officially certified as malaria-free.
And one of them is our own country. Uzbekistan first stopped malaria in 1961, but the disease came back. In 2005, the countries of our region signed the Tashkent Declaration and promised to eliminate malaria. In Surkhandarya, the most affected province, cases fell from eighty-one in 2007 to zero. The last local cases were found in 2010, and in December 2018, WHO officially certified Uzbekistan as malaria-free. According to WHO, the key was early diagnosis and treatment, free of charge for everyone.
So malaria can be defeated. But with which tools? Akmalbek will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[Akmalbek Abduraimov]
Thank you, Ramazan. As Ramazan said, malaria can be defeated, and today we have a new weapon: a vaccine. For a long time it seemed impossible, because a parasite is much more complex than a virus or a bacterium.
The first vaccine, RTS,S, is the result of thirty years of research by the company GSK. In October 2021, WHO recommended it for children, and called it a historic moment. In October 2023, WHO recommended a second vaccine, R21, developed by the University of Oxford. In areas where malaria is seasonal, it reduced cases by seventy-five percent. And it is affordable: according to WHO, it is cost-effective at only two to four dollars per dose.
In the pilot programme in Ghana, Kenya and Malawi, child deaths from all causes fell by thirteen percent. And by October 2025, twenty-four countries were using malaria vaccines.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[Akmalbek Abduraimov]
But a vaccine alone is not enough. Prevention is still our main shield.
The most important tool is very simple: a bed net treated with insecticide. Between 2000 and 2015, these nets were responsible for sixty-eight percent of all malaria cases prevented in Africa. But a net works only if people sleep under it every night.
Second, spraying insecticide on the inside walls of houses, where mosquitoes rest after they bite.
Third, preventive medicines for children during the rainy season. In 2024, about fifty-four million African children received them in each round.
And finally, personal protection: repellents, long sleeves, and no standing water near the house. Travellers to risk areas should also take preventive tablets.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[Akmalbek Abduraimov]
And if a person is already sick? Malaria is curable, but the first step is always a test: a blood test under the microscope, or a rapid test.
The history of treatment is fascinating. In the 1600s, people used the bark of the South American cinchona tree against fever, and in 1820 scientists extracted quinine from it. In the 1970s, the Chinese scientist Tu Youyou found artemisinin in an ancient herbal medicine, sweet wormwood. In 2015, she received the Nobel Prize.
Today, the most effective treatment is artemisinin-based combination therapy, or ACT. For severe malaria, doctors give artesunate by injection. But there is a new danger: in Eritrea, Rwanda, Uganda and Tanzania, the parasite is becoming partially resistant to artemisinin.
Now Javohir will sum up our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[Javohir Azamov]
Thank you, Akmalbek. To conclude, here are our four main ideas.
First, malaria is caused by a parasite, and without treatment it can kill within one day.
Second, it has been with humanity for almost five thousand years.
Third, it is still a huge problem: two hundred and eighty-two million cases and six hundred and ten thousand deaths in 2024, mostly young children in Africa.
And fourth, we know how to win: vaccines, bed nets and fast treatment. Uzbekistan is the proof.
So our message is simple: malaria is preventable and curable. Block the bite, test early, treat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[Javohir Azamov]
Thank you for your attention. We will be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slide after "thank you" and leave it on the screen during questions. No speech needed. If asked: "Here are the sources we used, in Harvard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5" Type="http://schemas.openxmlformats.org/officeDocument/2006/relationships/chart" Target="/ppt/charts/chart1.xml"/><Relationship Id="rId7" Type="http://schemas.openxmlformats.org/officeDocument/2006/relationships/chart" Target="/ppt/charts/chart2.xml"/><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6" Type="http://schemas.openxmlformats.org/officeDocument/2006/relationships/image" Target="../media/image-9-5.png"/><Relationship Id="rId8" Type="http://schemas.openxmlformats.org/officeDocument/2006/relationships/image" Target="../media/image-9-6.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slideLayout" Target="../slideLayouts/slideLayout1.xml"/><Relationship Id="rId1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1.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slideLayout" Target="../slideLayouts/slideLayout1.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slide1.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1">
    <p:bg>
      <p:bgPr>
        <a:solidFill>
          <a:srgbClr val="0A0405"/>
        </a:solidFill>
      </p:bgPr>
    </p:bg>
    <p:spTree>
      <p:nvGrpSpPr>
        <p:cNvPr id="1" name=""/>
        <p:cNvGrpSpPr/>
        <p:nvPr/>
      </p:nvGrpSpPr>
      <p:grpSpPr>
        <a:xfrm>
          <a:off x="0" y="0"/>
          <a:ext cx="0" cy="0"/>
          <a:chOff x="0" y="0"/>
          <a:chExt cx="0" cy="0"/>
        </a:xfrm>
      </p:grpSpPr>
      <p:pic>
        <p:nvPicPr>
          <p:cNvPr id="2" name="!!bg" descr="Macro photo of a female Anopheles mosquito against a red moon">    </p:cNvPr>
          <p:cNvPicPr>
            <a:picLocks noChangeAspect="1"/>
          </p:cNvPicPr>
          <p:nvPr/>
        </p:nvPicPr>
        <p:blipFill>
          <a:blip r:embed="rId1"/>
          <a:stretch>
            <a:fillRect/>
          </a:stretch>
        </p:blipFill>
        <p:spPr>
          <a:xfrm>
            <a:off x="0" y="0"/>
            <a:ext cx="12191695" cy="6858000"/>
          </a:xfrm>
          <a:prstGeom prst="rect">
            <a:avLst/>
          </a:prstGeom>
        </p:spPr>
      </p:pic>
      <p:pic>
        <p:nvPicPr>
          <p:cNvPr id="3" name="!!shade" descr="/home/user/mdist-tracker/presentations/malaria/build/shade_L.png">    </p:cNvPr>
          <p:cNvPicPr>
            <a:picLocks noChangeAspect="1"/>
          </p:cNvPicPr>
          <p:nvPr/>
        </p:nvPicPr>
        <p:blipFill>
          <a:blip r:embed="rId2"/>
          <a:stretch>
            <a:fillRect/>
          </a:stretch>
        </p:blipFill>
        <p:spPr>
          <a:xfrm>
            <a:off x="0" y="0"/>
            <a:ext cx="12191695" cy="6858000"/>
          </a:xfrm>
          <a:prstGeom prst="rect">
            <a:avLst/>
          </a:prstGeom>
        </p:spPr>
      </p:pic>
      <p:pic>
        <p:nvPicPr>
          <p:cNvPr id="4" name="!!logo" descr="MDIS Tashkent logo">    </p:cNvPr>
          <p:cNvPicPr>
            <a:picLocks noChangeAspect="1"/>
          </p:cNvPicPr>
          <p:nvPr/>
        </p:nvPicPr>
        <p:blipFill>
          <a:blip r:embed="rId3"/>
          <a:stretch>
            <a:fillRect/>
          </a:stretch>
        </p:blipFill>
        <p:spPr>
          <a:xfrm>
            <a:off x="548640" y="502920"/>
            <a:ext cx="3838045" cy="457200"/>
          </a:xfrm>
          <a:prstGeom prst="rect">
            <a:avLst/>
          </a:prstGeom>
        </p:spPr>
      </p:pic>
      <p:sp>
        <p:nvSpPr>
          <p:cNvPr id="5" name="fx:1:fade:pill"/>
          <p:cNvSpPr/>
          <p:nvPr/>
        </p:nvSpPr>
        <p:spPr>
          <a:xfrm>
            <a:off x="548640" y="1298448"/>
            <a:ext cx="2644445" cy="274320"/>
          </a:xfrm>
          <a:prstGeom prst="roundRect">
            <a:avLst>
              <a:gd name="adj" fmla="val 50000"/>
            </a:avLst>
          </a:prstGeom>
          <a:solidFill>
            <a:srgbClr val="0A0405">
              <a:alpha val="65000"/>
            </a:srgbClr>
          </a:solidFill>
          <a:ln w="9525">
            <a:solidFill>
              <a:srgbClr val="7A3038"/>
            </a:solidFill>
            <a:prstDash val="solid"/>
          </a:ln>
        </p:spPr>
      </p:sp>
      <p:sp>
        <p:nvSpPr>
          <p:cNvPr id="6" name="fx:1:fade:pilltext"/>
          <p:cNvSpPr txBox="1"/>
          <p:nvPr/>
        </p:nvSpPr>
        <p:spPr>
          <a:xfrm>
            <a:off x="548640" y="1298448"/>
            <a:ext cx="2644445" cy="274320"/>
          </a:xfrm>
          <a:prstGeom prst="rect">
            <a:avLst/>
          </a:prstGeom>
          <a:noFill/>
          <a:ln/>
        </p:spPr>
        <p:txBody>
          <a:bodyPr wrap="square" lIns="0" tIns="0" rIns="0" bIns="0" rtlCol="0" anchor="ctr"/>
          <a:lstStyle/>
          <a:p>
            <a:pPr algn="ctr" indent="0" marL="0">
              <a:buNone/>
            </a:pPr>
            <a:r>
              <a:rPr lang="en-US" sz="1000" b="1" spc="150" kern="0" dirty="0">
                <a:solidFill>
                  <a:srgbClr val="C9B2AE"/>
                </a:solidFill>
                <a:latin typeface="Arial" pitchFamily="34" charset="0"/>
                <a:ea typeface="Arial" pitchFamily="34" charset="-122"/>
                <a:cs typeface="Arial" pitchFamily="34" charset="-120"/>
              </a:rPr>
              <a:t>GROUP ORAL PRESENTATION</a:t>
            </a:r>
            <a:endParaRPr lang="en-US" sz="1000" dirty="0"/>
          </a:p>
        </p:txBody>
      </p:sp>
      <p:pic>
        <p:nvPicPr>
          <p:cNvPr id="7" name="!!title" descr="Malaria">    </p:cNvPr>
          <p:cNvPicPr>
            <a:picLocks noChangeAspect="1"/>
          </p:cNvPicPr>
          <p:nvPr/>
        </p:nvPicPr>
        <p:blipFill>
          <a:blip r:embed="rId4"/>
          <a:stretch>
            <a:fillRect/>
          </a:stretch>
        </p:blipFill>
        <p:spPr>
          <a:xfrm>
            <a:off x="475488" y="1691640"/>
            <a:ext cx="7741741" cy="1452711"/>
          </a:xfrm>
          <a:prstGeom prst="rect">
            <a:avLst/>
          </a:prstGeom>
        </p:spPr>
      </p:pic>
      <p:pic>
        <p:nvPicPr>
          <p:cNvPr id="8" name="fx:2:up:sub" descr="An ancient parasite, a modern fight">    </p:cNvPr>
          <p:cNvPicPr>
            <a:picLocks noChangeAspect="1"/>
          </p:cNvPicPr>
          <p:nvPr/>
        </p:nvPicPr>
        <p:blipFill>
          <a:blip r:embed="rId5"/>
          <a:stretch>
            <a:fillRect/>
          </a:stretch>
        </p:blipFill>
        <p:spPr>
          <a:xfrm>
            <a:off x="548640" y="3246120"/>
            <a:ext cx="4003923" cy="645021"/>
          </a:xfrm>
          <a:prstGeom prst="rect">
            <a:avLst/>
          </a:prstGeom>
        </p:spPr>
      </p:pic>
      <p:sp>
        <p:nvSpPr>
          <p:cNvPr id="9" name="fx:2:up:dia"/>
          <p:cNvSpPr txBox="1"/>
          <p:nvPr/>
        </p:nvSpPr>
        <p:spPr>
          <a:xfrm>
            <a:off x="548640" y="4041648"/>
            <a:ext cx="1097280" cy="182880"/>
          </a:xfrm>
          <a:prstGeom prst="rect">
            <a:avLst/>
          </a:prstGeom>
          <a:noFill/>
          <a:ln/>
        </p:spPr>
        <p:txBody>
          <a:bodyPr wrap="square" lIns="0" tIns="0" rIns="0" bIns="0" rtlCol="0" anchor="t"/>
          <a:lstStyle/>
          <a:p>
            <a:pPr algn="l" indent="0" marL="0">
              <a:buNone/>
            </a:pPr>
            <a:r>
              <a:rPr lang="en-US" sz="700" dirty="0">
                <a:solidFill>
                  <a:srgbClr val="E5333D"/>
                </a:solidFill>
                <a:latin typeface="Arial" pitchFamily="34" charset="0"/>
                <a:ea typeface="Arial" pitchFamily="34" charset="-122"/>
                <a:cs typeface="Arial" pitchFamily="34" charset="-120"/>
              </a:rPr>
              <a:t>◆  ◆  ◆</a:t>
            </a:r>
            <a:endParaRPr lang="en-US" sz="700" dirty="0"/>
          </a:p>
        </p:txBody>
      </p:sp>
      <p:sp>
        <p:nvSpPr>
          <p:cNvPr id="10" name="fx:3:up:cardJ"/>
          <p:cNvSpPr/>
          <p:nvPr/>
        </p:nvSpPr>
        <p:spPr>
          <a:xfrm>
            <a:off x="548640" y="4846320"/>
            <a:ext cx="2606040" cy="1207008"/>
          </a:xfrm>
          <a:prstGeom prst="roundRect">
            <a:avLst>
              <a:gd name="adj" fmla="val 6818"/>
            </a:avLst>
          </a:prstGeom>
          <a:solidFill>
            <a:srgbClr val="1C080B">
              <a:alpha val="78000"/>
            </a:srgbClr>
          </a:solidFill>
          <a:ln w="9525">
            <a:solidFill>
              <a:srgbClr val="7A3038"/>
            </a:solidFill>
            <a:prstDash val="solid"/>
          </a:ln>
        </p:spPr>
      </p:sp>
      <p:sp>
        <p:nvSpPr>
          <p:cNvPr id="11" name="fx:3:up:nJ"/>
          <p:cNvSpPr txBox="1"/>
          <p:nvPr/>
        </p:nvSpPr>
        <p:spPr>
          <a:xfrm>
            <a:off x="731520" y="5010912"/>
            <a:ext cx="2240280" cy="457200"/>
          </a:xfrm>
          <a:prstGeom prst="rect">
            <a:avLst/>
          </a:prstGeom>
          <a:noFill/>
          <a:ln/>
        </p:spPr>
        <p:txBody>
          <a:bodyPr wrap="square" lIns="0" tIns="0" rIns="0" bIns="0" rtlCol="0" anchor="t"/>
          <a:lstStyle/>
          <a:p>
            <a:pPr indent="0" marL="0">
              <a:buNone/>
            </a:pPr>
            <a:r>
              <a:rPr lang="en-US" sz="1200" b="1" spc="50" kern="0" dirty="0">
                <a:solidFill>
                  <a:srgbClr val="F4ECE8"/>
                </a:solidFill>
                <a:latin typeface="Arial" pitchFamily="34" charset="0"/>
                <a:ea typeface="Arial" pitchFamily="34" charset="-122"/>
                <a:cs typeface="Arial" pitchFamily="34" charset="-120"/>
              </a:rPr>
              <a:t>AZAMOV JAVOHIR</a:t>
            </a:r>
            <a:endParaRPr lang="en-US" sz="1200" dirty="0"/>
          </a:p>
        </p:txBody>
      </p:sp>
      <p:sp>
        <p:nvSpPr>
          <p:cNvPr id="12" name="fx:3:up:pJ"/>
          <p:cNvSpPr txBox="1"/>
          <p:nvPr/>
        </p:nvSpPr>
        <p:spPr>
          <a:xfrm>
            <a:off x="731520" y="5413248"/>
            <a:ext cx="2240280" cy="237744"/>
          </a:xfrm>
          <a:prstGeom prst="rect">
            <a:avLst/>
          </a:prstGeom>
          <a:noFill/>
          <a:ln/>
        </p:spPr>
        <p:txBody>
          <a:bodyPr wrap="square" lIns="0" tIns="0" rIns="0" bIns="0" rtlCol="0" anchor="t"/>
          <a:lstStyle/>
          <a:p>
            <a:pPr indent="0" marL="0">
              <a:buNone/>
            </a:pPr>
            <a:r>
              <a:rPr lang="en-US" sz="1100" dirty="0">
                <a:solidFill>
                  <a:srgbClr val="C9B2AE"/>
                </a:solidFill>
                <a:latin typeface="Arial" pitchFamily="34" charset="0"/>
                <a:ea typeface="Arial" pitchFamily="34" charset="-122"/>
                <a:cs typeface="Arial" pitchFamily="34" charset="-120"/>
              </a:rPr>
              <a:t>Latipovich</a:t>
            </a:r>
            <a:endParaRPr lang="en-US" sz="1100" dirty="0"/>
          </a:p>
        </p:txBody>
      </p:sp>
      <p:sp>
        <p:nvSpPr>
          <p:cNvPr id="13" name="fx:3:up:iJ"/>
          <p:cNvSpPr txBox="1"/>
          <p:nvPr/>
        </p:nvSpPr>
        <p:spPr>
          <a:xfrm>
            <a:off x="731520" y="5687568"/>
            <a:ext cx="2240280" cy="237744"/>
          </a:xfrm>
          <a:prstGeom prst="rect">
            <a:avLst/>
          </a:prstGeom>
          <a:noFill/>
          <a:ln/>
        </p:spPr>
        <p:txBody>
          <a:bodyPr wrap="square" lIns="0" tIns="0" rIns="0" bIns="0" rtlCol="0" anchor="t"/>
          <a:lstStyle/>
          <a:p>
            <a:pPr indent="0" marL="0">
              <a:buNone/>
            </a:pPr>
            <a:r>
              <a:rPr lang="en-US" sz="1100" b="1" spc="100" kern="0" dirty="0">
                <a:solidFill>
                  <a:srgbClr val="E5333D"/>
                </a:solidFill>
                <a:latin typeface="Arial" pitchFamily="34" charset="0"/>
                <a:ea typeface="Arial" pitchFamily="34" charset="-122"/>
                <a:cs typeface="Arial" pitchFamily="34" charset="-120"/>
              </a:rPr>
              <a:t>b2600910</a:t>
            </a:r>
            <a:endParaRPr lang="en-US" sz="1100" dirty="0"/>
          </a:p>
        </p:txBody>
      </p:sp>
      <p:sp>
        <p:nvSpPr>
          <p:cNvPr id="14" name="fx:4:up:cardM"/>
          <p:cNvSpPr/>
          <p:nvPr/>
        </p:nvSpPr>
        <p:spPr>
          <a:xfrm>
            <a:off x="3337560" y="4846320"/>
            <a:ext cx="2606040" cy="1207008"/>
          </a:xfrm>
          <a:prstGeom prst="roundRect">
            <a:avLst>
              <a:gd name="adj" fmla="val 6818"/>
            </a:avLst>
          </a:prstGeom>
          <a:solidFill>
            <a:srgbClr val="1C080B">
              <a:alpha val="78000"/>
            </a:srgbClr>
          </a:solidFill>
          <a:ln w="9525">
            <a:solidFill>
              <a:srgbClr val="7A3038"/>
            </a:solidFill>
            <a:prstDash val="solid"/>
          </a:ln>
        </p:spPr>
      </p:sp>
      <p:sp>
        <p:nvSpPr>
          <p:cNvPr id="15" name="fx:4:up:nM"/>
          <p:cNvSpPr txBox="1"/>
          <p:nvPr/>
        </p:nvSpPr>
        <p:spPr>
          <a:xfrm>
            <a:off x="3520440" y="5010912"/>
            <a:ext cx="2240280" cy="457200"/>
          </a:xfrm>
          <a:prstGeom prst="rect">
            <a:avLst/>
          </a:prstGeom>
          <a:noFill/>
          <a:ln/>
        </p:spPr>
        <p:txBody>
          <a:bodyPr wrap="square" lIns="0" tIns="0" rIns="0" bIns="0" rtlCol="0" anchor="t"/>
          <a:lstStyle/>
          <a:p>
            <a:pPr indent="0" marL="0">
              <a:buNone/>
            </a:pPr>
            <a:r>
              <a:rPr lang="en-US" sz="1200" b="1" spc="50" kern="0" dirty="0">
                <a:solidFill>
                  <a:srgbClr val="F4ECE8"/>
                </a:solidFill>
                <a:latin typeface="Arial" pitchFamily="34" charset="0"/>
                <a:ea typeface="Arial" pitchFamily="34" charset="-122"/>
                <a:cs typeface="Arial" pitchFamily="34" charset="-120"/>
              </a:rPr>
              <a:t>ASATULLAYEV MUHAMMADRIZO</a:t>
            </a:r>
            <a:endParaRPr lang="en-US" sz="1200" dirty="0"/>
          </a:p>
        </p:txBody>
      </p:sp>
      <p:sp>
        <p:nvSpPr>
          <p:cNvPr id="16" name="fx:4:up:pM"/>
          <p:cNvSpPr txBox="1"/>
          <p:nvPr/>
        </p:nvSpPr>
        <p:spPr>
          <a:xfrm>
            <a:off x="3520440" y="5413248"/>
            <a:ext cx="2240280" cy="237744"/>
          </a:xfrm>
          <a:prstGeom prst="rect">
            <a:avLst/>
          </a:prstGeom>
          <a:noFill/>
          <a:ln/>
        </p:spPr>
        <p:txBody>
          <a:bodyPr wrap="square" lIns="0" tIns="0" rIns="0" bIns="0" rtlCol="0" anchor="t"/>
          <a:lstStyle/>
          <a:p>
            <a:pPr indent="0" marL="0">
              <a:buNone/>
            </a:pPr>
            <a:r>
              <a:rPr lang="en-US" sz="1100" dirty="0">
                <a:solidFill>
                  <a:srgbClr val="C9B2AE"/>
                </a:solidFill>
                <a:latin typeface="Arial" pitchFamily="34" charset="0"/>
                <a:ea typeface="Arial" pitchFamily="34" charset="-122"/>
                <a:cs typeface="Arial" pitchFamily="34" charset="-120"/>
              </a:rPr>
              <a:t>Anvarjon o'g'li</a:t>
            </a:r>
            <a:endParaRPr lang="en-US" sz="1100" dirty="0"/>
          </a:p>
        </p:txBody>
      </p:sp>
      <p:sp>
        <p:nvSpPr>
          <p:cNvPr id="17" name="fx:4:up:iM"/>
          <p:cNvSpPr txBox="1"/>
          <p:nvPr/>
        </p:nvSpPr>
        <p:spPr>
          <a:xfrm>
            <a:off x="3520440" y="5687568"/>
            <a:ext cx="2240280" cy="237744"/>
          </a:xfrm>
          <a:prstGeom prst="rect">
            <a:avLst/>
          </a:prstGeom>
          <a:noFill/>
          <a:ln/>
        </p:spPr>
        <p:txBody>
          <a:bodyPr wrap="square" lIns="0" tIns="0" rIns="0" bIns="0" rtlCol="0" anchor="t"/>
          <a:lstStyle/>
          <a:p>
            <a:pPr indent="0" marL="0">
              <a:buNone/>
            </a:pPr>
            <a:r>
              <a:rPr lang="en-US" sz="1100" b="1" spc="100" kern="0" dirty="0">
                <a:solidFill>
                  <a:srgbClr val="E5333D"/>
                </a:solidFill>
                <a:latin typeface="Arial" pitchFamily="34" charset="0"/>
                <a:ea typeface="Arial" pitchFamily="34" charset="-122"/>
                <a:cs typeface="Arial" pitchFamily="34" charset="-120"/>
              </a:rPr>
              <a:t>b2603096</a:t>
            </a:r>
            <a:endParaRPr lang="en-US" sz="1100" dirty="0"/>
          </a:p>
        </p:txBody>
      </p:sp>
      <p:sp>
        <p:nvSpPr>
          <p:cNvPr id="18" name="fx:5:up:cardR"/>
          <p:cNvSpPr/>
          <p:nvPr/>
        </p:nvSpPr>
        <p:spPr>
          <a:xfrm>
            <a:off x="6126480" y="4846320"/>
            <a:ext cx="2606040" cy="1207008"/>
          </a:xfrm>
          <a:prstGeom prst="roundRect">
            <a:avLst>
              <a:gd name="adj" fmla="val 6818"/>
            </a:avLst>
          </a:prstGeom>
          <a:solidFill>
            <a:srgbClr val="1C080B">
              <a:alpha val="78000"/>
            </a:srgbClr>
          </a:solidFill>
          <a:ln w="9525">
            <a:solidFill>
              <a:srgbClr val="7A3038"/>
            </a:solidFill>
            <a:prstDash val="solid"/>
          </a:ln>
        </p:spPr>
      </p:sp>
      <p:sp>
        <p:nvSpPr>
          <p:cNvPr id="19" name="fx:5:up:nR"/>
          <p:cNvSpPr txBox="1"/>
          <p:nvPr/>
        </p:nvSpPr>
        <p:spPr>
          <a:xfrm>
            <a:off x="6309360" y="5010912"/>
            <a:ext cx="2240280" cy="457200"/>
          </a:xfrm>
          <a:prstGeom prst="rect">
            <a:avLst/>
          </a:prstGeom>
          <a:noFill/>
          <a:ln/>
        </p:spPr>
        <p:txBody>
          <a:bodyPr wrap="square" lIns="0" tIns="0" rIns="0" bIns="0" rtlCol="0" anchor="t"/>
          <a:lstStyle/>
          <a:p>
            <a:pPr indent="0" marL="0">
              <a:buNone/>
            </a:pPr>
            <a:r>
              <a:rPr lang="en-US" sz="1200" b="1" spc="50" kern="0" dirty="0">
                <a:solidFill>
                  <a:srgbClr val="F4ECE8"/>
                </a:solidFill>
                <a:latin typeface="Arial" pitchFamily="34" charset="0"/>
                <a:ea typeface="Arial" pitchFamily="34" charset="-122"/>
                <a:cs typeface="Arial" pitchFamily="34" charset="-120"/>
              </a:rPr>
              <a:t>BAKIYEV RAMAZAN</a:t>
            </a:r>
            <a:endParaRPr lang="en-US" sz="1200" dirty="0"/>
          </a:p>
        </p:txBody>
      </p:sp>
      <p:sp>
        <p:nvSpPr>
          <p:cNvPr id="20" name="fx:5:up:pR"/>
          <p:cNvSpPr txBox="1"/>
          <p:nvPr/>
        </p:nvSpPr>
        <p:spPr>
          <a:xfrm>
            <a:off x="6309360" y="5413248"/>
            <a:ext cx="2240280" cy="237744"/>
          </a:xfrm>
          <a:prstGeom prst="rect">
            <a:avLst/>
          </a:prstGeom>
          <a:noFill/>
          <a:ln/>
        </p:spPr>
        <p:txBody>
          <a:bodyPr wrap="square" lIns="0" tIns="0" rIns="0" bIns="0" rtlCol="0" anchor="t"/>
          <a:lstStyle/>
          <a:p>
            <a:pPr indent="0" marL="0">
              <a:buNone/>
            </a:pPr>
            <a:r>
              <a:rPr lang="en-US" sz="1100" dirty="0">
                <a:solidFill>
                  <a:srgbClr val="C9B2AE"/>
                </a:solidFill>
                <a:latin typeface="Arial" pitchFamily="34" charset="0"/>
                <a:ea typeface="Arial" pitchFamily="34" charset="-122"/>
                <a:cs typeface="Arial" pitchFamily="34" charset="-120"/>
              </a:rPr>
              <a:t>Sherzodovich</a:t>
            </a:r>
            <a:endParaRPr lang="en-US" sz="1100" dirty="0"/>
          </a:p>
        </p:txBody>
      </p:sp>
      <p:sp>
        <p:nvSpPr>
          <p:cNvPr id="21" name="fx:5:up:iR"/>
          <p:cNvSpPr txBox="1"/>
          <p:nvPr/>
        </p:nvSpPr>
        <p:spPr>
          <a:xfrm>
            <a:off x="6309360" y="5687568"/>
            <a:ext cx="2240280" cy="237744"/>
          </a:xfrm>
          <a:prstGeom prst="rect">
            <a:avLst/>
          </a:prstGeom>
          <a:noFill/>
          <a:ln/>
        </p:spPr>
        <p:txBody>
          <a:bodyPr wrap="square" lIns="0" tIns="0" rIns="0" bIns="0" rtlCol="0" anchor="t"/>
          <a:lstStyle/>
          <a:p>
            <a:pPr indent="0" marL="0">
              <a:buNone/>
            </a:pPr>
            <a:r>
              <a:rPr lang="en-US" sz="1100" b="1" spc="100" kern="0" dirty="0">
                <a:solidFill>
                  <a:srgbClr val="E5333D"/>
                </a:solidFill>
                <a:latin typeface="Arial" pitchFamily="34" charset="0"/>
                <a:ea typeface="Arial" pitchFamily="34" charset="-122"/>
                <a:cs typeface="Arial" pitchFamily="34" charset="-120"/>
              </a:rPr>
              <a:t>b2605509</a:t>
            </a:r>
            <a:endParaRPr lang="en-US" sz="1100" dirty="0"/>
          </a:p>
        </p:txBody>
      </p:sp>
      <p:sp>
        <p:nvSpPr>
          <p:cNvPr id="22" name="fx:6:up:cardA"/>
          <p:cNvSpPr/>
          <p:nvPr/>
        </p:nvSpPr>
        <p:spPr>
          <a:xfrm>
            <a:off x="8915400" y="4846320"/>
            <a:ext cx="2606040" cy="1207008"/>
          </a:xfrm>
          <a:prstGeom prst="roundRect">
            <a:avLst>
              <a:gd name="adj" fmla="val 6818"/>
            </a:avLst>
          </a:prstGeom>
          <a:solidFill>
            <a:srgbClr val="1C080B">
              <a:alpha val="78000"/>
            </a:srgbClr>
          </a:solidFill>
          <a:ln w="9525">
            <a:solidFill>
              <a:srgbClr val="7A3038"/>
            </a:solidFill>
            <a:prstDash val="solid"/>
          </a:ln>
        </p:spPr>
      </p:sp>
      <p:sp>
        <p:nvSpPr>
          <p:cNvPr id="23" name="fx:6:up:nA"/>
          <p:cNvSpPr txBox="1"/>
          <p:nvPr/>
        </p:nvSpPr>
        <p:spPr>
          <a:xfrm>
            <a:off x="9098280" y="5010912"/>
            <a:ext cx="2240280" cy="457200"/>
          </a:xfrm>
          <a:prstGeom prst="rect">
            <a:avLst/>
          </a:prstGeom>
          <a:noFill/>
          <a:ln/>
        </p:spPr>
        <p:txBody>
          <a:bodyPr wrap="square" lIns="0" tIns="0" rIns="0" bIns="0" rtlCol="0" anchor="t"/>
          <a:lstStyle/>
          <a:p>
            <a:pPr indent="0" marL="0">
              <a:buNone/>
            </a:pPr>
            <a:r>
              <a:rPr lang="en-US" sz="1200" b="1" spc="50" kern="0" dirty="0">
                <a:solidFill>
                  <a:srgbClr val="F4ECE8"/>
                </a:solidFill>
                <a:latin typeface="Arial" pitchFamily="34" charset="0"/>
                <a:ea typeface="Arial" pitchFamily="34" charset="-122"/>
                <a:cs typeface="Arial" pitchFamily="34" charset="-120"/>
              </a:rPr>
              <a:t>ABDURAIMOV AKMALBEK</a:t>
            </a:r>
            <a:endParaRPr lang="en-US" sz="1200" dirty="0"/>
          </a:p>
        </p:txBody>
      </p:sp>
      <p:sp>
        <p:nvSpPr>
          <p:cNvPr id="24" name="fx:6:up:pA"/>
          <p:cNvSpPr txBox="1"/>
          <p:nvPr/>
        </p:nvSpPr>
        <p:spPr>
          <a:xfrm>
            <a:off x="9098280" y="5413248"/>
            <a:ext cx="2240280" cy="237744"/>
          </a:xfrm>
          <a:prstGeom prst="rect">
            <a:avLst/>
          </a:prstGeom>
          <a:noFill/>
          <a:ln/>
        </p:spPr>
        <p:txBody>
          <a:bodyPr wrap="square" lIns="0" tIns="0" rIns="0" bIns="0" rtlCol="0" anchor="t"/>
          <a:lstStyle/>
          <a:p>
            <a:pPr indent="0" marL="0">
              <a:buNone/>
            </a:pPr>
            <a:r>
              <a:rPr lang="en-US" sz="1100" dirty="0">
                <a:solidFill>
                  <a:srgbClr val="C9B2AE"/>
                </a:solidFill>
                <a:latin typeface="Arial" pitchFamily="34" charset="0"/>
                <a:ea typeface="Arial" pitchFamily="34" charset="-122"/>
                <a:cs typeface="Arial" pitchFamily="34" charset="-120"/>
              </a:rPr>
              <a:t>Jamshit o'g'li</a:t>
            </a:r>
            <a:endParaRPr lang="en-US" sz="1100" dirty="0"/>
          </a:p>
        </p:txBody>
      </p:sp>
      <p:sp>
        <p:nvSpPr>
          <p:cNvPr id="25" name="fx:6:up:iA"/>
          <p:cNvSpPr txBox="1"/>
          <p:nvPr/>
        </p:nvSpPr>
        <p:spPr>
          <a:xfrm>
            <a:off x="9098280" y="5687568"/>
            <a:ext cx="2240280" cy="237744"/>
          </a:xfrm>
          <a:prstGeom prst="rect">
            <a:avLst/>
          </a:prstGeom>
          <a:noFill/>
          <a:ln/>
        </p:spPr>
        <p:txBody>
          <a:bodyPr wrap="square" lIns="0" tIns="0" rIns="0" bIns="0" rtlCol="0" anchor="t"/>
          <a:lstStyle/>
          <a:p>
            <a:pPr indent="0" marL="0">
              <a:buNone/>
            </a:pPr>
            <a:r>
              <a:rPr lang="en-US" sz="1100" b="1" spc="100" kern="0" dirty="0">
                <a:solidFill>
                  <a:srgbClr val="E5333D"/>
                </a:solidFill>
                <a:latin typeface="Arial" pitchFamily="34" charset="0"/>
                <a:ea typeface="Arial" pitchFamily="34" charset="-122"/>
                <a:cs typeface="Arial" pitchFamily="34" charset="-120"/>
              </a:rPr>
              <a:t>b2606469</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15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par>
                                <p:cTn id="10" presetID="10" presetClass="entr" presetSubtype="0" fill="hold" grpId="0" nodeType="withEffect">
                                  <p:stCondLst>
                                    <p:cond delay="15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50"/>
                                        <p:tgtEl>
                                          <p:spTgt spid="6"/>
                                        </p:tgtEl>
                                      </p:cBhvr>
                                    </p:animEffect>
                                  </p:childTnLst>
                                </p:cTn>
                              </p:par>
                              <p:par>
                                <p:cTn id="13" presetID="42" presetClass="entr" presetSubtype="0" fill="hold" grpId="0" nodeType="withEffect">
                                  <p:stCondLst>
                                    <p:cond delay="28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50"/>
                                        <p:tgtEl>
                                          <p:spTgt spid="8"/>
                                        </p:tgtEl>
                                      </p:cBhvr>
                                    </p:animEffect>
                                    <p:anim calcmode="lin" valueType="num">
                                      <p:cBhvr>
                                        <p:cTn id="14" dur="550" decel="100000" fill="hold"/>
                                        <p:tgtEl>
                                          <p:spTgt spid="8"/>
                                        </p:tgtEl>
                                        <p:attrNameLst>
                                          <p:attrName>ppt_x</p:attrName>
                                        </p:attrNameLst>
                                      </p:cBhvr>
                                      <p:tavLst>
                                        <p:tav tm="0">
                                          <p:val>
                                            <p:strVal val="#ppt_x"/>
                                          </p:val>
                                        </p:tav>
                                        <p:tav tm="100000">
                                          <p:val>
                                            <p:strVal val="#ppt_x"/>
                                          </p:val>
                                        </p:tav>
                                      </p:tavLst>
                                    </p:anim>
                                    <p:anim calcmode="lin" valueType="num">
                                      <p:cBhvr>
                                        <p:cTn id="15" dur="550" decel="100000" fill="hold"/>
                                        <p:tgtEl>
                                          <p:spTgt spid="8"/>
                                        </p:tgtEl>
                                        <p:attrNameLst>
                                          <p:attrName>ppt_y</p:attrName>
                                        </p:attrNameLst>
                                      </p:cBhvr>
                                      <p:tavLst>
                                        <p:tav tm="0">
                                          <p:val>
                                            <p:strVal val="#ppt_y+0.04"/>
                                          </p:val>
                                        </p:tav>
                                        <p:tav tm="100000">
                                          <p:val>
                                            <p:strVal val="#ppt_y"/>
                                          </p:val>
                                        </p:tav>
                                      </p:tavLst>
                                    </p:anim>
                                  </p:childTnLst>
                                </p:cTn>
                              </p:par>
                              <p:par>
                                <p:cTn id="18" presetID="42" presetClass="entr" presetSubtype="0" fill="hold" grpId="0" nodeType="withEffect">
                                  <p:stCondLst>
                                    <p:cond delay="28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50"/>
                                        <p:tgtEl>
                                          <p:spTgt spid="9"/>
                                        </p:tgtEl>
                                      </p:cBhvr>
                                    </p:animEffect>
                                    <p:anim calcmode="lin" valueType="num">
                                      <p:cBhvr>
                                        <p:cTn id="19" dur="550" decel="100000" fill="hold"/>
                                        <p:tgtEl>
                                          <p:spTgt spid="9"/>
                                        </p:tgtEl>
                                        <p:attrNameLst>
                                          <p:attrName>ppt_x</p:attrName>
                                        </p:attrNameLst>
                                      </p:cBhvr>
                                      <p:tavLst>
                                        <p:tav tm="0">
                                          <p:val>
                                            <p:strVal val="#ppt_x"/>
                                          </p:val>
                                        </p:tav>
                                        <p:tav tm="100000">
                                          <p:val>
                                            <p:strVal val="#ppt_x"/>
                                          </p:val>
                                        </p:tav>
                                      </p:tavLst>
                                    </p:anim>
                                    <p:anim calcmode="lin" valueType="num">
                                      <p:cBhvr>
                                        <p:cTn id="20" dur="550" decel="100000" fill="hold"/>
                                        <p:tgtEl>
                                          <p:spTgt spid="9"/>
                                        </p:tgtEl>
                                        <p:attrNameLst>
                                          <p:attrName>ppt_y</p:attrName>
                                        </p:attrNameLst>
                                      </p:cBhvr>
                                      <p:tavLst>
                                        <p:tav tm="0">
                                          <p:val>
                                            <p:strVal val="#ppt_y+0.04"/>
                                          </p:val>
                                        </p:tav>
                                        <p:tav tm="100000">
                                          <p:val>
                                            <p:strVal val="#ppt_y"/>
                                          </p:val>
                                        </p:tav>
                                      </p:tavLst>
                                    </p:anim>
                                  </p:childTnLst>
                                </p:cTn>
                              </p:par>
                              <p:par>
                                <p:cTn id="23" presetID="42" presetClass="entr" presetSubtype="0" fill="hold" grpId="0" nodeType="withEffect">
                                  <p:stCondLst>
                                    <p:cond delay="41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50"/>
                                        <p:tgtEl>
                                          <p:spTgt spid="10"/>
                                        </p:tgtEl>
                                      </p:cBhvr>
                                    </p:animEffect>
                                    <p:anim calcmode="lin" valueType="num">
                                      <p:cBhvr>
                                        <p:cTn id="24" dur="550" decel="100000" fill="hold"/>
                                        <p:tgtEl>
                                          <p:spTgt spid="10"/>
                                        </p:tgtEl>
                                        <p:attrNameLst>
                                          <p:attrName>ppt_x</p:attrName>
                                        </p:attrNameLst>
                                      </p:cBhvr>
                                      <p:tavLst>
                                        <p:tav tm="0">
                                          <p:val>
                                            <p:strVal val="#ppt_x"/>
                                          </p:val>
                                        </p:tav>
                                        <p:tav tm="100000">
                                          <p:val>
                                            <p:strVal val="#ppt_x"/>
                                          </p:val>
                                        </p:tav>
                                      </p:tavLst>
                                    </p:anim>
                                    <p:anim calcmode="lin" valueType="num">
                                      <p:cBhvr>
                                        <p:cTn id="25" dur="550" decel="100000" fill="hold"/>
                                        <p:tgtEl>
                                          <p:spTgt spid="10"/>
                                        </p:tgtEl>
                                        <p:attrNameLst>
                                          <p:attrName>ppt_y</p:attrName>
                                        </p:attrNameLst>
                                      </p:cBhvr>
                                      <p:tavLst>
                                        <p:tav tm="0">
                                          <p:val>
                                            <p:strVal val="#ppt_y+0.04"/>
                                          </p:val>
                                        </p:tav>
                                        <p:tav tm="100000">
                                          <p:val>
                                            <p:strVal val="#ppt_y"/>
                                          </p:val>
                                        </p:tav>
                                      </p:tavLst>
                                    </p:anim>
                                  </p:childTnLst>
                                </p:cTn>
                              </p:par>
                              <p:par>
                                <p:cTn id="28" presetID="42" presetClass="entr" presetSubtype="0" fill="hold" grpId="0" nodeType="withEffect">
                                  <p:stCondLst>
                                    <p:cond delay="41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50"/>
                                        <p:tgtEl>
                                          <p:spTgt spid="11"/>
                                        </p:tgtEl>
                                      </p:cBhvr>
                                    </p:animEffect>
                                    <p:anim calcmode="lin" valueType="num">
                                      <p:cBhvr>
                                        <p:cTn id="29" dur="550" decel="100000" fill="hold"/>
                                        <p:tgtEl>
                                          <p:spTgt spid="11"/>
                                        </p:tgtEl>
                                        <p:attrNameLst>
                                          <p:attrName>ppt_x</p:attrName>
                                        </p:attrNameLst>
                                      </p:cBhvr>
                                      <p:tavLst>
                                        <p:tav tm="0">
                                          <p:val>
                                            <p:strVal val="#ppt_x"/>
                                          </p:val>
                                        </p:tav>
                                        <p:tav tm="100000">
                                          <p:val>
                                            <p:strVal val="#ppt_x"/>
                                          </p:val>
                                        </p:tav>
                                      </p:tavLst>
                                    </p:anim>
                                    <p:anim calcmode="lin" valueType="num">
                                      <p:cBhvr>
                                        <p:cTn id="30" dur="550" decel="100000" fill="hold"/>
                                        <p:tgtEl>
                                          <p:spTgt spid="11"/>
                                        </p:tgtEl>
                                        <p:attrNameLst>
                                          <p:attrName>ppt_y</p:attrName>
                                        </p:attrNameLst>
                                      </p:cBhvr>
                                      <p:tavLst>
                                        <p:tav tm="0">
                                          <p:val>
                                            <p:strVal val="#ppt_y+0.04"/>
                                          </p:val>
                                        </p:tav>
                                        <p:tav tm="100000">
                                          <p:val>
                                            <p:strVal val="#ppt_y"/>
                                          </p:val>
                                        </p:tav>
                                      </p:tavLst>
                                    </p:anim>
                                  </p:childTnLst>
                                </p:cTn>
                              </p:par>
                              <p:par>
                                <p:cTn id="33" presetID="42" presetClass="entr" presetSubtype="0" fill="hold" grpId="0" nodeType="withEffect">
                                  <p:stCondLst>
                                    <p:cond delay="41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50"/>
                                        <p:tgtEl>
                                          <p:spTgt spid="12"/>
                                        </p:tgtEl>
                                      </p:cBhvr>
                                    </p:animEffect>
                                    <p:anim calcmode="lin" valueType="num">
                                      <p:cBhvr>
                                        <p:cTn id="34" dur="550" decel="100000" fill="hold"/>
                                        <p:tgtEl>
                                          <p:spTgt spid="12"/>
                                        </p:tgtEl>
                                        <p:attrNameLst>
                                          <p:attrName>ppt_x</p:attrName>
                                        </p:attrNameLst>
                                      </p:cBhvr>
                                      <p:tavLst>
                                        <p:tav tm="0">
                                          <p:val>
                                            <p:strVal val="#ppt_x"/>
                                          </p:val>
                                        </p:tav>
                                        <p:tav tm="100000">
                                          <p:val>
                                            <p:strVal val="#ppt_x"/>
                                          </p:val>
                                        </p:tav>
                                      </p:tavLst>
                                    </p:anim>
                                    <p:anim calcmode="lin" valueType="num">
                                      <p:cBhvr>
                                        <p:cTn id="35" dur="550" decel="100000" fill="hold"/>
                                        <p:tgtEl>
                                          <p:spTgt spid="12"/>
                                        </p:tgtEl>
                                        <p:attrNameLst>
                                          <p:attrName>ppt_y</p:attrName>
                                        </p:attrNameLst>
                                      </p:cBhvr>
                                      <p:tavLst>
                                        <p:tav tm="0">
                                          <p:val>
                                            <p:strVal val="#ppt_y+0.04"/>
                                          </p:val>
                                        </p:tav>
                                        <p:tav tm="100000">
                                          <p:val>
                                            <p:strVal val="#ppt_y"/>
                                          </p:val>
                                        </p:tav>
                                      </p:tavLst>
                                    </p:anim>
                                  </p:childTnLst>
                                </p:cTn>
                              </p:par>
                              <p:par>
                                <p:cTn id="38" presetID="42" presetClass="entr" presetSubtype="0" fill="hold" grpId="0" nodeType="withEffect">
                                  <p:stCondLst>
                                    <p:cond delay="41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50"/>
                                        <p:tgtEl>
                                          <p:spTgt spid="13"/>
                                        </p:tgtEl>
                                      </p:cBhvr>
                                    </p:animEffect>
                                    <p:anim calcmode="lin" valueType="num">
                                      <p:cBhvr>
                                        <p:cTn id="39" dur="550" decel="100000" fill="hold"/>
                                        <p:tgtEl>
                                          <p:spTgt spid="13"/>
                                        </p:tgtEl>
                                        <p:attrNameLst>
                                          <p:attrName>ppt_x</p:attrName>
                                        </p:attrNameLst>
                                      </p:cBhvr>
                                      <p:tavLst>
                                        <p:tav tm="0">
                                          <p:val>
                                            <p:strVal val="#ppt_x"/>
                                          </p:val>
                                        </p:tav>
                                        <p:tav tm="100000">
                                          <p:val>
                                            <p:strVal val="#ppt_x"/>
                                          </p:val>
                                        </p:tav>
                                      </p:tavLst>
                                    </p:anim>
                                    <p:anim calcmode="lin" valueType="num">
                                      <p:cBhvr>
                                        <p:cTn id="40" dur="550" decel="100000" fill="hold"/>
                                        <p:tgtEl>
                                          <p:spTgt spid="13"/>
                                        </p:tgtEl>
                                        <p:attrNameLst>
                                          <p:attrName>ppt_y</p:attrName>
                                        </p:attrNameLst>
                                      </p:cBhvr>
                                      <p:tavLst>
                                        <p:tav tm="0">
                                          <p:val>
                                            <p:strVal val="#ppt_y+0.04"/>
                                          </p:val>
                                        </p:tav>
                                        <p:tav tm="100000">
                                          <p:val>
                                            <p:strVal val="#ppt_y"/>
                                          </p:val>
                                        </p:tav>
                                      </p:tavLst>
                                    </p:anim>
                                  </p:childTnLst>
                                </p:cTn>
                              </p:par>
                              <p:par>
                                <p:cTn id="43" presetID="42" presetClass="entr" presetSubtype="0" fill="hold" grpId="0" nodeType="withEffect">
                                  <p:stCondLst>
                                    <p:cond delay="54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50"/>
                                        <p:tgtEl>
                                          <p:spTgt spid="14"/>
                                        </p:tgtEl>
                                      </p:cBhvr>
                                    </p:animEffect>
                                    <p:anim calcmode="lin" valueType="num">
                                      <p:cBhvr>
                                        <p:cTn id="44" dur="550" decel="100000" fill="hold"/>
                                        <p:tgtEl>
                                          <p:spTgt spid="14"/>
                                        </p:tgtEl>
                                        <p:attrNameLst>
                                          <p:attrName>ppt_x</p:attrName>
                                        </p:attrNameLst>
                                      </p:cBhvr>
                                      <p:tavLst>
                                        <p:tav tm="0">
                                          <p:val>
                                            <p:strVal val="#ppt_x"/>
                                          </p:val>
                                        </p:tav>
                                        <p:tav tm="100000">
                                          <p:val>
                                            <p:strVal val="#ppt_x"/>
                                          </p:val>
                                        </p:tav>
                                      </p:tavLst>
                                    </p:anim>
                                    <p:anim calcmode="lin" valueType="num">
                                      <p:cBhvr>
                                        <p:cTn id="45" dur="550" decel="100000" fill="hold"/>
                                        <p:tgtEl>
                                          <p:spTgt spid="14"/>
                                        </p:tgtEl>
                                        <p:attrNameLst>
                                          <p:attrName>ppt_y</p:attrName>
                                        </p:attrNameLst>
                                      </p:cBhvr>
                                      <p:tavLst>
                                        <p:tav tm="0">
                                          <p:val>
                                            <p:strVal val="#ppt_y+0.04"/>
                                          </p:val>
                                        </p:tav>
                                        <p:tav tm="100000">
                                          <p:val>
                                            <p:strVal val="#ppt_y"/>
                                          </p:val>
                                        </p:tav>
                                      </p:tavLst>
                                    </p:anim>
                                  </p:childTnLst>
                                </p:cTn>
                              </p:par>
                              <p:par>
                                <p:cTn id="48" presetID="42" presetClass="entr" presetSubtype="0" fill="hold" grpId="0" nodeType="withEffect">
                                  <p:stCondLst>
                                    <p:cond delay="54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50"/>
                                        <p:tgtEl>
                                          <p:spTgt spid="15"/>
                                        </p:tgtEl>
                                      </p:cBhvr>
                                    </p:animEffect>
                                    <p:anim calcmode="lin" valueType="num">
                                      <p:cBhvr>
                                        <p:cTn id="49" dur="550" decel="100000" fill="hold"/>
                                        <p:tgtEl>
                                          <p:spTgt spid="15"/>
                                        </p:tgtEl>
                                        <p:attrNameLst>
                                          <p:attrName>ppt_x</p:attrName>
                                        </p:attrNameLst>
                                      </p:cBhvr>
                                      <p:tavLst>
                                        <p:tav tm="0">
                                          <p:val>
                                            <p:strVal val="#ppt_x"/>
                                          </p:val>
                                        </p:tav>
                                        <p:tav tm="100000">
                                          <p:val>
                                            <p:strVal val="#ppt_x"/>
                                          </p:val>
                                        </p:tav>
                                      </p:tavLst>
                                    </p:anim>
                                    <p:anim calcmode="lin" valueType="num">
                                      <p:cBhvr>
                                        <p:cTn id="50" dur="550" decel="100000" fill="hold"/>
                                        <p:tgtEl>
                                          <p:spTgt spid="15"/>
                                        </p:tgtEl>
                                        <p:attrNameLst>
                                          <p:attrName>ppt_y</p:attrName>
                                        </p:attrNameLst>
                                      </p:cBhvr>
                                      <p:tavLst>
                                        <p:tav tm="0">
                                          <p:val>
                                            <p:strVal val="#ppt_y+0.04"/>
                                          </p:val>
                                        </p:tav>
                                        <p:tav tm="100000">
                                          <p:val>
                                            <p:strVal val="#ppt_y"/>
                                          </p:val>
                                        </p:tav>
                                      </p:tavLst>
                                    </p:anim>
                                  </p:childTnLst>
                                </p:cTn>
                              </p:par>
                              <p:par>
                                <p:cTn id="53" presetID="42" presetClass="entr" presetSubtype="0" fill="hold" grpId="0" nodeType="withEffect">
                                  <p:stCondLst>
                                    <p:cond delay="54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p:cTn id="54" dur="550" decel="100000" fill="hold"/>
                                        <p:tgtEl>
                                          <p:spTgt spid="16"/>
                                        </p:tgtEl>
                                        <p:attrNameLst>
                                          <p:attrName>ppt_x</p:attrName>
                                        </p:attrNameLst>
                                      </p:cBhvr>
                                      <p:tavLst>
                                        <p:tav tm="0">
                                          <p:val>
                                            <p:strVal val="#ppt_x"/>
                                          </p:val>
                                        </p:tav>
                                        <p:tav tm="100000">
                                          <p:val>
                                            <p:strVal val="#ppt_x"/>
                                          </p:val>
                                        </p:tav>
                                      </p:tavLst>
                                    </p:anim>
                                    <p:anim calcmode="lin" valueType="num">
                                      <p:cBhvr>
                                        <p:cTn id="55" dur="550" decel="100000" fill="hold"/>
                                        <p:tgtEl>
                                          <p:spTgt spid="16"/>
                                        </p:tgtEl>
                                        <p:attrNameLst>
                                          <p:attrName>ppt_y</p:attrName>
                                        </p:attrNameLst>
                                      </p:cBhvr>
                                      <p:tavLst>
                                        <p:tav tm="0">
                                          <p:val>
                                            <p:strVal val="#ppt_y+0.04"/>
                                          </p:val>
                                        </p:tav>
                                        <p:tav tm="100000">
                                          <p:val>
                                            <p:strVal val="#ppt_y"/>
                                          </p:val>
                                        </p:tav>
                                      </p:tavLst>
                                    </p:anim>
                                  </p:childTnLst>
                                </p:cTn>
                              </p:par>
                              <p:par>
                                <p:cTn id="58" presetID="42" presetClass="entr" presetSubtype="0" fill="hold" grpId="0" nodeType="withEffect">
                                  <p:stCondLst>
                                    <p:cond delay="54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550"/>
                                        <p:tgtEl>
                                          <p:spTgt spid="17"/>
                                        </p:tgtEl>
                                      </p:cBhvr>
                                    </p:animEffect>
                                    <p:anim calcmode="lin" valueType="num">
                                      <p:cBhvr>
                                        <p:cTn id="59" dur="550" decel="100000" fill="hold"/>
                                        <p:tgtEl>
                                          <p:spTgt spid="17"/>
                                        </p:tgtEl>
                                        <p:attrNameLst>
                                          <p:attrName>ppt_x</p:attrName>
                                        </p:attrNameLst>
                                      </p:cBhvr>
                                      <p:tavLst>
                                        <p:tav tm="0">
                                          <p:val>
                                            <p:strVal val="#ppt_x"/>
                                          </p:val>
                                        </p:tav>
                                        <p:tav tm="100000">
                                          <p:val>
                                            <p:strVal val="#ppt_x"/>
                                          </p:val>
                                        </p:tav>
                                      </p:tavLst>
                                    </p:anim>
                                    <p:anim calcmode="lin" valueType="num">
                                      <p:cBhvr>
                                        <p:cTn id="60" dur="550" decel="100000" fill="hold"/>
                                        <p:tgtEl>
                                          <p:spTgt spid="17"/>
                                        </p:tgtEl>
                                        <p:attrNameLst>
                                          <p:attrName>ppt_y</p:attrName>
                                        </p:attrNameLst>
                                      </p:cBhvr>
                                      <p:tavLst>
                                        <p:tav tm="0">
                                          <p:val>
                                            <p:strVal val="#ppt_y+0.04"/>
                                          </p:val>
                                        </p:tav>
                                        <p:tav tm="100000">
                                          <p:val>
                                            <p:strVal val="#ppt_y"/>
                                          </p:val>
                                        </p:tav>
                                      </p:tavLst>
                                    </p:anim>
                                  </p:childTnLst>
                                </p:cTn>
                              </p:par>
                              <p:par>
                                <p:cTn id="63" presetID="42" presetClass="entr" presetSubtype="0" fill="hold" grpId="0" nodeType="withEffect">
                                  <p:stCondLst>
                                    <p:cond delay="67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550"/>
                                        <p:tgtEl>
                                          <p:spTgt spid="18"/>
                                        </p:tgtEl>
                                      </p:cBhvr>
                                    </p:animEffect>
                                    <p:anim calcmode="lin" valueType="num">
                                      <p:cBhvr>
                                        <p:cTn id="64" dur="550" decel="100000" fill="hold"/>
                                        <p:tgtEl>
                                          <p:spTgt spid="18"/>
                                        </p:tgtEl>
                                        <p:attrNameLst>
                                          <p:attrName>ppt_x</p:attrName>
                                        </p:attrNameLst>
                                      </p:cBhvr>
                                      <p:tavLst>
                                        <p:tav tm="0">
                                          <p:val>
                                            <p:strVal val="#ppt_x"/>
                                          </p:val>
                                        </p:tav>
                                        <p:tav tm="100000">
                                          <p:val>
                                            <p:strVal val="#ppt_x"/>
                                          </p:val>
                                        </p:tav>
                                      </p:tavLst>
                                    </p:anim>
                                    <p:anim calcmode="lin" valueType="num">
                                      <p:cBhvr>
                                        <p:cTn id="65" dur="550" decel="100000" fill="hold"/>
                                        <p:tgtEl>
                                          <p:spTgt spid="18"/>
                                        </p:tgtEl>
                                        <p:attrNameLst>
                                          <p:attrName>ppt_y</p:attrName>
                                        </p:attrNameLst>
                                      </p:cBhvr>
                                      <p:tavLst>
                                        <p:tav tm="0">
                                          <p:val>
                                            <p:strVal val="#ppt_y+0.04"/>
                                          </p:val>
                                        </p:tav>
                                        <p:tav tm="100000">
                                          <p:val>
                                            <p:strVal val="#ppt_y"/>
                                          </p:val>
                                        </p:tav>
                                      </p:tavLst>
                                    </p:anim>
                                  </p:childTnLst>
                                </p:cTn>
                              </p:par>
                              <p:par>
                                <p:cTn id="68" presetID="42" presetClass="entr" presetSubtype="0" fill="hold" grpId="0" nodeType="withEffect">
                                  <p:stCondLst>
                                    <p:cond delay="67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550"/>
                                        <p:tgtEl>
                                          <p:spTgt spid="19"/>
                                        </p:tgtEl>
                                      </p:cBhvr>
                                    </p:animEffect>
                                    <p:anim calcmode="lin" valueType="num">
                                      <p:cBhvr>
                                        <p:cTn id="69" dur="550" decel="100000" fill="hold"/>
                                        <p:tgtEl>
                                          <p:spTgt spid="19"/>
                                        </p:tgtEl>
                                        <p:attrNameLst>
                                          <p:attrName>ppt_x</p:attrName>
                                        </p:attrNameLst>
                                      </p:cBhvr>
                                      <p:tavLst>
                                        <p:tav tm="0">
                                          <p:val>
                                            <p:strVal val="#ppt_x"/>
                                          </p:val>
                                        </p:tav>
                                        <p:tav tm="100000">
                                          <p:val>
                                            <p:strVal val="#ppt_x"/>
                                          </p:val>
                                        </p:tav>
                                      </p:tavLst>
                                    </p:anim>
                                    <p:anim calcmode="lin" valueType="num">
                                      <p:cBhvr>
                                        <p:cTn id="70" dur="550" decel="100000" fill="hold"/>
                                        <p:tgtEl>
                                          <p:spTgt spid="19"/>
                                        </p:tgtEl>
                                        <p:attrNameLst>
                                          <p:attrName>ppt_y</p:attrName>
                                        </p:attrNameLst>
                                      </p:cBhvr>
                                      <p:tavLst>
                                        <p:tav tm="0">
                                          <p:val>
                                            <p:strVal val="#ppt_y+0.04"/>
                                          </p:val>
                                        </p:tav>
                                        <p:tav tm="100000">
                                          <p:val>
                                            <p:strVal val="#ppt_y"/>
                                          </p:val>
                                        </p:tav>
                                      </p:tavLst>
                                    </p:anim>
                                  </p:childTnLst>
                                </p:cTn>
                              </p:par>
                              <p:par>
                                <p:cTn id="73" presetID="42" presetClass="entr" presetSubtype="0" fill="hold" grpId="0" nodeType="withEffect">
                                  <p:stCondLst>
                                    <p:cond delay="67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550"/>
                                        <p:tgtEl>
                                          <p:spTgt spid="20"/>
                                        </p:tgtEl>
                                      </p:cBhvr>
                                    </p:animEffect>
                                    <p:anim calcmode="lin" valueType="num">
                                      <p:cBhvr>
                                        <p:cTn id="74" dur="550" decel="100000" fill="hold"/>
                                        <p:tgtEl>
                                          <p:spTgt spid="20"/>
                                        </p:tgtEl>
                                        <p:attrNameLst>
                                          <p:attrName>ppt_x</p:attrName>
                                        </p:attrNameLst>
                                      </p:cBhvr>
                                      <p:tavLst>
                                        <p:tav tm="0">
                                          <p:val>
                                            <p:strVal val="#ppt_x"/>
                                          </p:val>
                                        </p:tav>
                                        <p:tav tm="100000">
                                          <p:val>
                                            <p:strVal val="#ppt_x"/>
                                          </p:val>
                                        </p:tav>
                                      </p:tavLst>
                                    </p:anim>
                                    <p:anim calcmode="lin" valueType="num">
                                      <p:cBhvr>
                                        <p:cTn id="75" dur="550" decel="100000" fill="hold"/>
                                        <p:tgtEl>
                                          <p:spTgt spid="20"/>
                                        </p:tgtEl>
                                        <p:attrNameLst>
                                          <p:attrName>ppt_y</p:attrName>
                                        </p:attrNameLst>
                                      </p:cBhvr>
                                      <p:tavLst>
                                        <p:tav tm="0">
                                          <p:val>
                                            <p:strVal val="#ppt_y+0.04"/>
                                          </p:val>
                                        </p:tav>
                                        <p:tav tm="100000">
                                          <p:val>
                                            <p:strVal val="#ppt_y"/>
                                          </p:val>
                                        </p:tav>
                                      </p:tavLst>
                                    </p:anim>
                                  </p:childTnLst>
                                </p:cTn>
                              </p:par>
                              <p:par>
                                <p:cTn id="78" presetID="42" presetClass="entr" presetSubtype="0" fill="hold" grpId="0" nodeType="withEffect">
                                  <p:stCondLst>
                                    <p:cond delay="670"/>
                                  </p:stCondLst>
                                  <p:childTnLst>
                                    <p:set>
                                      <p:cBhvr>
                                        <p:cTn id="76" dur="1" fill="hold">
                                          <p:stCondLst>
                                            <p:cond delay="0"/>
                                          </p:stCondLst>
                                        </p:cTn>
                                        <p:tgtEl>
                                          <p:spTgt spid="21"/>
                                        </p:tgtEl>
                                        <p:attrNameLst>
                                          <p:attrName>style.visibility</p:attrName>
                                        </p:attrNameLst>
                                      </p:cBhvr>
                                      <p:to>
                                        <p:strVal val="visible"/>
                                      </p:to>
                                    </p:set>
                                    <p:animEffect transition="in" filter="fade">
                                      <p:cBhvr>
                                        <p:cTn id="77" dur="550"/>
                                        <p:tgtEl>
                                          <p:spTgt spid="21"/>
                                        </p:tgtEl>
                                      </p:cBhvr>
                                    </p:animEffect>
                                    <p:anim calcmode="lin" valueType="num">
                                      <p:cBhvr>
                                        <p:cTn id="79" dur="550" decel="100000" fill="hold"/>
                                        <p:tgtEl>
                                          <p:spTgt spid="21"/>
                                        </p:tgtEl>
                                        <p:attrNameLst>
                                          <p:attrName>ppt_x</p:attrName>
                                        </p:attrNameLst>
                                      </p:cBhvr>
                                      <p:tavLst>
                                        <p:tav tm="0">
                                          <p:val>
                                            <p:strVal val="#ppt_x"/>
                                          </p:val>
                                        </p:tav>
                                        <p:tav tm="100000">
                                          <p:val>
                                            <p:strVal val="#ppt_x"/>
                                          </p:val>
                                        </p:tav>
                                      </p:tavLst>
                                    </p:anim>
                                    <p:anim calcmode="lin" valueType="num">
                                      <p:cBhvr>
                                        <p:cTn id="80" dur="550" decel="100000" fill="hold"/>
                                        <p:tgtEl>
                                          <p:spTgt spid="21"/>
                                        </p:tgtEl>
                                        <p:attrNameLst>
                                          <p:attrName>ppt_y</p:attrName>
                                        </p:attrNameLst>
                                      </p:cBhvr>
                                      <p:tavLst>
                                        <p:tav tm="0">
                                          <p:val>
                                            <p:strVal val="#ppt_y+0.04"/>
                                          </p:val>
                                        </p:tav>
                                        <p:tav tm="100000">
                                          <p:val>
                                            <p:strVal val="#ppt_y"/>
                                          </p:val>
                                        </p:tav>
                                      </p:tavLst>
                                    </p:anim>
                                  </p:childTnLst>
                                </p:cTn>
                              </p:par>
                              <p:par>
                                <p:cTn id="83" presetID="42" presetClass="entr" presetSubtype="0" fill="hold" grpId="0" nodeType="withEffect">
                                  <p:stCondLst>
                                    <p:cond delay="80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p:cTn id="84" dur="550" decel="100000" fill="hold"/>
                                        <p:tgtEl>
                                          <p:spTgt spid="22"/>
                                        </p:tgtEl>
                                        <p:attrNameLst>
                                          <p:attrName>ppt_x</p:attrName>
                                        </p:attrNameLst>
                                      </p:cBhvr>
                                      <p:tavLst>
                                        <p:tav tm="0">
                                          <p:val>
                                            <p:strVal val="#ppt_x"/>
                                          </p:val>
                                        </p:tav>
                                        <p:tav tm="100000">
                                          <p:val>
                                            <p:strVal val="#ppt_x"/>
                                          </p:val>
                                        </p:tav>
                                      </p:tavLst>
                                    </p:anim>
                                    <p:anim calcmode="lin" valueType="num">
                                      <p:cBhvr>
                                        <p:cTn id="85" dur="550" decel="100000" fill="hold"/>
                                        <p:tgtEl>
                                          <p:spTgt spid="22"/>
                                        </p:tgtEl>
                                        <p:attrNameLst>
                                          <p:attrName>ppt_y</p:attrName>
                                        </p:attrNameLst>
                                      </p:cBhvr>
                                      <p:tavLst>
                                        <p:tav tm="0">
                                          <p:val>
                                            <p:strVal val="#ppt_y+0.04"/>
                                          </p:val>
                                        </p:tav>
                                        <p:tav tm="100000">
                                          <p:val>
                                            <p:strVal val="#ppt_y"/>
                                          </p:val>
                                        </p:tav>
                                      </p:tavLst>
                                    </p:anim>
                                  </p:childTnLst>
                                </p:cTn>
                              </p:par>
                              <p:par>
                                <p:cTn id="88" presetID="42" presetClass="entr" presetSubtype="0" fill="hold" grpId="0" nodeType="withEffect">
                                  <p:stCondLst>
                                    <p:cond delay="800"/>
                                  </p:stCondLst>
                                  <p:childTnLst>
                                    <p:set>
                                      <p:cBhvr>
                                        <p:cTn id="86" dur="1" fill="hold">
                                          <p:stCondLst>
                                            <p:cond delay="0"/>
                                          </p:stCondLst>
                                        </p:cTn>
                                        <p:tgtEl>
                                          <p:spTgt spid="23"/>
                                        </p:tgtEl>
                                        <p:attrNameLst>
                                          <p:attrName>style.visibility</p:attrName>
                                        </p:attrNameLst>
                                      </p:cBhvr>
                                      <p:to>
                                        <p:strVal val="visible"/>
                                      </p:to>
                                    </p:set>
                                    <p:animEffect transition="in" filter="fade">
                                      <p:cBhvr>
                                        <p:cTn id="87" dur="550"/>
                                        <p:tgtEl>
                                          <p:spTgt spid="23"/>
                                        </p:tgtEl>
                                      </p:cBhvr>
                                    </p:animEffect>
                                    <p:anim calcmode="lin" valueType="num">
                                      <p:cBhvr>
                                        <p:cTn id="89" dur="550" decel="100000" fill="hold"/>
                                        <p:tgtEl>
                                          <p:spTgt spid="23"/>
                                        </p:tgtEl>
                                        <p:attrNameLst>
                                          <p:attrName>ppt_x</p:attrName>
                                        </p:attrNameLst>
                                      </p:cBhvr>
                                      <p:tavLst>
                                        <p:tav tm="0">
                                          <p:val>
                                            <p:strVal val="#ppt_x"/>
                                          </p:val>
                                        </p:tav>
                                        <p:tav tm="100000">
                                          <p:val>
                                            <p:strVal val="#ppt_x"/>
                                          </p:val>
                                        </p:tav>
                                      </p:tavLst>
                                    </p:anim>
                                    <p:anim calcmode="lin" valueType="num">
                                      <p:cBhvr>
                                        <p:cTn id="90" dur="550" decel="100000" fill="hold"/>
                                        <p:tgtEl>
                                          <p:spTgt spid="23"/>
                                        </p:tgtEl>
                                        <p:attrNameLst>
                                          <p:attrName>ppt_y</p:attrName>
                                        </p:attrNameLst>
                                      </p:cBhvr>
                                      <p:tavLst>
                                        <p:tav tm="0">
                                          <p:val>
                                            <p:strVal val="#ppt_y+0.04"/>
                                          </p:val>
                                        </p:tav>
                                        <p:tav tm="100000">
                                          <p:val>
                                            <p:strVal val="#ppt_y"/>
                                          </p:val>
                                        </p:tav>
                                      </p:tavLst>
                                    </p:anim>
                                  </p:childTnLst>
                                </p:cTn>
                              </p:par>
                              <p:par>
                                <p:cTn id="93" presetID="42" presetClass="entr" presetSubtype="0" fill="hold" grpId="0" nodeType="withEffect">
                                  <p:stCondLst>
                                    <p:cond delay="800"/>
                                  </p:stCondLst>
                                  <p:childTnLst>
                                    <p:set>
                                      <p:cBhvr>
                                        <p:cTn id="91" dur="1" fill="hold">
                                          <p:stCondLst>
                                            <p:cond delay="0"/>
                                          </p:stCondLst>
                                        </p:cTn>
                                        <p:tgtEl>
                                          <p:spTgt spid="24"/>
                                        </p:tgtEl>
                                        <p:attrNameLst>
                                          <p:attrName>style.visibility</p:attrName>
                                        </p:attrNameLst>
                                      </p:cBhvr>
                                      <p:to>
                                        <p:strVal val="visible"/>
                                      </p:to>
                                    </p:set>
                                    <p:animEffect transition="in" filter="fade">
                                      <p:cBhvr>
                                        <p:cTn id="92" dur="550"/>
                                        <p:tgtEl>
                                          <p:spTgt spid="24"/>
                                        </p:tgtEl>
                                      </p:cBhvr>
                                    </p:animEffect>
                                    <p:anim calcmode="lin" valueType="num">
                                      <p:cBhvr>
                                        <p:cTn id="94" dur="550" decel="100000" fill="hold"/>
                                        <p:tgtEl>
                                          <p:spTgt spid="24"/>
                                        </p:tgtEl>
                                        <p:attrNameLst>
                                          <p:attrName>ppt_x</p:attrName>
                                        </p:attrNameLst>
                                      </p:cBhvr>
                                      <p:tavLst>
                                        <p:tav tm="0">
                                          <p:val>
                                            <p:strVal val="#ppt_x"/>
                                          </p:val>
                                        </p:tav>
                                        <p:tav tm="100000">
                                          <p:val>
                                            <p:strVal val="#ppt_x"/>
                                          </p:val>
                                        </p:tav>
                                      </p:tavLst>
                                    </p:anim>
                                    <p:anim calcmode="lin" valueType="num">
                                      <p:cBhvr>
                                        <p:cTn id="95" dur="550" decel="100000" fill="hold"/>
                                        <p:tgtEl>
                                          <p:spTgt spid="24"/>
                                        </p:tgtEl>
                                        <p:attrNameLst>
                                          <p:attrName>ppt_y</p:attrName>
                                        </p:attrNameLst>
                                      </p:cBhvr>
                                      <p:tavLst>
                                        <p:tav tm="0">
                                          <p:val>
                                            <p:strVal val="#ppt_y+0.04"/>
                                          </p:val>
                                        </p:tav>
                                        <p:tav tm="100000">
                                          <p:val>
                                            <p:strVal val="#ppt_y"/>
                                          </p:val>
                                        </p:tav>
                                      </p:tavLst>
                                    </p:anim>
                                  </p:childTnLst>
                                </p:cTn>
                              </p:par>
                              <p:par>
                                <p:cTn id="98" presetID="42" presetClass="entr" presetSubtype="0" fill="hold" grpId="0" nodeType="withEffect">
                                  <p:stCondLst>
                                    <p:cond delay="800"/>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550"/>
                                        <p:tgtEl>
                                          <p:spTgt spid="25"/>
                                        </p:tgtEl>
                                      </p:cBhvr>
                                    </p:animEffect>
                                    <p:anim calcmode="lin" valueType="num">
                                      <p:cBhvr>
                                        <p:cTn id="99" dur="550" decel="100000" fill="hold"/>
                                        <p:tgtEl>
                                          <p:spTgt spid="25"/>
                                        </p:tgtEl>
                                        <p:attrNameLst>
                                          <p:attrName>ppt_x</p:attrName>
                                        </p:attrNameLst>
                                      </p:cBhvr>
                                      <p:tavLst>
                                        <p:tav tm="0">
                                          <p:val>
                                            <p:strVal val="#ppt_x"/>
                                          </p:val>
                                        </p:tav>
                                        <p:tav tm="100000">
                                          <p:val>
                                            <p:strVal val="#ppt_x"/>
                                          </p:val>
                                        </p:tav>
                                      </p:tavLst>
                                    </p:anim>
                                    <p:anim calcmode="lin" valueType="num">
                                      <p:cBhvr>
                                        <p:cTn id="100" dur="550" decel="100000" fill="hold"/>
                                        <p:tgtEl>
                                          <p:spTgt spid="25"/>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2.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2">
    <p:bg>
      <p:bgPr>
        <a:solidFill>
          <a:srgbClr val="0A0405"/>
        </a:solidFill>
      </p:bgPr>
    </p:bg>
    <p:spTree>
      <p:nvGrpSpPr>
        <p:cNvPr id="1" name=""/>
        <p:cNvGrpSpPr/>
        <p:nvPr/>
      </p:nvGrpSpPr>
      <p:grpSpPr>
        <a:xfrm>
          <a:off x="0" y="0"/>
          <a:ext cx="0" cy="0"/>
          <a:chOff x="0" y="0"/>
          <a:chExt cx="0" cy="0"/>
        </a:xfrm>
      </p:grpSpPr>
      <p:pic>
        <p:nvPicPr>
          <p:cNvPr id="2" name="!!bg" descr="Red blood cells under a microscope">    </p:cNvPr>
          <p:cNvPicPr>
            <a:picLocks noChangeAspect="1"/>
          </p:cNvPicPr>
          <p:nvPr/>
        </p:nvPicPr>
        <p:blipFill>
          <a:blip r:embed="rId1"/>
          <a:stretch>
            <a:fillRect/>
          </a:stretch>
        </p:blipFill>
        <p:spPr>
          <a:xfrm>
            <a:off x="0" y="0"/>
            <a:ext cx="12191695" cy="6858000"/>
          </a:xfrm>
          <a:prstGeom prst="rect">
            <a:avLst/>
          </a:prstGeom>
        </p:spPr>
      </p:pic>
      <p:pic>
        <p:nvPicPr>
          <p:cNvPr id="3" name="!!shade" descr="/home/user/mdist-tracker/presentations/malaria/build/shade_L.png">    </p:cNvPr>
          <p:cNvPicPr>
            <a:picLocks noChangeAspect="1"/>
          </p:cNvPicPr>
          <p:nvPr/>
        </p:nvPicPr>
        <p:blipFill>
          <a:blip r:embed="rId2"/>
          <a:stretch>
            <a:fillRect/>
          </a:stretch>
        </p:blipFill>
        <p:spPr>
          <a:xfrm>
            <a:off x="0" y="0"/>
            <a:ext cx="12191695" cy="6858000"/>
          </a:xfrm>
          <a:prstGeom prst="rect">
            <a:avLst/>
          </a:prstGeom>
        </p:spPr>
      </p:pic>
      <p:sp>
        <p:nvSpPr>
          <p:cNvPr id="4" name="!!pill"/>
          <p:cNvSpPr/>
          <p:nvPr/>
        </p:nvSpPr>
        <p:spPr>
          <a:xfrm>
            <a:off x="548640" y="411480"/>
            <a:ext cx="1978762" cy="274320"/>
          </a:xfrm>
          <a:prstGeom prst="roundRect">
            <a:avLst>
              <a:gd name="adj" fmla="val 50000"/>
            </a:avLst>
          </a:prstGeom>
          <a:solidFill>
            <a:srgbClr val="0A0405">
              <a:alpha val="65000"/>
            </a:srgbClr>
          </a:solidFill>
          <a:ln w="9525">
            <a:solidFill>
              <a:srgbClr val="7A3038"/>
            </a:solidFill>
            <a:prstDash val="solid"/>
          </a:ln>
        </p:spPr>
      </p:sp>
      <p:sp>
        <p:nvSpPr>
          <p:cNvPr id="5" name="!!pilltext"/>
          <p:cNvSpPr txBox="1"/>
          <p:nvPr/>
        </p:nvSpPr>
        <p:spPr>
          <a:xfrm>
            <a:off x="548640" y="411480"/>
            <a:ext cx="1978762" cy="274320"/>
          </a:xfrm>
          <a:prstGeom prst="rect">
            <a:avLst/>
          </a:prstGeom>
          <a:noFill/>
          <a:ln/>
        </p:spPr>
        <p:txBody>
          <a:bodyPr wrap="square" lIns="0" tIns="0" rIns="0" bIns="0" rtlCol="0" anchor="ctr"/>
          <a:lstStyle/>
          <a:p>
            <a:pPr algn="ctr" indent="0" marL="0">
              <a:buNone/>
            </a:pPr>
            <a:r>
              <a:rPr lang="en-US" sz="1000" b="1" spc="150" kern="0" dirty="0">
                <a:solidFill>
                  <a:srgbClr val="C9B2AE"/>
                </a:solidFill>
                <a:latin typeface="Arial" pitchFamily="34" charset="0"/>
                <a:ea typeface="Arial" pitchFamily="34" charset="-122"/>
                <a:cs typeface="Arial" pitchFamily="34" charset="-120"/>
              </a:rPr>
              <a:t>PLAN OF THE TALK</a:t>
            </a:r>
            <a:endParaRPr lang="en-US" sz="1000" dirty="0"/>
          </a:p>
        </p:txBody>
      </p:sp>
      <p:pic>
        <p:nvPicPr>
          <p:cNvPr id="6" name="!!title" descr="Outline">    </p:cNvPr>
          <p:cNvPicPr>
            <a:picLocks noChangeAspect="1"/>
          </p:cNvPicPr>
          <p:nvPr/>
        </p:nvPicPr>
        <p:blipFill>
          <a:blip r:embed="rId3"/>
          <a:stretch>
            <a:fillRect/>
          </a:stretch>
        </p:blipFill>
        <p:spPr>
          <a:xfrm>
            <a:off x="521208" y="822960"/>
            <a:ext cx="2756446" cy="530721"/>
          </a:xfrm>
          <a:prstGeom prst="rect">
            <a:avLst/>
          </a:prstGeom>
        </p:spPr>
      </p:pic>
      <p:pic>
        <p:nvPicPr>
          <p:cNvPr id="7" name="!!crest" descr="MDIS Tashkent crest">    </p:cNvPr>
          <p:cNvPicPr>
            <a:picLocks noChangeAspect="1"/>
          </p:cNvPicPr>
          <p:nvPr/>
        </p:nvPicPr>
        <p:blipFill>
          <a:blip r:embed="rId4"/>
          <a:stretch>
            <a:fillRect/>
          </a:stretch>
        </p:blipFill>
        <p:spPr>
          <a:xfrm>
            <a:off x="11249708" y="384048"/>
            <a:ext cx="393347" cy="384048"/>
          </a:xfrm>
          <a:prstGeom prst="rect">
            <a:avLst/>
          </a:prstGeom>
        </p:spPr>
      </p:pic>
      <p:sp>
        <p:nvSpPr>
          <p:cNvPr id="8" name="Text 2"/>
          <p:cNvSpPr txBox="1"/>
          <p:nvPr/>
        </p:nvSpPr>
        <p:spPr>
          <a:xfrm>
            <a:off x="7802575" y="6382512"/>
            <a:ext cx="3840480" cy="256032"/>
          </a:xfrm>
          <a:prstGeom prst="rect">
            <a:avLst/>
          </a:prstGeom>
          <a:noFill/>
          <a:ln/>
        </p:spPr>
        <p:txBody>
          <a:bodyPr wrap="square" lIns="0" tIns="0" rIns="0" bIns="0" rtlCol="0" anchor="ctr"/>
          <a:lstStyle/>
          <a:p>
            <a:pPr algn="r" indent="0" marL="0">
              <a:buNone/>
            </a:pPr>
            <a:r>
              <a:rPr lang="en-US" sz="1000" b="1" spc="100" kern="0" dirty="0">
                <a:solidFill>
                  <a:srgbClr val="C9B2AE"/>
                </a:solidFill>
                <a:latin typeface="Arial" pitchFamily="34" charset="0"/>
                <a:ea typeface="Arial" pitchFamily="34" charset="-122"/>
                <a:cs typeface="Arial" pitchFamily="34" charset="-120"/>
              </a:rPr>
              <a:t>JAVOHIR AZAMOV   ·   02 / 16</a:t>
            </a:r>
            <a:endParaRPr lang="en-US" sz="1000" dirty="0"/>
          </a:p>
        </p:txBody>
      </p:sp>
      <p:sp>
        <p:nvSpPr>
          <p:cNvPr id="9" name="fx:1:up:card0"/>
          <p:cNvSpPr/>
          <p:nvPr/>
        </p:nvSpPr>
        <p:spPr>
          <a:xfrm>
            <a:off x="548640" y="1874520"/>
            <a:ext cx="2084832" cy="4069080"/>
          </a:xfrm>
          <a:prstGeom prst="roundRect">
            <a:avLst>
              <a:gd name="adj" fmla="val 3947"/>
            </a:avLst>
          </a:prstGeom>
          <a:solidFill>
            <a:srgbClr val="1C080B">
              <a:alpha val="70000"/>
            </a:srgbClr>
          </a:solidFill>
          <a:ln w="9525">
            <a:solidFill>
              <a:srgbClr val="7A3038"/>
            </a:solidFill>
            <a:prstDash val="solid"/>
          </a:ln>
        </p:spPr>
      </p:sp>
      <p:pic>
        <p:nvPicPr>
          <p:cNvPr id="10" name="fx:1:up:num0" descr="01">    </p:cNvPr>
          <p:cNvPicPr>
            <a:picLocks noChangeAspect="1"/>
          </p:cNvPicPr>
          <p:nvPr/>
        </p:nvPicPr>
        <p:blipFill>
          <a:blip r:embed="rId5"/>
          <a:stretch>
            <a:fillRect/>
          </a:stretch>
        </p:blipFill>
        <p:spPr>
          <a:xfrm>
            <a:off x="749808" y="2148840"/>
            <a:ext cx="646361" cy="474762"/>
          </a:xfrm>
          <a:prstGeom prst="rect">
            <a:avLst/>
          </a:prstGeom>
        </p:spPr>
      </p:pic>
      <p:sp>
        <p:nvSpPr>
          <p:cNvPr id="11" name="fx:1:up:t0"/>
          <p:cNvSpPr txBox="1"/>
          <p:nvPr/>
        </p:nvSpPr>
        <p:spPr>
          <a:xfrm>
            <a:off x="749808" y="2971800"/>
            <a:ext cx="1682496" cy="731520"/>
          </a:xfrm>
          <a:prstGeom prst="rect">
            <a:avLst/>
          </a:prstGeom>
          <a:noFill/>
          <a:ln/>
        </p:spPr>
        <p:txBody>
          <a:bodyPr wrap="square" lIns="0" tIns="0" rIns="0" bIns="0" rtlCol="0" anchor="t"/>
          <a:lstStyle/>
          <a:p>
            <a:pPr indent="0" marL="0">
              <a:buNone/>
            </a:pPr>
            <a:r>
              <a:rPr lang="en-US" sz="1500" b="1" spc="50" kern="0" dirty="0">
                <a:solidFill>
                  <a:srgbClr val="F4ECE8"/>
                </a:solidFill>
                <a:latin typeface="Arial" pitchFamily="34" charset="0"/>
                <a:ea typeface="Arial" pitchFamily="34" charset="-122"/>
                <a:cs typeface="Arial" pitchFamily="34" charset="-120"/>
              </a:rPr>
              <a:t>WHAT IS MALARIA</a:t>
            </a:r>
            <a:endParaRPr lang="en-US" sz="1500" dirty="0"/>
          </a:p>
        </p:txBody>
      </p:sp>
      <p:sp>
        <p:nvSpPr>
          <p:cNvPr id="12" name="fx:1:up:d0"/>
          <p:cNvSpPr txBox="1"/>
          <p:nvPr/>
        </p:nvSpPr>
        <p:spPr>
          <a:xfrm>
            <a:off x="749808" y="3703320"/>
            <a:ext cx="1682496" cy="1005840"/>
          </a:xfrm>
          <a:prstGeom prst="rect">
            <a:avLst/>
          </a:prstGeom>
          <a:noFill/>
          <a:ln/>
        </p:spPr>
        <p:txBody>
          <a:bodyPr wrap="square" lIns="0" tIns="0" rIns="0" bIns="0" rtlCol="0" anchor="t"/>
          <a:lstStyle/>
          <a:p>
            <a:pPr indent="0" marL="0">
              <a:buNone/>
            </a:pPr>
            <a:r>
              <a:rPr lang="en-US" sz="1300" dirty="0">
                <a:solidFill>
                  <a:srgbClr val="C9B2AE"/>
                </a:solidFill>
                <a:latin typeface="Arial" pitchFamily="34" charset="0"/>
                <a:ea typeface="Arial" pitchFamily="34" charset="-122"/>
                <a:cs typeface="Arial" pitchFamily="34" charset="-120"/>
              </a:rPr>
              <a:t>Definition, cause and fatality rate</a:t>
            </a:r>
            <a:endParaRPr lang="en-US" sz="1300" dirty="0"/>
          </a:p>
        </p:txBody>
      </p:sp>
      <p:sp>
        <p:nvSpPr>
          <p:cNvPr id="13" name="fx:1:up:dia0"/>
          <p:cNvSpPr txBox="1"/>
          <p:nvPr/>
        </p:nvSpPr>
        <p:spPr>
          <a:xfrm>
            <a:off x="749808" y="4892040"/>
            <a:ext cx="1097280" cy="182880"/>
          </a:xfrm>
          <a:prstGeom prst="rect">
            <a:avLst/>
          </a:prstGeom>
          <a:noFill/>
          <a:ln/>
        </p:spPr>
        <p:txBody>
          <a:bodyPr wrap="square" lIns="0" tIns="0" rIns="0" bIns="0" rtlCol="0" anchor="t"/>
          <a:lstStyle/>
          <a:p>
            <a:pPr algn="l" indent="0" marL="0">
              <a:buNone/>
            </a:pPr>
            <a:r>
              <a:rPr lang="en-US" sz="700" dirty="0">
                <a:solidFill>
                  <a:srgbClr val="E5333D"/>
                </a:solidFill>
                <a:latin typeface="Arial" pitchFamily="34" charset="0"/>
                <a:ea typeface="Arial" pitchFamily="34" charset="-122"/>
                <a:cs typeface="Arial" pitchFamily="34" charset="-120"/>
              </a:rPr>
              <a:t>◆  ◆  ◆</a:t>
            </a:r>
            <a:endParaRPr lang="en-US" sz="700" dirty="0"/>
          </a:p>
        </p:txBody>
      </p:sp>
      <p:sp>
        <p:nvSpPr>
          <p:cNvPr id="14" name="fx:1:up:s0"/>
          <p:cNvSpPr txBox="1"/>
          <p:nvPr/>
        </p:nvSpPr>
        <p:spPr>
          <a:xfrm>
            <a:off x="749808" y="5148072"/>
            <a:ext cx="1682496" cy="566928"/>
          </a:xfrm>
          <a:prstGeom prst="rect">
            <a:avLst/>
          </a:prstGeom>
          <a:noFill/>
          <a:ln/>
        </p:spPr>
        <p:txBody>
          <a:bodyPr wrap="square" lIns="0" tIns="0" rIns="0" bIns="0" rtlCol="0" anchor="t"/>
          <a:lstStyle/>
          <a:p>
            <a:pPr indent="0" marL="0">
              <a:buNone/>
            </a:pPr>
            <a:r>
              <a:rPr lang="en-US" sz="1200" b="1" dirty="0">
                <a:solidFill>
                  <a:srgbClr val="F4ECE8"/>
                </a:solidFill>
                <a:latin typeface="Arial" pitchFamily="34" charset="0"/>
                <a:ea typeface="Arial" pitchFamily="34" charset="-122"/>
                <a:cs typeface="Arial" pitchFamily="34" charset="-120"/>
              </a:rPr>
              <a:t>Javohir</a:t>
            </a:r>
            <a:endParaRPr lang="en-US" sz="1200" dirty="0"/>
          </a:p>
          <a:p>
            <a:pPr indent="0" marL="0">
              <a:buNone/>
            </a:pPr>
            <a:r>
              <a:rPr lang="en-US" sz="1200" b="1" dirty="0">
                <a:solidFill>
                  <a:srgbClr val="F4ECE8"/>
                </a:solidFill>
                <a:latin typeface="Arial" pitchFamily="34" charset="0"/>
                <a:ea typeface="Arial" pitchFamily="34" charset="-122"/>
                <a:cs typeface="Arial" pitchFamily="34" charset="-120"/>
              </a:rPr>
              <a:t>Azamov</a:t>
            </a:r>
            <a:endParaRPr lang="en-US" sz="1200" dirty="0"/>
          </a:p>
        </p:txBody>
      </p:sp>
      <p:sp>
        <p:nvSpPr>
          <p:cNvPr id="15" name="fx:2:up:card1"/>
          <p:cNvSpPr/>
          <p:nvPr/>
        </p:nvSpPr>
        <p:spPr>
          <a:xfrm>
            <a:off x="2793492" y="1874520"/>
            <a:ext cx="2084832" cy="4069080"/>
          </a:xfrm>
          <a:prstGeom prst="roundRect">
            <a:avLst>
              <a:gd name="adj" fmla="val 3947"/>
            </a:avLst>
          </a:prstGeom>
          <a:solidFill>
            <a:srgbClr val="1C080B">
              <a:alpha val="70000"/>
            </a:srgbClr>
          </a:solidFill>
          <a:ln w="9525">
            <a:solidFill>
              <a:srgbClr val="7A3038"/>
            </a:solidFill>
            <a:prstDash val="solid"/>
          </a:ln>
        </p:spPr>
      </p:sp>
      <p:pic>
        <p:nvPicPr>
          <p:cNvPr id="16" name="fx:2:up:num1" descr="02">    </p:cNvPr>
          <p:cNvPicPr>
            <a:picLocks noChangeAspect="1"/>
          </p:cNvPicPr>
          <p:nvPr/>
        </p:nvPicPr>
        <p:blipFill>
          <a:blip r:embed="rId6"/>
          <a:stretch>
            <a:fillRect/>
          </a:stretch>
        </p:blipFill>
        <p:spPr>
          <a:xfrm>
            <a:off x="2994660" y="2148840"/>
            <a:ext cx="682228" cy="474762"/>
          </a:xfrm>
          <a:prstGeom prst="rect">
            <a:avLst/>
          </a:prstGeom>
        </p:spPr>
      </p:pic>
      <p:sp>
        <p:nvSpPr>
          <p:cNvPr id="17" name="fx:2:up:t1"/>
          <p:cNvSpPr txBox="1"/>
          <p:nvPr/>
        </p:nvSpPr>
        <p:spPr>
          <a:xfrm>
            <a:off x="2994660" y="2971800"/>
            <a:ext cx="1682496" cy="731520"/>
          </a:xfrm>
          <a:prstGeom prst="rect">
            <a:avLst/>
          </a:prstGeom>
          <a:noFill/>
          <a:ln/>
        </p:spPr>
        <p:txBody>
          <a:bodyPr wrap="square" lIns="0" tIns="0" rIns="0" bIns="0" rtlCol="0" anchor="t"/>
          <a:lstStyle/>
          <a:p>
            <a:pPr indent="0" marL="0">
              <a:buNone/>
            </a:pPr>
            <a:r>
              <a:rPr lang="en-US" sz="1500" b="1" spc="50" kern="0" dirty="0">
                <a:solidFill>
                  <a:srgbClr val="F4ECE8"/>
                </a:solidFill>
                <a:latin typeface="Arial" pitchFamily="34" charset="0"/>
                <a:ea typeface="Arial" pitchFamily="34" charset="-122"/>
                <a:cs typeface="Arial" pitchFamily="34" charset="-120"/>
              </a:rPr>
              <a:t>HISTORY</a:t>
            </a:r>
            <a:endParaRPr lang="en-US" sz="1500" dirty="0"/>
          </a:p>
        </p:txBody>
      </p:sp>
      <p:sp>
        <p:nvSpPr>
          <p:cNvPr id="18" name="fx:2:up:d1"/>
          <p:cNvSpPr txBox="1"/>
          <p:nvPr/>
        </p:nvSpPr>
        <p:spPr>
          <a:xfrm>
            <a:off x="2994660" y="3703320"/>
            <a:ext cx="1682496" cy="1005840"/>
          </a:xfrm>
          <a:prstGeom prst="rect">
            <a:avLst/>
          </a:prstGeom>
          <a:noFill/>
          <a:ln/>
        </p:spPr>
        <p:txBody>
          <a:bodyPr wrap="square" lIns="0" tIns="0" rIns="0" bIns="0" rtlCol="0" anchor="t"/>
          <a:lstStyle/>
          <a:p>
            <a:pPr indent="0" marL="0">
              <a:buNone/>
            </a:pPr>
            <a:r>
              <a:rPr lang="en-US" sz="1300" dirty="0">
                <a:solidFill>
                  <a:srgbClr val="C9B2AE"/>
                </a:solidFill>
                <a:latin typeface="Arial" pitchFamily="34" charset="0"/>
                <a:ea typeface="Arial" pitchFamily="34" charset="-122"/>
                <a:cs typeface="Arial" pitchFamily="34" charset="-120"/>
              </a:rPr>
              <a:t>First records, discoveries, major outbreaks</a:t>
            </a:r>
            <a:endParaRPr lang="en-US" sz="1300" dirty="0"/>
          </a:p>
        </p:txBody>
      </p:sp>
      <p:sp>
        <p:nvSpPr>
          <p:cNvPr id="19" name="fx:2:up:dia1"/>
          <p:cNvSpPr txBox="1"/>
          <p:nvPr/>
        </p:nvSpPr>
        <p:spPr>
          <a:xfrm>
            <a:off x="2994660" y="4892040"/>
            <a:ext cx="1097280" cy="182880"/>
          </a:xfrm>
          <a:prstGeom prst="rect">
            <a:avLst/>
          </a:prstGeom>
          <a:noFill/>
          <a:ln/>
        </p:spPr>
        <p:txBody>
          <a:bodyPr wrap="square" lIns="0" tIns="0" rIns="0" bIns="0" rtlCol="0" anchor="t"/>
          <a:lstStyle/>
          <a:p>
            <a:pPr algn="l" indent="0" marL="0">
              <a:buNone/>
            </a:pPr>
            <a:r>
              <a:rPr lang="en-US" sz="700" dirty="0">
                <a:solidFill>
                  <a:srgbClr val="E5333D"/>
                </a:solidFill>
                <a:latin typeface="Arial" pitchFamily="34" charset="0"/>
                <a:ea typeface="Arial" pitchFamily="34" charset="-122"/>
                <a:cs typeface="Arial" pitchFamily="34" charset="-120"/>
              </a:rPr>
              <a:t>◆  ◆  ◆</a:t>
            </a:r>
            <a:endParaRPr lang="en-US" sz="700" dirty="0"/>
          </a:p>
        </p:txBody>
      </p:sp>
      <p:sp>
        <p:nvSpPr>
          <p:cNvPr id="20" name="fx:2:up:s1"/>
          <p:cNvSpPr txBox="1"/>
          <p:nvPr/>
        </p:nvSpPr>
        <p:spPr>
          <a:xfrm>
            <a:off x="2994660" y="5148072"/>
            <a:ext cx="1682496" cy="566928"/>
          </a:xfrm>
          <a:prstGeom prst="rect">
            <a:avLst/>
          </a:prstGeom>
          <a:noFill/>
          <a:ln/>
        </p:spPr>
        <p:txBody>
          <a:bodyPr wrap="square" lIns="0" tIns="0" rIns="0" bIns="0" rtlCol="0" anchor="t"/>
          <a:lstStyle/>
          <a:p>
            <a:pPr indent="0" marL="0">
              <a:buNone/>
            </a:pPr>
            <a:r>
              <a:rPr lang="en-US" sz="1200" b="1" dirty="0">
                <a:solidFill>
                  <a:srgbClr val="F4ECE8"/>
                </a:solidFill>
                <a:latin typeface="Arial" pitchFamily="34" charset="0"/>
                <a:ea typeface="Arial" pitchFamily="34" charset="-122"/>
                <a:cs typeface="Arial" pitchFamily="34" charset="-120"/>
              </a:rPr>
              <a:t>Muhammadrizo</a:t>
            </a:r>
            <a:endParaRPr lang="en-US" sz="1200" dirty="0"/>
          </a:p>
          <a:p>
            <a:pPr indent="0" marL="0">
              <a:buNone/>
            </a:pPr>
            <a:r>
              <a:rPr lang="en-US" sz="1200" b="1" dirty="0">
                <a:solidFill>
                  <a:srgbClr val="F4ECE8"/>
                </a:solidFill>
                <a:latin typeface="Arial" pitchFamily="34" charset="0"/>
                <a:ea typeface="Arial" pitchFamily="34" charset="-122"/>
                <a:cs typeface="Arial" pitchFamily="34" charset="-120"/>
              </a:rPr>
              <a:t>Asatullayev</a:t>
            </a:r>
            <a:endParaRPr lang="en-US" sz="1200" dirty="0"/>
          </a:p>
        </p:txBody>
      </p:sp>
      <p:sp>
        <p:nvSpPr>
          <p:cNvPr id="21" name="fx:3:up:card2"/>
          <p:cNvSpPr/>
          <p:nvPr/>
        </p:nvSpPr>
        <p:spPr>
          <a:xfrm>
            <a:off x="5038344" y="1874520"/>
            <a:ext cx="2084832" cy="4069080"/>
          </a:xfrm>
          <a:prstGeom prst="roundRect">
            <a:avLst>
              <a:gd name="adj" fmla="val 3947"/>
            </a:avLst>
          </a:prstGeom>
          <a:solidFill>
            <a:srgbClr val="1C080B">
              <a:alpha val="70000"/>
            </a:srgbClr>
          </a:solidFill>
          <a:ln w="9525">
            <a:solidFill>
              <a:srgbClr val="7A3038"/>
            </a:solidFill>
            <a:prstDash val="solid"/>
          </a:ln>
        </p:spPr>
      </p:sp>
      <p:pic>
        <p:nvPicPr>
          <p:cNvPr id="22" name="fx:3:up:num2" descr="03">    </p:cNvPr>
          <p:cNvPicPr>
            <a:picLocks noChangeAspect="1"/>
          </p:cNvPicPr>
          <p:nvPr/>
        </p:nvPicPr>
        <p:blipFill>
          <a:blip r:embed="rId7"/>
          <a:stretch>
            <a:fillRect/>
          </a:stretch>
        </p:blipFill>
        <p:spPr>
          <a:xfrm>
            <a:off x="5239512" y="2148840"/>
            <a:ext cx="685651" cy="474762"/>
          </a:xfrm>
          <a:prstGeom prst="rect">
            <a:avLst/>
          </a:prstGeom>
        </p:spPr>
      </p:pic>
      <p:sp>
        <p:nvSpPr>
          <p:cNvPr id="23" name="fx:3:up:t2"/>
          <p:cNvSpPr txBox="1"/>
          <p:nvPr/>
        </p:nvSpPr>
        <p:spPr>
          <a:xfrm>
            <a:off x="5239512" y="2971800"/>
            <a:ext cx="1682496" cy="731520"/>
          </a:xfrm>
          <a:prstGeom prst="rect">
            <a:avLst/>
          </a:prstGeom>
          <a:noFill/>
          <a:ln/>
        </p:spPr>
        <p:txBody>
          <a:bodyPr wrap="square" lIns="0" tIns="0" rIns="0" bIns="0" rtlCol="0" anchor="t"/>
          <a:lstStyle/>
          <a:p>
            <a:pPr indent="0" marL="0">
              <a:buNone/>
            </a:pPr>
            <a:r>
              <a:rPr lang="en-US" sz="1500" b="1" spc="50" kern="0" dirty="0">
                <a:solidFill>
                  <a:srgbClr val="F4ECE8"/>
                </a:solidFill>
                <a:latin typeface="Arial" pitchFamily="34" charset="0"/>
                <a:ea typeface="Arial" pitchFamily="34" charset="-122"/>
                <a:cs typeface="Arial" pitchFamily="34" charset="-120"/>
              </a:rPr>
              <a:t>MALARIA TODAY</a:t>
            </a:r>
            <a:endParaRPr lang="en-US" sz="1500" dirty="0"/>
          </a:p>
        </p:txBody>
      </p:sp>
      <p:sp>
        <p:nvSpPr>
          <p:cNvPr id="24" name="fx:3:up:d2"/>
          <p:cNvSpPr txBox="1"/>
          <p:nvPr/>
        </p:nvSpPr>
        <p:spPr>
          <a:xfrm>
            <a:off x="5239512" y="3703320"/>
            <a:ext cx="1682496" cy="1005840"/>
          </a:xfrm>
          <a:prstGeom prst="rect">
            <a:avLst/>
          </a:prstGeom>
          <a:noFill/>
          <a:ln/>
        </p:spPr>
        <p:txBody>
          <a:bodyPr wrap="square" lIns="0" tIns="0" rIns="0" bIns="0" rtlCol="0" anchor="t"/>
          <a:lstStyle/>
          <a:p>
            <a:pPr indent="0" marL="0">
              <a:buNone/>
            </a:pPr>
            <a:r>
              <a:rPr lang="en-US" sz="1300" dirty="0">
                <a:solidFill>
                  <a:srgbClr val="C9B2AE"/>
                </a:solidFill>
                <a:latin typeface="Arial" pitchFamily="34" charset="0"/>
                <a:ea typeface="Arial" pitchFamily="34" charset="-122"/>
                <a:cs typeface="Arial" pitchFamily="34" charset="-120"/>
              </a:rPr>
              <a:t>Statistics on cases, deaths and damage</a:t>
            </a:r>
            <a:endParaRPr lang="en-US" sz="1300" dirty="0"/>
          </a:p>
        </p:txBody>
      </p:sp>
      <p:sp>
        <p:nvSpPr>
          <p:cNvPr id="25" name="fx:3:up:dia2"/>
          <p:cNvSpPr txBox="1"/>
          <p:nvPr/>
        </p:nvSpPr>
        <p:spPr>
          <a:xfrm>
            <a:off x="5239512" y="4892040"/>
            <a:ext cx="1097280" cy="182880"/>
          </a:xfrm>
          <a:prstGeom prst="rect">
            <a:avLst/>
          </a:prstGeom>
          <a:noFill/>
          <a:ln/>
        </p:spPr>
        <p:txBody>
          <a:bodyPr wrap="square" lIns="0" tIns="0" rIns="0" bIns="0" rtlCol="0" anchor="t"/>
          <a:lstStyle/>
          <a:p>
            <a:pPr algn="l" indent="0" marL="0">
              <a:buNone/>
            </a:pPr>
            <a:r>
              <a:rPr lang="en-US" sz="700" dirty="0">
                <a:solidFill>
                  <a:srgbClr val="E5333D"/>
                </a:solidFill>
                <a:latin typeface="Arial" pitchFamily="34" charset="0"/>
                <a:ea typeface="Arial" pitchFamily="34" charset="-122"/>
                <a:cs typeface="Arial" pitchFamily="34" charset="-120"/>
              </a:rPr>
              <a:t>◆  ◆  ◆</a:t>
            </a:r>
            <a:endParaRPr lang="en-US" sz="700" dirty="0"/>
          </a:p>
        </p:txBody>
      </p:sp>
      <p:sp>
        <p:nvSpPr>
          <p:cNvPr id="26" name="fx:3:up:s2"/>
          <p:cNvSpPr txBox="1"/>
          <p:nvPr/>
        </p:nvSpPr>
        <p:spPr>
          <a:xfrm>
            <a:off x="5239512" y="5148072"/>
            <a:ext cx="1682496" cy="566928"/>
          </a:xfrm>
          <a:prstGeom prst="rect">
            <a:avLst/>
          </a:prstGeom>
          <a:noFill/>
          <a:ln/>
        </p:spPr>
        <p:txBody>
          <a:bodyPr wrap="square" lIns="0" tIns="0" rIns="0" bIns="0" rtlCol="0" anchor="t"/>
          <a:lstStyle/>
          <a:p>
            <a:pPr indent="0" marL="0">
              <a:buNone/>
            </a:pPr>
            <a:r>
              <a:rPr lang="en-US" sz="1200" b="1" dirty="0">
                <a:solidFill>
                  <a:srgbClr val="F4ECE8"/>
                </a:solidFill>
                <a:latin typeface="Arial" pitchFamily="34" charset="0"/>
                <a:ea typeface="Arial" pitchFamily="34" charset="-122"/>
                <a:cs typeface="Arial" pitchFamily="34" charset="-120"/>
              </a:rPr>
              <a:t>Ramazan</a:t>
            </a:r>
            <a:endParaRPr lang="en-US" sz="1200" dirty="0"/>
          </a:p>
          <a:p>
            <a:pPr indent="0" marL="0">
              <a:buNone/>
            </a:pPr>
            <a:r>
              <a:rPr lang="en-US" sz="1200" b="1" dirty="0">
                <a:solidFill>
                  <a:srgbClr val="F4ECE8"/>
                </a:solidFill>
                <a:latin typeface="Arial" pitchFamily="34" charset="0"/>
                <a:ea typeface="Arial" pitchFamily="34" charset="-122"/>
                <a:cs typeface="Arial" pitchFamily="34" charset="-120"/>
              </a:rPr>
              <a:t>Bakiyev</a:t>
            </a:r>
            <a:endParaRPr lang="en-US" sz="1200" dirty="0"/>
          </a:p>
        </p:txBody>
      </p:sp>
      <p:sp>
        <p:nvSpPr>
          <p:cNvPr id="27" name="fx:4:up:card3"/>
          <p:cNvSpPr/>
          <p:nvPr/>
        </p:nvSpPr>
        <p:spPr>
          <a:xfrm>
            <a:off x="7283196" y="1874520"/>
            <a:ext cx="2084832" cy="4069080"/>
          </a:xfrm>
          <a:prstGeom prst="roundRect">
            <a:avLst>
              <a:gd name="adj" fmla="val 3947"/>
            </a:avLst>
          </a:prstGeom>
          <a:solidFill>
            <a:srgbClr val="1C080B">
              <a:alpha val="70000"/>
            </a:srgbClr>
          </a:solidFill>
          <a:ln w="9525">
            <a:solidFill>
              <a:srgbClr val="7A3038"/>
            </a:solidFill>
            <a:prstDash val="solid"/>
          </a:ln>
        </p:spPr>
      </p:sp>
      <p:pic>
        <p:nvPicPr>
          <p:cNvPr id="28" name="fx:4:up:num3" descr="04">    </p:cNvPr>
          <p:cNvPicPr>
            <a:picLocks noChangeAspect="1"/>
          </p:cNvPicPr>
          <p:nvPr/>
        </p:nvPicPr>
        <p:blipFill>
          <a:blip r:embed="rId8"/>
          <a:stretch>
            <a:fillRect/>
          </a:stretch>
        </p:blipFill>
        <p:spPr>
          <a:xfrm>
            <a:off x="7484364" y="2148840"/>
            <a:ext cx="674936" cy="474762"/>
          </a:xfrm>
          <a:prstGeom prst="rect">
            <a:avLst/>
          </a:prstGeom>
        </p:spPr>
      </p:pic>
      <p:sp>
        <p:nvSpPr>
          <p:cNvPr id="29" name="fx:4:up:t3"/>
          <p:cNvSpPr txBox="1"/>
          <p:nvPr/>
        </p:nvSpPr>
        <p:spPr>
          <a:xfrm>
            <a:off x="7484364" y="2971800"/>
            <a:ext cx="1682496" cy="731520"/>
          </a:xfrm>
          <a:prstGeom prst="rect">
            <a:avLst/>
          </a:prstGeom>
          <a:noFill/>
          <a:ln/>
        </p:spPr>
        <p:txBody>
          <a:bodyPr wrap="square" lIns="0" tIns="0" rIns="0" bIns="0" rtlCol="0" anchor="t"/>
          <a:lstStyle/>
          <a:p>
            <a:pPr indent="0" marL="0">
              <a:buNone/>
            </a:pPr>
            <a:r>
              <a:rPr lang="en-US" sz="1500" b="1" spc="50" kern="0" dirty="0">
                <a:solidFill>
                  <a:srgbClr val="F4ECE8"/>
                </a:solidFill>
                <a:latin typeface="Arial" pitchFamily="34" charset="0"/>
                <a:ea typeface="Arial" pitchFamily="34" charset="-122"/>
                <a:cs typeface="Arial" pitchFamily="34" charset="-120"/>
              </a:rPr>
              <a:t>FIGHTING BACK</a:t>
            </a:r>
            <a:endParaRPr lang="en-US" sz="1500" dirty="0"/>
          </a:p>
        </p:txBody>
      </p:sp>
      <p:sp>
        <p:nvSpPr>
          <p:cNvPr id="30" name="fx:4:up:d3"/>
          <p:cNvSpPr txBox="1"/>
          <p:nvPr/>
        </p:nvSpPr>
        <p:spPr>
          <a:xfrm>
            <a:off x="7484364" y="3703320"/>
            <a:ext cx="1682496" cy="1005840"/>
          </a:xfrm>
          <a:prstGeom prst="rect">
            <a:avLst/>
          </a:prstGeom>
          <a:noFill/>
          <a:ln/>
        </p:spPr>
        <p:txBody>
          <a:bodyPr wrap="square" lIns="0" tIns="0" rIns="0" bIns="0" rtlCol="0" anchor="t"/>
          <a:lstStyle/>
          <a:p>
            <a:pPr indent="0" marL="0">
              <a:buNone/>
            </a:pPr>
            <a:r>
              <a:rPr lang="en-US" sz="1300" dirty="0">
                <a:solidFill>
                  <a:srgbClr val="C9B2AE"/>
                </a:solidFill>
                <a:latin typeface="Arial" pitchFamily="34" charset="0"/>
                <a:ea typeface="Arial" pitchFamily="34" charset="-122"/>
                <a:cs typeface="Arial" pitchFamily="34" charset="-120"/>
              </a:rPr>
              <a:t>Vaccine, prevention and treatment</a:t>
            </a:r>
            <a:endParaRPr lang="en-US" sz="1300" dirty="0"/>
          </a:p>
        </p:txBody>
      </p:sp>
      <p:sp>
        <p:nvSpPr>
          <p:cNvPr id="31" name="fx:4:up:dia3"/>
          <p:cNvSpPr txBox="1"/>
          <p:nvPr/>
        </p:nvSpPr>
        <p:spPr>
          <a:xfrm>
            <a:off x="7484364" y="4892040"/>
            <a:ext cx="1097280" cy="182880"/>
          </a:xfrm>
          <a:prstGeom prst="rect">
            <a:avLst/>
          </a:prstGeom>
          <a:noFill/>
          <a:ln/>
        </p:spPr>
        <p:txBody>
          <a:bodyPr wrap="square" lIns="0" tIns="0" rIns="0" bIns="0" rtlCol="0" anchor="t"/>
          <a:lstStyle/>
          <a:p>
            <a:pPr algn="l" indent="0" marL="0">
              <a:buNone/>
            </a:pPr>
            <a:r>
              <a:rPr lang="en-US" sz="700" dirty="0">
                <a:solidFill>
                  <a:srgbClr val="E5333D"/>
                </a:solidFill>
                <a:latin typeface="Arial" pitchFamily="34" charset="0"/>
                <a:ea typeface="Arial" pitchFamily="34" charset="-122"/>
                <a:cs typeface="Arial" pitchFamily="34" charset="-120"/>
              </a:rPr>
              <a:t>◆  ◆  ◆</a:t>
            </a:r>
            <a:endParaRPr lang="en-US" sz="700" dirty="0"/>
          </a:p>
        </p:txBody>
      </p:sp>
      <p:sp>
        <p:nvSpPr>
          <p:cNvPr id="32" name="fx:4:up:s3"/>
          <p:cNvSpPr txBox="1"/>
          <p:nvPr/>
        </p:nvSpPr>
        <p:spPr>
          <a:xfrm>
            <a:off x="7484364" y="5148072"/>
            <a:ext cx="1682496" cy="566928"/>
          </a:xfrm>
          <a:prstGeom prst="rect">
            <a:avLst/>
          </a:prstGeom>
          <a:noFill/>
          <a:ln/>
        </p:spPr>
        <p:txBody>
          <a:bodyPr wrap="square" lIns="0" tIns="0" rIns="0" bIns="0" rtlCol="0" anchor="t"/>
          <a:lstStyle/>
          <a:p>
            <a:pPr indent="0" marL="0">
              <a:buNone/>
            </a:pPr>
            <a:r>
              <a:rPr lang="en-US" sz="1200" b="1" dirty="0">
                <a:solidFill>
                  <a:srgbClr val="F4ECE8"/>
                </a:solidFill>
                <a:latin typeface="Arial" pitchFamily="34" charset="0"/>
                <a:ea typeface="Arial" pitchFamily="34" charset="-122"/>
                <a:cs typeface="Arial" pitchFamily="34" charset="-120"/>
              </a:rPr>
              <a:t>Akmalbek</a:t>
            </a:r>
            <a:endParaRPr lang="en-US" sz="1200" dirty="0"/>
          </a:p>
          <a:p>
            <a:pPr indent="0" marL="0">
              <a:buNone/>
            </a:pPr>
            <a:r>
              <a:rPr lang="en-US" sz="1200" b="1" dirty="0">
                <a:solidFill>
                  <a:srgbClr val="F4ECE8"/>
                </a:solidFill>
                <a:latin typeface="Arial" pitchFamily="34" charset="0"/>
                <a:ea typeface="Arial" pitchFamily="34" charset="-122"/>
                <a:cs typeface="Arial" pitchFamily="34" charset="-120"/>
              </a:rPr>
              <a:t>Abduraimov</a:t>
            </a:r>
            <a:endParaRPr lang="en-US" sz="1200" dirty="0"/>
          </a:p>
        </p:txBody>
      </p:sp>
      <p:sp>
        <p:nvSpPr>
          <p:cNvPr id="33" name="fx:5:up:card4"/>
          <p:cNvSpPr/>
          <p:nvPr/>
        </p:nvSpPr>
        <p:spPr>
          <a:xfrm>
            <a:off x="9528048" y="1874520"/>
            <a:ext cx="2084832" cy="4069080"/>
          </a:xfrm>
          <a:prstGeom prst="roundRect">
            <a:avLst>
              <a:gd name="adj" fmla="val 3947"/>
            </a:avLst>
          </a:prstGeom>
          <a:solidFill>
            <a:srgbClr val="1C080B">
              <a:alpha val="70000"/>
            </a:srgbClr>
          </a:solidFill>
          <a:ln w="9525">
            <a:solidFill>
              <a:srgbClr val="7A3038"/>
            </a:solidFill>
            <a:prstDash val="solid"/>
          </a:ln>
        </p:spPr>
      </p:sp>
      <p:pic>
        <p:nvPicPr>
          <p:cNvPr id="34" name="fx:5:up:num4" descr="05">    </p:cNvPr>
          <p:cNvPicPr>
            <a:picLocks noChangeAspect="1"/>
          </p:cNvPicPr>
          <p:nvPr/>
        </p:nvPicPr>
        <p:blipFill>
          <a:blip r:embed="rId9"/>
          <a:stretch>
            <a:fillRect/>
          </a:stretch>
        </p:blipFill>
        <p:spPr>
          <a:xfrm>
            <a:off x="9729216" y="2148840"/>
            <a:ext cx="685205" cy="474762"/>
          </a:xfrm>
          <a:prstGeom prst="rect">
            <a:avLst/>
          </a:prstGeom>
        </p:spPr>
      </p:pic>
      <p:sp>
        <p:nvSpPr>
          <p:cNvPr id="35" name="fx:5:up:t4"/>
          <p:cNvSpPr txBox="1"/>
          <p:nvPr/>
        </p:nvSpPr>
        <p:spPr>
          <a:xfrm>
            <a:off x="9729216" y="2971800"/>
            <a:ext cx="1682496" cy="731520"/>
          </a:xfrm>
          <a:prstGeom prst="rect">
            <a:avLst/>
          </a:prstGeom>
          <a:noFill/>
          <a:ln/>
        </p:spPr>
        <p:txBody>
          <a:bodyPr wrap="square" lIns="0" tIns="0" rIns="0" bIns="0" rtlCol="0" anchor="t"/>
          <a:lstStyle/>
          <a:p>
            <a:pPr indent="0" marL="0">
              <a:buNone/>
            </a:pPr>
            <a:r>
              <a:rPr lang="en-US" sz="1500" b="1" spc="50" kern="0" dirty="0">
                <a:solidFill>
                  <a:srgbClr val="F4ECE8"/>
                </a:solidFill>
                <a:latin typeface="Arial" pitchFamily="34" charset="0"/>
                <a:ea typeface="Arial" pitchFamily="34" charset="-122"/>
                <a:cs typeface="Arial" pitchFamily="34" charset="-120"/>
              </a:rPr>
              <a:t>CONCLUSION</a:t>
            </a:r>
            <a:endParaRPr lang="en-US" sz="1500" dirty="0"/>
          </a:p>
        </p:txBody>
      </p:sp>
      <p:sp>
        <p:nvSpPr>
          <p:cNvPr id="36" name="fx:5:up:d4"/>
          <p:cNvSpPr txBox="1"/>
          <p:nvPr/>
        </p:nvSpPr>
        <p:spPr>
          <a:xfrm>
            <a:off x="9729216" y="3703320"/>
            <a:ext cx="1682496" cy="1005840"/>
          </a:xfrm>
          <a:prstGeom prst="rect">
            <a:avLst/>
          </a:prstGeom>
          <a:noFill/>
          <a:ln/>
        </p:spPr>
        <p:txBody>
          <a:bodyPr wrap="square" lIns="0" tIns="0" rIns="0" bIns="0" rtlCol="0" anchor="t"/>
          <a:lstStyle/>
          <a:p>
            <a:pPr indent="0" marL="0">
              <a:buNone/>
            </a:pPr>
            <a:r>
              <a:rPr lang="en-US" sz="1300" dirty="0">
                <a:solidFill>
                  <a:srgbClr val="C9B2AE"/>
                </a:solidFill>
                <a:latin typeface="Arial" pitchFamily="34" charset="0"/>
                <a:ea typeface="Arial" pitchFamily="34" charset="-122"/>
                <a:cs typeface="Arial" pitchFamily="34" charset="-120"/>
              </a:rPr>
              <a:t>Key takeaways</a:t>
            </a:r>
            <a:endParaRPr lang="en-US" sz="1300" dirty="0"/>
          </a:p>
        </p:txBody>
      </p:sp>
      <p:sp>
        <p:nvSpPr>
          <p:cNvPr id="37" name="fx:5:up:dia4"/>
          <p:cNvSpPr txBox="1"/>
          <p:nvPr/>
        </p:nvSpPr>
        <p:spPr>
          <a:xfrm>
            <a:off x="9729216" y="4892040"/>
            <a:ext cx="1097280" cy="182880"/>
          </a:xfrm>
          <a:prstGeom prst="rect">
            <a:avLst/>
          </a:prstGeom>
          <a:noFill/>
          <a:ln/>
        </p:spPr>
        <p:txBody>
          <a:bodyPr wrap="square" lIns="0" tIns="0" rIns="0" bIns="0" rtlCol="0" anchor="t"/>
          <a:lstStyle/>
          <a:p>
            <a:pPr algn="l" indent="0" marL="0">
              <a:buNone/>
            </a:pPr>
            <a:r>
              <a:rPr lang="en-US" sz="700" dirty="0">
                <a:solidFill>
                  <a:srgbClr val="E5333D"/>
                </a:solidFill>
                <a:latin typeface="Arial" pitchFamily="34" charset="0"/>
                <a:ea typeface="Arial" pitchFamily="34" charset="-122"/>
                <a:cs typeface="Arial" pitchFamily="34" charset="-120"/>
              </a:rPr>
              <a:t>◆  ◆  ◆</a:t>
            </a:r>
            <a:endParaRPr lang="en-US" sz="700" dirty="0"/>
          </a:p>
        </p:txBody>
      </p:sp>
      <p:sp>
        <p:nvSpPr>
          <p:cNvPr id="38" name="fx:5:up:s4"/>
          <p:cNvSpPr txBox="1"/>
          <p:nvPr/>
        </p:nvSpPr>
        <p:spPr>
          <a:xfrm>
            <a:off x="9729216" y="5148072"/>
            <a:ext cx="1682496" cy="566928"/>
          </a:xfrm>
          <a:prstGeom prst="rect">
            <a:avLst/>
          </a:prstGeom>
          <a:noFill/>
          <a:ln/>
        </p:spPr>
        <p:txBody>
          <a:bodyPr wrap="square" lIns="0" tIns="0" rIns="0" bIns="0" rtlCol="0" anchor="t"/>
          <a:lstStyle/>
          <a:p>
            <a:pPr indent="0" marL="0">
              <a:buNone/>
            </a:pPr>
            <a:r>
              <a:rPr lang="en-US" sz="1200" b="1" dirty="0">
                <a:solidFill>
                  <a:srgbClr val="F4ECE8"/>
                </a:solidFill>
                <a:latin typeface="Arial" pitchFamily="34" charset="0"/>
                <a:ea typeface="Arial" pitchFamily="34" charset="-122"/>
                <a:cs typeface="Arial" pitchFamily="34" charset="-120"/>
              </a:rPr>
              <a:t>Javohir</a:t>
            </a:r>
            <a:endParaRPr lang="en-US" sz="1200" dirty="0"/>
          </a:p>
          <a:p>
            <a:pPr indent="0" marL="0">
              <a:buNone/>
            </a:pPr>
            <a:r>
              <a:rPr lang="en-US" sz="1200" b="1" dirty="0">
                <a:solidFill>
                  <a:srgbClr val="F4ECE8"/>
                </a:solidFill>
                <a:latin typeface="Arial" pitchFamily="34" charset="0"/>
                <a:ea typeface="Arial" pitchFamily="34" charset="-122"/>
                <a:cs typeface="Arial" pitchFamily="34" charset="-120"/>
              </a:rPr>
              <a:t>Azamov</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42" presetClass="entr" presetSubtype="0" fill="hold" grpId="0" nodeType="afterEffect">
                                  <p:stCondLst>
                                    <p:cond delay="15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50"/>
                                        <p:tgtEl>
                                          <p:spTgt spid="9"/>
                                        </p:tgtEl>
                                      </p:cBhvr>
                                    </p:animEffect>
                                    <p:anim calcmode="lin" valueType="num">
                                      <p:cBhvr>
                                        <p:cTn id="8" dur="550" decel="100000" fill="hold"/>
                                        <p:tgtEl>
                                          <p:spTgt spid="9"/>
                                        </p:tgtEl>
                                        <p:attrNameLst>
                                          <p:attrName>ppt_x</p:attrName>
                                        </p:attrNameLst>
                                      </p:cBhvr>
                                      <p:tavLst>
                                        <p:tav tm="0">
                                          <p:val>
                                            <p:strVal val="#ppt_x"/>
                                          </p:val>
                                        </p:tav>
                                        <p:tav tm="100000">
                                          <p:val>
                                            <p:strVal val="#ppt_x"/>
                                          </p:val>
                                        </p:tav>
                                      </p:tavLst>
                                    </p:anim>
                                    <p:anim calcmode="lin" valueType="num">
                                      <p:cBhvr>
                                        <p:cTn id="9" dur="550" decel="100000" fill="hold"/>
                                        <p:tgtEl>
                                          <p:spTgt spid="9"/>
                                        </p:tgtEl>
                                        <p:attrNameLst>
                                          <p:attrName>ppt_y</p:attrName>
                                        </p:attrNameLst>
                                      </p:cBhvr>
                                      <p:tavLst>
                                        <p:tav tm="0">
                                          <p:val>
                                            <p:strVal val="#ppt_y+0.04"/>
                                          </p:val>
                                        </p:tav>
                                        <p:tav tm="100000">
                                          <p:val>
                                            <p:strVal val="#ppt_y"/>
                                          </p:val>
                                        </p:tav>
                                      </p:tavLst>
                                    </p:anim>
                                  </p:childTnLst>
                                </p:cTn>
                              </p:par>
                              <p:par>
                                <p:cTn id="12" presetID="42" presetClass="entr" presetSubtype="0" fill="hold" grpId="0" nodeType="withEffect">
                                  <p:stCondLst>
                                    <p:cond delay="15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50"/>
                                        <p:tgtEl>
                                          <p:spTgt spid="10"/>
                                        </p:tgtEl>
                                      </p:cBhvr>
                                    </p:animEffect>
                                    <p:anim calcmode="lin" valueType="num">
                                      <p:cBhvr>
                                        <p:cTn id="13" dur="550" decel="100000" fill="hold"/>
                                        <p:tgtEl>
                                          <p:spTgt spid="10"/>
                                        </p:tgtEl>
                                        <p:attrNameLst>
                                          <p:attrName>ppt_x</p:attrName>
                                        </p:attrNameLst>
                                      </p:cBhvr>
                                      <p:tavLst>
                                        <p:tav tm="0">
                                          <p:val>
                                            <p:strVal val="#ppt_x"/>
                                          </p:val>
                                        </p:tav>
                                        <p:tav tm="100000">
                                          <p:val>
                                            <p:strVal val="#ppt_x"/>
                                          </p:val>
                                        </p:tav>
                                      </p:tavLst>
                                    </p:anim>
                                    <p:anim calcmode="lin" valueType="num">
                                      <p:cBhvr>
                                        <p:cTn id="14" dur="550" decel="100000" fill="hold"/>
                                        <p:tgtEl>
                                          <p:spTgt spid="10"/>
                                        </p:tgtEl>
                                        <p:attrNameLst>
                                          <p:attrName>ppt_y</p:attrName>
                                        </p:attrNameLst>
                                      </p:cBhvr>
                                      <p:tavLst>
                                        <p:tav tm="0">
                                          <p:val>
                                            <p:strVal val="#ppt_y+0.04"/>
                                          </p:val>
                                        </p:tav>
                                        <p:tav tm="100000">
                                          <p:val>
                                            <p:strVal val="#ppt_y"/>
                                          </p:val>
                                        </p:tav>
                                      </p:tavLst>
                                    </p:anim>
                                  </p:childTnLst>
                                </p:cTn>
                              </p:par>
                              <p:par>
                                <p:cTn id="17" presetID="42" presetClass="entr" presetSubtype="0" fill="hold" grpId="0" nodeType="withEffect">
                                  <p:stCondLst>
                                    <p:cond delay="15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p:cTn id="18" dur="550" decel="100000" fill="hold"/>
                                        <p:tgtEl>
                                          <p:spTgt spid="11"/>
                                        </p:tgtEl>
                                        <p:attrNameLst>
                                          <p:attrName>ppt_x</p:attrName>
                                        </p:attrNameLst>
                                      </p:cBhvr>
                                      <p:tavLst>
                                        <p:tav tm="0">
                                          <p:val>
                                            <p:strVal val="#ppt_x"/>
                                          </p:val>
                                        </p:tav>
                                        <p:tav tm="100000">
                                          <p:val>
                                            <p:strVal val="#ppt_x"/>
                                          </p:val>
                                        </p:tav>
                                      </p:tavLst>
                                    </p:anim>
                                    <p:anim calcmode="lin" valueType="num">
                                      <p:cBhvr>
                                        <p:cTn id="19" dur="550" decel="100000" fill="hold"/>
                                        <p:tgtEl>
                                          <p:spTgt spid="11"/>
                                        </p:tgtEl>
                                        <p:attrNameLst>
                                          <p:attrName>ppt_y</p:attrName>
                                        </p:attrNameLst>
                                      </p:cBhvr>
                                      <p:tavLst>
                                        <p:tav tm="0">
                                          <p:val>
                                            <p:strVal val="#ppt_y+0.04"/>
                                          </p:val>
                                        </p:tav>
                                        <p:tav tm="100000">
                                          <p:val>
                                            <p:strVal val="#ppt_y"/>
                                          </p:val>
                                        </p:tav>
                                      </p:tavLst>
                                    </p:anim>
                                  </p:childTnLst>
                                </p:cTn>
                              </p:par>
                              <p:par>
                                <p:cTn id="22" presetID="42" presetClass="entr" presetSubtype="0" fill="hold" grpId="0" nodeType="withEffect">
                                  <p:stCondLst>
                                    <p:cond delay="15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50"/>
                                        <p:tgtEl>
                                          <p:spTgt spid="12"/>
                                        </p:tgtEl>
                                      </p:cBhvr>
                                    </p:animEffect>
                                    <p:anim calcmode="lin" valueType="num">
                                      <p:cBhvr>
                                        <p:cTn id="23" dur="550" decel="100000" fill="hold"/>
                                        <p:tgtEl>
                                          <p:spTgt spid="12"/>
                                        </p:tgtEl>
                                        <p:attrNameLst>
                                          <p:attrName>ppt_x</p:attrName>
                                        </p:attrNameLst>
                                      </p:cBhvr>
                                      <p:tavLst>
                                        <p:tav tm="0">
                                          <p:val>
                                            <p:strVal val="#ppt_x"/>
                                          </p:val>
                                        </p:tav>
                                        <p:tav tm="100000">
                                          <p:val>
                                            <p:strVal val="#ppt_x"/>
                                          </p:val>
                                        </p:tav>
                                      </p:tavLst>
                                    </p:anim>
                                    <p:anim calcmode="lin" valueType="num">
                                      <p:cBhvr>
                                        <p:cTn id="24" dur="550" decel="100000" fill="hold"/>
                                        <p:tgtEl>
                                          <p:spTgt spid="12"/>
                                        </p:tgtEl>
                                        <p:attrNameLst>
                                          <p:attrName>ppt_y</p:attrName>
                                        </p:attrNameLst>
                                      </p:cBhvr>
                                      <p:tavLst>
                                        <p:tav tm="0">
                                          <p:val>
                                            <p:strVal val="#ppt_y+0.04"/>
                                          </p:val>
                                        </p:tav>
                                        <p:tav tm="100000">
                                          <p:val>
                                            <p:strVal val="#ppt_y"/>
                                          </p:val>
                                        </p:tav>
                                      </p:tavLst>
                                    </p:anim>
                                  </p:childTnLst>
                                </p:cTn>
                              </p:par>
                              <p:par>
                                <p:cTn id="27" presetID="42" presetClass="entr" presetSubtype="0" fill="hold" grpId="0" nodeType="withEffect">
                                  <p:stCondLst>
                                    <p:cond delay="15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50"/>
                                        <p:tgtEl>
                                          <p:spTgt spid="13"/>
                                        </p:tgtEl>
                                      </p:cBhvr>
                                    </p:animEffect>
                                    <p:anim calcmode="lin" valueType="num">
                                      <p:cBhvr>
                                        <p:cTn id="28" dur="550" decel="100000" fill="hold"/>
                                        <p:tgtEl>
                                          <p:spTgt spid="13"/>
                                        </p:tgtEl>
                                        <p:attrNameLst>
                                          <p:attrName>ppt_x</p:attrName>
                                        </p:attrNameLst>
                                      </p:cBhvr>
                                      <p:tavLst>
                                        <p:tav tm="0">
                                          <p:val>
                                            <p:strVal val="#ppt_x"/>
                                          </p:val>
                                        </p:tav>
                                        <p:tav tm="100000">
                                          <p:val>
                                            <p:strVal val="#ppt_x"/>
                                          </p:val>
                                        </p:tav>
                                      </p:tavLst>
                                    </p:anim>
                                    <p:anim calcmode="lin" valueType="num">
                                      <p:cBhvr>
                                        <p:cTn id="29" dur="550" decel="100000" fill="hold"/>
                                        <p:tgtEl>
                                          <p:spTgt spid="13"/>
                                        </p:tgtEl>
                                        <p:attrNameLst>
                                          <p:attrName>ppt_y</p:attrName>
                                        </p:attrNameLst>
                                      </p:cBhvr>
                                      <p:tavLst>
                                        <p:tav tm="0">
                                          <p:val>
                                            <p:strVal val="#ppt_y+0.04"/>
                                          </p:val>
                                        </p:tav>
                                        <p:tav tm="100000">
                                          <p:val>
                                            <p:strVal val="#ppt_y"/>
                                          </p:val>
                                        </p:tav>
                                      </p:tavLst>
                                    </p:anim>
                                  </p:childTnLst>
                                </p:cTn>
                              </p:par>
                              <p:par>
                                <p:cTn id="32" presetID="42" presetClass="entr" presetSubtype="0" fill="hold" grpId="0" nodeType="withEffect">
                                  <p:stCondLst>
                                    <p:cond delay="15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50"/>
                                        <p:tgtEl>
                                          <p:spTgt spid="14"/>
                                        </p:tgtEl>
                                      </p:cBhvr>
                                    </p:animEffect>
                                    <p:anim calcmode="lin" valueType="num">
                                      <p:cBhvr>
                                        <p:cTn id="33" dur="550" decel="100000" fill="hold"/>
                                        <p:tgtEl>
                                          <p:spTgt spid="14"/>
                                        </p:tgtEl>
                                        <p:attrNameLst>
                                          <p:attrName>ppt_x</p:attrName>
                                        </p:attrNameLst>
                                      </p:cBhvr>
                                      <p:tavLst>
                                        <p:tav tm="0">
                                          <p:val>
                                            <p:strVal val="#ppt_x"/>
                                          </p:val>
                                        </p:tav>
                                        <p:tav tm="100000">
                                          <p:val>
                                            <p:strVal val="#ppt_x"/>
                                          </p:val>
                                        </p:tav>
                                      </p:tavLst>
                                    </p:anim>
                                    <p:anim calcmode="lin" valueType="num">
                                      <p:cBhvr>
                                        <p:cTn id="34" dur="550" decel="100000" fill="hold"/>
                                        <p:tgtEl>
                                          <p:spTgt spid="14"/>
                                        </p:tgtEl>
                                        <p:attrNameLst>
                                          <p:attrName>ppt_y</p:attrName>
                                        </p:attrNameLst>
                                      </p:cBhvr>
                                      <p:tavLst>
                                        <p:tav tm="0">
                                          <p:val>
                                            <p:strVal val="#ppt_y+0.04"/>
                                          </p:val>
                                        </p:tav>
                                        <p:tav tm="100000">
                                          <p:val>
                                            <p:strVal val="#ppt_y"/>
                                          </p:val>
                                        </p:tav>
                                      </p:tavLst>
                                    </p:anim>
                                  </p:childTnLst>
                                </p:cTn>
                              </p:par>
                              <p:par>
                                <p:cTn id="37" presetID="42" presetClass="entr" presetSubtype="0" fill="hold" grpId="0" nodeType="withEffect">
                                  <p:stCondLst>
                                    <p:cond delay="28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50"/>
                                        <p:tgtEl>
                                          <p:spTgt spid="15"/>
                                        </p:tgtEl>
                                      </p:cBhvr>
                                    </p:animEffect>
                                    <p:anim calcmode="lin" valueType="num">
                                      <p:cBhvr>
                                        <p:cTn id="38" dur="550" decel="100000" fill="hold"/>
                                        <p:tgtEl>
                                          <p:spTgt spid="15"/>
                                        </p:tgtEl>
                                        <p:attrNameLst>
                                          <p:attrName>ppt_x</p:attrName>
                                        </p:attrNameLst>
                                      </p:cBhvr>
                                      <p:tavLst>
                                        <p:tav tm="0">
                                          <p:val>
                                            <p:strVal val="#ppt_x"/>
                                          </p:val>
                                        </p:tav>
                                        <p:tav tm="100000">
                                          <p:val>
                                            <p:strVal val="#ppt_x"/>
                                          </p:val>
                                        </p:tav>
                                      </p:tavLst>
                                    </p:anim>
                                    <p:anim calcmode="lin" valueType="num">
                                      <p:cBhvr>
                                        <p:cTn id="39" dur="550" decel="100000" fill="hold"/>
                                        <p:tgtEl>
                                          <p:spTgt spid="15"/>
                                        </p:tgtEl>
                                        <p:attrNameLst>
                                          <p:attrName>ppt_y</p:attrName>
                                        </p:attrNameLst>
                                      </p:cBhvr>
                                      <p:tavLst>
                                        <p:tav tm="0">
                                          <p:val>
                                            <p:strVal val="#ppt_y+0.04"/>
                                          </p:val>
                                        </p:tav>
                                        <p:tav tm="100000">
                                          <p:val>
                                            <p:strVal val="#ppt_y"/>
                                          </p:val>
                                        </p:tav>
                                      </p:tavLst>
                                    </p:anim>
                                  </p:childTnLst>
                                </p:cTn>
                              </p:par>
                              <p:par>
                                <p:cTn id="42" presetID="42" presetClass="entr" presetSubtype="0" fill="hold" grpId="0" nodeType="withEffect">
                                  <p:stCondLst>
                                    <p:cond delay="28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50"/>
                                        <p:tgtEl>
                                          <p:spTgt spid="16"/>
                                        </p:tgtEl>
                                      </p:cBhvr>
                                    </p:animEffect>
                                    <p:anim calcmode="lin" valueType="num">
                                      <p:cBhvr>
                                        <p:cTn id="43" dur="550" decel="100000" fill="hold"/>
                                        <p:tgtEl>
                                          <p:spTgt spid="16"/>
                                        </p:tgtEl>
                                        <p:attrNameLst>
                                          <p:attrName>ppt_x</p:attrName>
                                        </p:attrNameLst>
                                      </p:cBhvr>
                                      <p:tavLst>
                                        <p:tav tm="0">
                                          <p:val>
                                            <p:strVal val="#ppt_x"/>
                                          </p:val>
                                        </p:tav>
                                        <p:tav tm="100000">
                                          <p:val>
                                            <p:strVal val="#ppt_x"/>
                                          </p:val>
                                        </p:tav>
                                      </p:tavLst>
                                    </p:anim>
                                    <p:anim calcmode="lin" valueType="num">
                                      <p:cBhvr>
                                        <p:cTn id="44" dur="550" decel="100000" fill="hold"/>
                                        <p:tgtEl>
                                          <p:spTgt spid="16"/>
                                        </p:tgtEl>
                                        <p:attrNameLst>
                                          <p:attrName>ppt_y</p:attrName>
                                        </p:attrNameLst>
                                      </p:cBhvr>
                                      <p:tavLst>
                                        <p:tav tm="0">
                                          <p:val>
                                            <p:strVal val="#ppt_y+0.04"/>
                                          </p:val>
                                        </p:tav>
                                        <p:tav tm="100000">
                                          <p:val>
                                            <p:strVal val="#ppt_y"/>
                                          </p:val>
                                        </p:tav>
                                      </p:tavLst>
                                    </p:anim>
                                  </p:childTnLst>
                                </p:cTn>
                              </p:par>
                              <p:par>
                                <p:cTn id="47" presetID="42" presetClass="entr" presetSubtype="0" fill="hold" grpId="0" nodeType="withEffect">
                                  <p:stCondLst>
                                    <p:cond delay="28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50"/>
                                        <p:tgtEl>
                                          <p:spTgt spid="17"/>
                                        </p:tgtEl>
                                      </p:cBhvr>
                                    </p:animEffect>
                                    <p:anim calcmode="lin" valueType="num">
                                      <p:cBhvr>
                                        <p:cTn id="48" dur="550" decel="100000" fill="hold"/>
                                        <p:tgtEl>
                                          <p:spTgt spid="17"/>
                                        </p:tgtEl>
                                        <p:attrNameLst>
                                          <p:attrName>ppt_x</p:attrName>
                                        </p:attrNameLst>
                                      </p:cBhvr>
                                      <p:tavLst>
                                        <p:tav tm="0">
                                          <p:val>
                                            <p:strVal val="#ppt_x"/>
                                          </p:val>
                                        </p:tav>
                                        <p:tav tm="100000">
                                          <p:val>
                                            <p:strVal val="#ppt_x"/>
                                          </p:val>
                                        </p:tav>
                                      </p:tavLst>
                                    </p:anim>
                                    <p:anim calcmode="lin" valueType="num">
                                      <p:cBhvr>
                                        <p:cTn id="49" dur="550" decel="100000" fill="hold"/>
                                        <p:tgtEl>
                                          <p:spTgt spid="17"/>
                                        </p:tgtEl>
                                        <p:attrNameLst>
                                          <p:attrName>ppt_y</p:attrName>
                                        </p:attrNameLst>
                                      </p:cBhvr>
                                      <p:tavLst>
                                        <p:tav tm="0">
                                          <p:val>
                                            <p:strVal val="#ppt_y+0.04"/>
                                          </p:val>
                                        </p:tav>
                                        <p:tav tm="100000">
                                          <p:val>
                                            <p:strVal val="#ppt_y"/>
                                          </p:val>
                                        </p:tav>
                                      </p:tavLst>
                                    </p:anim>
                                  </p:childTnLst>
                                </p:cTn>
                              </p:par>
                              <p:par>
                                <p:cTn id="52" presetID="42" presetClass="entr" presetSubtype="0" fill="hold" grpId="0" nodeType="withEffect">
                                  <p:stCondLst>
                                    <p:cond delay="28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50"/>
                                        <p:tgtEl>
                                          <p:spTgt spid="18"/>
                                        </p:tgtEl>
                                      </p:cBhvr>
                                    </p:animEffect>
                                    <p:anim calcmode="lin" valueType="num">
                                      <p:cBhvr>
                                        <p:cTn id="53" dur="550" decel="100000" fill="hold"/>
                                        <p:tgtEl>
                                          <p:spTgt spid="18"/>
                                        </p:tgtEl>
                                        <p:attrNameLst>
                                          <p:attrName>ppt_x</p:attrName>
                                        </p:attrNameLst>
                                      </p:cBhvr>
                                      <p:tavLst>
                                        <p:tav tm="0">
                                          <p:val>
                                            <p:strVal val="#ppt_x"/>
                                          </p:val>
                                        </p:tav>
                                        <p:tav tm="100000">
                                          <p:val>
                                            <p:strVal val="#ppt_x"/>
                                          </p:val>
                                        </p:tav>
                                      </p:tavLst>
                                    </p:anim>
                                    <p:anim calcmode="lin" valueType="num">
                                      <p:cBhvr>
                                        <p:cTn id="54" dur="550" decel="100000" fill="hold"/>
                                        <p:tgtEl>
                                          <p:spTgt spid="18"/>
                                        </p:tgtEl>
                                        <p:attrNameLst>
                                          <p:attrName>ppt_y</p:attrName>
                                        </p:attrNameLst>
                                      </p:cBhvr>
                                      <p:tavLst>
                                        <p:tav tm="0">
                                          <p:val>
                                            <p:strVal val="#ppt_y+0.04"/>
                                          </p:val>
                                        </p:tav>
                                        <p:tav tm="100000">
                                          <p:val>
                                            <p:strVal val="#ppt_y"/>
                                          </p:val>
                                        </p:tav>
                                      </p:tavLst>
                                    </p:anim>
                                  </p:childTnLst>
                                </p:cTn>
                              </p:par>
                              <p:par>
                                <p:cTn id="57" presetID="42" presetClass="entr" presetSubtype="0" fill="hold" grpId="0" nodeType="withEffect">
                                  <p:stCondLst>
                                    <p:cond delay="28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50"/>
                                        <p:tgtEl>
                                          <p:spTgt spid="19"/>
                                        </p:tgtEl>
                                      </p:cBhvr>
                                    </p:animEffect>
                                    <p:anim calcmode="lin" valueType="num">
                                      <p:cBhvr>
                                        <p:cTn id="58" dur="550" decel="100000" fill="hold"/>
                                        <p:tgtEl>
                                          <p:spTgt spid="19"/>
                                        </p:tgtEl>
                                        <p:attrNameLst>
                                          <p:attrName>ppt_x</p:attrName>
                                        </p:attrNameLst>
                                      </p:cBhvr>
                                      <p:tavLst>
                                        <p:tav tm="0">
                                          <p:val>
                                            <p:strVal val="#ppt_x"/>
                                          </p:val>
                                        </p:tav>
                                        <p:tav tm="100000">
                                          <p:val>
                                            <p:strVal val="#ppt_x"/>
                                          </p:val>
                                        </p:tav>
                                      </p:tavLst>
                                    </p:anim>
                                    <p:anim calcmode="lin" valueType="num">
                                      <p:cBhvr>
                                        <p:cTn id="59" dur="550" decel="100000" fill="hold"/>
                                        <p:tgtEl>
                                          <p:spTgt spid="19"/>
                                        </p:tgtEl>
                                        <p:attrNameLst>
                                          <p:attrName>ppt_y</p:attrName>
                                        </p:attrNameLst>
                                      </p:cBhvr>
                                      <p:tavLst>
                                        <p:tav tm="0">
                                          <p:val>
                                            <p:strVal val="#ppt_y+0.04"/>
                                          </p:val>
                                        </p:tav>
                                        <p:tav tm="100000">
                                          <p:val>
                                            <p:strVal val="#ppt_y"/>
                                          </p:val>
                                        </p:tav>
                                      </p:tavLst>
                                    </p:anim>
                                  </p:childTnLst>
                                </p:cTn>
                              </p:par>
                              <p:par>
                                <p:cTn id="62" presetID="42" presetClass="entr" presetSubtype="0" fill="hold" grpId="0" nodeType="withEffect">
                                  <p:stCondLst>
                                    <p:cond delay="28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50"/>
                                        <p:tgtEl>
                                          <p:spTgt spid="20"/>
                                        </p:tgtEl>
                                      </p:cBhvr>
                                    </p:animEffect>
                                    <p:anim calcmode="lin" valueType="num">
                                      <p:cBhvr>
                                        <p:cTn id="63" dur="550" decel="100000" fill="hold"/>
                                        <p:tgtEl>
                                          <p:spTgt spid="20"/>
                                        </p:tgtEl>
                                        <p:attrNameLst>
                                          <p:attrName>ppt_x</p:attrName>
                                        </p:attrNameLst>
                                      </p:cBhvr>
                                      <p:tavLst>
                                        <p:tav tm="0">
                                          <p:val>
                                            <p:strVal val="#ppt_x"/>
                                          </p:val>
                                        </p:tav>
                                        <p:tav tm="100000">
                                          <p:val>
                                            <p:strVal val="#ppt_x"/>
                                          </p:val>
                                        </p:tav>
                                      </p:tavLst>
                                    </p:anim>
                                    <p:anim calcmode="lin" valueType="num">
                                      <p:cBhvr>
                                        <p:cTn id="64" dur="550" decel="100000" fill="hold"/>
                                        <p:tgtEl>
                                          <p:spTgt spid="20"/>
                                        </p:tgtEl>
                                        <p:attrNameLst>
                                          <p:attrName>ppt_y</p:attrName>
                                        </p:attrNameLst>
                                      </p:cBhvr>
                                      <p:tavLst>
                                        <p:tav tm="0">
                                          <p:val>
                                            <p:strVal val="#ppt_y+0.04"/>
                                          </p:val>
                                        </p:tav>
                                        <p:tav tm="100000">
                                          <p:val>
                                            <p:strVal val="#ppt_y"/>
                                          </p:val>
                                        </p:tav>
                                      </p:tavLst>
                                    </p:anim>
                                  </p:childTnLst>
                                </p:cTn>
                              </p:par>
                              <p:par>
                                <p:cTn id="67" presetID="42" presetClass="entr" presetSubtype="0" fill="hold" grpId="0" nodeType="withEffect">
                                  <p:stCondLst>
                                    <p:cond delay="41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50"/>
                                        <p:tgtEl>
                                          <p:spTgt spid="21"/>
                                        </p:tgtEl>
                                      </p:cBhvr>
                                    </p:animEffect>
                                    <p:anim calcmode="lin" valueType="num">
                                      <p:cBhvr>
                                        <p:cTn id="68" dur="550" decel="100000" fill="hold"/>
                                        <p:tgtEl>
                                          <p:spTgt spid="21"/>
                                        </p:tgtEl>
                                        <p:attrNameLst>
                                          <p:attrName>ppt_x</p:attrName>
                                        </p:attrNameLst>
                                      </p:cBhvr>
                                      <p:tavLst>
                                        <p:tav tm="0">
                                          <p:val>
                                            <p:strVal val="#ppt_x"/>
                                          </p:val>
                                        </p:tav>
                                        <p:tav tm="100000">
                                          <p:val>
                                            <p:strVal val="#ppt_x"/>
                                          </p:val>
                                        </p:tav>
                                      </p:tavLst>
                                    </p:anim>
                                    <p:anim calcmode="lin" valueType="num">
                                      <p:cBhvr>
                                        <p:cTn id="69" dur="550" decel="100000" fill="hold"/>
                                        <p:tgtEl>
                                          <p:spTgt spid="21"/>
                                        </p:tgtEl>
                                        <p:attrNameLst>
                                          <p:attrName>ppt_y</p:attrName>
                                        </p:attrNameLst>
                                      </p:cBhvr>
                                      <p:tavLst>
                                        <p:tav tm="0">
                                          <p:val>
                                            <p:strVal val="#ppt_y+0.04"/>
                                          </p:val>
                                        </p:tav>
                                        <p:tav tm="100000">
                                          <p:val>
                                            <p:strVal val="#ppt_y"/>
                                          </p:val>
                                        </p:tav>
                                      </p:tavLst>
                                    </p:anim>
                                  </p:childTnLst>
                                </p:cTn>
                              </p:par>
                              <p:par>
                                <p:cTn id="72" presetID="42" presetClass="entr" presetSubtype="0" fill="hold" grpId="0" nodeType="withEffect">
                                  <p:stCondLst>
                                    <p:cond delay="41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50"/>
                                        <p:tgtEl>
                                          <p:spTgt spid="22"/>
                                        </p:tgtEl>
                                      </p:cBhvr>
                                    </p:animEffect>
                                    <p:anim calcmode="lin" valueType="num">
                                      <p:cBhvr>
                                        <p:cTn id="73" dur="550" decel="100000" fill="hold"/>
                                        <p:tgtEl>
                                          <p:spTgt spid="22"/>
                                        </p:tgtEl>
                                        <p:attrNameLst>
                                          <p:attrName>ppt_x</p:attrName>
                                        </p:attrNameLst>
                                      </p:cBhvr>
                                      <p:tavLst>
                                        <p:tav tm="0">
                                          <p:val>
                                            <p:strVal val="#ppt_x"/>
                                          </p:val>
                                        </p:tav>
                                        <p:tav tm="100000">
                                          <p:val>
                                            <p:strVal val="#ppt_x"/>
                                          </p:val>
                                        </p:tav>
                                      </p:tavLst>
                                    </p:anim>
                                    <p:anim calcmode="lin" valueType="num">
                                      <p:cBhvr>
                                        <p:cTn id="74" dur="550" decel="100000" fill="hold"/>
                                        <p:tgtEl>
                                          <p:spTgt spid="22"/>
                                        </p:tgtEl>
                                        <p:attrNameLst>
                                          <p:attrName>ppt_y</p:attrName>
                                        </p:attrNameLst>
                                      </p:cBhvr>
                                      <p:tavLst>
                                        <p:tav tm="0">
                                          <p:val>
                                            <p:strVal val="#ppt_y+0.04"/>
                                          </p:val>
                                        </p:tav>
                                        <p:tav tm="100000">
                                          <p:val>
                                            <p:strVal val="#ppt_y"/>
                                          </p:val>
                                        </p:tav>
                                      </p:tavLst>
                                    </p:anim>
                                  </p:childTnLst>
                                </p:cTn>
                              </p:par>
                              <p:par>
                                <p:cTn id="77" presetID="42" presetClass="entr" presetSubtype="0" fill="hold" grpId="0" nodeType="withEffect">
                                  <p:stCondLst>
                                    <p:cond delay="41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550"/>
                                        <p:tgtEl>
                                          <p:spTgt spid="23"/>
                                        </p:tgtEl>
                                      </p:cBhvr>
                                    </p:animEffect>
                                    <p:anim calcmode="lin" valueType="num">
                                      <p:cBhvr>
                                        <p:cTn id="78" dur="550" decel="100000" fill="hold"/>
                                        <p:tgtEl>
                                          <p:spTgt spid="23"/>
                                        </p:tgtEl>
                                        <p:attrNameLst>
                                          <p:attrName>ppt_x</p:attrName>
                                        </p:attrNameLst>
                                      </p:cBhvr>
                                      <p:tavLst>
                                        <p:tav tm="0">
                                          <p:val>
                                            <p:strVal val="#ppt_x"/>
                                          </p:val>
                                        </p:tav>
                                        <p:tav tm="100000">
                                          <p:val>
                                            <p:strVal val="#ppt_x"/>
                                          </p:val>
                                        </p:tav>
                                      </p:tavLst>
                                    </p:anim>
                                    <p:anim calcmode="lin" valueType="num">
                                      <p:cBhvr>
                                        <p:cTn id="79" dur="550" decel="100000" fill="hold"/>
                                        <p:tgtEl>
                                          <p:spTgt spid="23"/>
                                        </p:tgtEl>
                                        <p:attrNameLst>
                                          <p:attrName>ppt_y</p:attrName>
                                        </p:attrNameLst>
                                      </p:cBhvr>
                                      <p:tavLst>
                                        <p:tav tm="0">
                                          <p:val>
                                            <p:strVal val="#ppt_y+0.04"/>
                                          </p:val>
                                        </p:tav>
                                        <p:tav tm="100000">
                                          <p:val>
                                            <p:strVal val="#ppt_y"/>
                                          </p:val>
                                        </p:tav>
                                      </p:tavLst>
                                    </p:anim>
                                  </p:childTnLst>
                                </p:cTn>
                              </p:par>
                              <p:par>
                                <p:cTn id="82" presetID="42" presetClass="entr" presetSubtype="0" fill="hold" grpId="0" nodeType="withEffect">
                                  <p:stCondLst>
                                    <p:cond delay="410"/>
                                  </p:stCondLst>
                                  <p:childTnLst>
                                    <p:set>
                                      <p:cBhvr>
                                        <p:cTn id="80" dur="1" fill="hold">
                                          <p:stCondLst>
                                            <p:cond delay="0"/>
                                          </p:stCondLst>
                                        </p:cTn>
                                        <p:tgtEl>
                                          <p:spTgt spid="24"/>
                                        </p:tgtEl>
                                        <p:attrNameLst>
                                          <p:attrName>style.visibility</p:attrName>
                                        </p:attrNameLst>
                                      </p:cBhvr>
                                      <p:to>
                                        <p:strVal val="visible"/>
                                      </p:to>
                                    </p:set>
                                    <p:animEffect transition="in" filter="fade">
                                      <p:cBhvr>
                                        <p:cTn id="81" dur="550"/>
                                        <p:tgtEl>
                                          <p:spTgt spid="24"/>
                                        </p:tgtEl>
                                      </p:cBhvr>
                                    </p:animEffect>
                                    <p:anim calcmode="lin" valueType="num">
                                      <p:cBhvr>
                                        <p:cTn id="83" dur="550" decel="100000" fill="hold"/>
                                        <p:tgtEl>
                                          <p:spTgt spid="24"/>
                                        </p:tgtEl>
                                        <p:attrNameLst>
                                          <p:attrName>ppt_x</p:attrName>
                                        </p:attrNameLst>
                                      </p:cBhvr>
                                      <p:tavLst>
                                        <p:tav tm="0">
                                          <p:val>
                                            <p:strVal val="#ppt_x"/>
                                          </p:val>
                                        </p:tav>
                                        <p:tav tm="100000">
                                          <p:val>
                                            <p:strVal val="#ppt_x"/>
                                          </p:val>
                                        </p:tav>
                                      </p:tavLst>
                                    </p:anim>
                                    <p:anim calcmode="lin" valueType="num">
                                      <p:cBhvr>
                                        <p:cTn id="84" dur="550" decel="100000" fill="hold"/>
                                        <p:tgtEl>
                                          <p:spTgt spid="24"/>
                                        </p:tgtEl>
                                        <p:attrNameLst>
                                          <p:attrName>ppt_y</p:attrName>
                                        </p:attrNameLst>
                                      </p:cBhvr>
                                      <p:tavLst>
                                        <p:tav tm="0">
                                          <p:val>
                                            <p:strVal val="#ppt_y+0.04"/>
                                          </p:val>
                                        </p:tav>
                                        <p:tav tm="100000">
                                          <p:val>
                                            <p:strVal val="#ppt_y"/>
                                          </p:val>
                                        </p:tav>
                                      </p:tavLst>
                                    </p:anim>
                                  </p:childTnLst>
                                </p:cTn>
                              </p:par>
                              <p:par>
                                <p:cTn id="87" presetID="42" presetClass="entr" presetSubtype="0" fill="hold" grpId="0" nodeType="withEffect">
                                  <p:stCondLst>
                                    <p:cond delay="41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550"/>
                                        <p:tgtEl>
                                          <p:spTgt spid="25"/>
                                        </p:tgtEl>
                                      </p:cBhvr>
                                    </p:animEffect>
                                    <p:anim calcmode="lin" valueType="num">
                                      <p:cBhvr>
                                        <p:cTn id="88" dur="550" decel="100000" fill="hold"/>
                                        <p:tgtEl>
                                          <p:spTgt spid="25"/>
                                        </p:tgtEl>
                                        <p:attrNameLst>
                                          <p:attrName>ppt_x</p:attrName>
                                        </p:attrNameLst>
                                      </p:cBhvr>
                                      <p:tavLst>
                                        <p:tav tm="0">
                                          <p:val>
                                            <p:strVal val="#ppt_x"/>
                                          </p:val>
                                        </p:tav>
                                        <p:tav tm="100000">
                                          <p:val>
                                            <p:strVal val="#ppt_x"/>
                                          </p:val>
                                        </p:tav>
                                      </p:tavLst>
                                    </p:anim>
                                    <p:anim calcmode="lin" valueType="num">
                                      <p:cBhvr>
                                        <p:cTn id="89" dur="550" decel="100000" fill="hold"/>
                                        <p:tgtEl>
                                          <p:spTgt spid="25"/>
                                        </p:tgtEl>
                                        <p:attrNameLst>
                                          <p:attrName>ppt_y</p:attrName>
                                        </p:attrNameLst>
                                      </p:cBhvr>
                                      <p:tavLst>
                                        <p:tav tm="0">
                                          <p:val>
                                            <p:strVal val="#ppt_y+0.04"/>
                                          </p:val>
                                        </p:tav>
                                        <p:tav tm="100000">
                                          <p:val>
                                            <p:strVal val="#ppt_y"/>
                                          </p:val>
                                        </p:tav>
                                      </p:tavLst>
                                    </p:anim>
                                  </p:childTnLst>
                                </p:cTn>
                              </p:par>
                              <p:par>
                                <p:cTn id="92" presetID="42" presetClass="entr" presetSubtype="0" fill="hold" grpId="0" nodeType="withEffect">
                                  <p:stCondLst>
                                    <p:cond delay="410"/>
                                  </p:stCondLst>
                                  <p:childTnLst>
                                    <p:set>
                                      <p:cBhvr>
                                        <p:cTn id="90" dur="1" fill="hold">
                                          <p:stCondLst>
                                            <p:cond delay="0"/>
                                          </p:stCondLst>
                                        </p:cTn>
                                        <p:tgtEl>
                                          <p:spTgt spid="26"/>
                                        </p:tgtEl>
                                        <p:attrNameLst>
                                          <p:attrName>style.visibility</p:attrName>
                                        </p:attrNameLst>
                                      </p:cBhvr>
                                      <p:to>
                                        <p:strVal val="visible"/>
                                      </p:to>
                                    </p:set>
                                    <p:animEffect transition="in" filter="fade">
                                      <p:cBhvr>
                                        <p:cTn id="91" dur="550"/>
                                        <p:tgtEl>
                                          <p:spTgt spid="26"/>
                                        </p:tgtEl>
                                      </p:cBhvr>
                                    </p:animEffect>
                                    <p:anim calcmode="lin" valueType="num">
                                      <p:cBhvr>
                                        <p:cTn id="93" dur="550" decel="100000" fill="hold"/>
                                        <p:tgtEl>
                                          <p:spTgt spid="26"/>
                                        </p:tgtEl>
                                        <p:attrNameLst>
                                          <p:attrName>ppt_x</p:attrName>
                                        </p:attrNameLst>
                                      </p:cBhvr>
                                      <p:tavLst>
                                        <p:tav tm="0">
                                          <p:val>
                                            <p:strVal val="#ppt_x"/>
                                          </p:val>
                                        </p:tav>
                                        <p:tav tm="100000">
                                          <p:val>
                                            <p:strVal val="#ppt_x"/>
                                          </p:val>
                                        </p:tav>
                                      </p:tavLst>
                                    </p:anim>
                                    <p:anim calcmode="lin" valueType="num">
                                      <p:cBhvr>
                                        <p:cTn id="94" dur="550" decel="100000" fill="hold"/>
                                        <p:tgtEl>
                                          <p:spTgt spid="26"/>
                                        </p:tgtEl>
                                        <p:attrNameLst>
                                          <p:attrName>ppt_y</p:attrName>
                                        </p:attrNameLst>
                                      </p:cBhvr>
                                      <p:tavLst>
                                        <p:tav tm="0">
                                          <p:val>
                                            <p:strVal val="#ppt_y+0.04"/>
                                          </p:val>
                                        </p:tav>
                                        <p:tav tm="100000">
                                          <p:val>
                                            <p:strVal val="#ppt_y"/>
                                          </p:val>
                                        </p:tav>
                                      </p:tavLst>
                                    </p:anim>
                                  </p:childTnLst>
                                </p:cTn>
                              </p:par>
                              <p:par>
                                <p:cTn id="97" presetID="42" presetClass="entr" presetSubtype="0" fill="hold" grpId="0" nodeType="withEffect">
                                  <p:stCondLst>
                                    <p:cond delay="540"/>
                                  </p:stCondLst>
                                  <p:childTnLst>
                                    <p:set>
                                      <p:cBhvr>
                                        <p:cTn id="95" dur="1" fill="hold">
                                          <p:stCondLst>
                                            <p:cond delay="0"/>
                                          </p:stCondLst>
                                        </p:cTn>
                                        <p:tgtEl>
                                          <p:spTgt spid="27"/>
                                        </p:tgtEl>
                                        <p:attrNameLst>
                                          <p:attrName>style.visibility</p:attrName>
                                        </p:attrNameLst>
                                      </p:cBhvr>
                                      <p:to>
                                        <p:strVal val="visible"/>
                                      </p:to>
                                    </p:set>
                                    <p:animEffect transition="in" filter="fade">
                                      <p:cBhvr>
                                        <p:cTn id="96" dur="550"/>
                                        <p:tgtEl>
                                          <p:spTgt spid="27"/>
                                        </p:tgtEl>
                                      </p:cBhvr>
                                    </p:animEffect>
                                    <p:anim calcmode="lin" valueType="num">
                                      <p:cBhvr>
                                        <p:cTn id="98" dur="550" decel="100000" fill="hold"/>
                                        <p:tgtEl>
                                          <p:spTgt spid="27"/>
                                        </p:tgtEl>
                                        <p:attrNameLst>
                                          <p:attrName>ppt_x</p:attrName>
                                        </p:attrNameLst>
                                      </p:cBhvr>
                                      <p:tavLst>
                                        <p:tav tm="0">
                                          <p:val>
                                            <p:strVal val="#ppt_x"/>
                                          </p:val>
                                        </p:tav>
                                        <p:tav tm="100000">
                                          <p:val>
                                            <p:strVal val="#ppt_x"/>
                                          </p:val>
                                        </p:tav>
                                      </p:tavLst>
                                    </p:anim>
                                    <p:anim calcmode="lin" valueType="num">
                                      <p:cBhvr>
                                        <p:cTn id="99" dur="550" decel="100000" fill="hold"/>
                                        <p:tgtEl>
                                          <p:spTgt spid="27"/>
                                        </p:tgtEl>
                                        <p:attrNameLst>
                                          <p:attrName>ppt_y</p:attrName>
                                        </p:attrNameLst>
                                      </p:cBhvr>
                                      <p:tavLst>
                                        <p:tav tm="0">
                                          <p:val>
                                            <p:strVal val="#ppt_y+0.04"/>
                                          </p:val>
                                        </p:tav>
                                        <p:tav tm="100000">
                                          <p:val>
                                            <p:strVal val="#ppt_y"/>
                                          </p:val>
                                        </p:tav>
                                      </p:tavLst>
                                    </p:anim>
                                  </p:childTnLst>
                                </p:cTn>
                              </p:par>
                              <p:par>
                                <p:cTn id="102" presetID="42" presetClass="entr" presetSubtype="0" fill="hold" grpId="0" nodeType="withEffect">
                                  <p:stCondLst>
                                    <p:cond delay="54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550"/>
                                        <p:tgtEl>
                                          <p:spTgt spid="28"/>
                                        </p:tgtEl>
                                      </p:cBhvr>
                                    </p:animEffect>
                                    <p:anim calcmode="lin" valueType="num">
                                      <p:cBhvr>
                                        <p:cTn id="103" dur="550" decel="100000" fill="hold"/>
                                        <p:tgtEl>
                                          <p:spTgt spid="28"/>
                                        </p:tgtEl>
                                        <p:attrNameLst>
                                          <p:attrName>ppt_x</p:attrName>
                                        </p:attrNameLst>
                                      </p:cBhvr>
                                      <p:tavLst>
                                        <p:tav tm="0">
                                          <p:val>
                                            <p:strVal val="#ppt_x"/>
                                          </p:val>
                                        </p:tav>
                                        <p:tav tm="100000">
                                          <p:val>
                                            <p:strVal val="#ppt_x"/>
                                          </p:val>
                                        </p:tav>
                                      </p:tavLst>
                                    </p:anim>
                                    <p:anim calcmode="lin" valueType="num">
                                      <p:cBhvr>
                                        <p:cTn id="104" dur="550" decel="100000" fill="hold"/>
                                        <p:tgtEl>
                                          <p:spTgt spid="28"/>
                                        </p:tgtEl>
                                        <p:attrNameLst>
                                          <p:attrName>ppt_y</p:attrName>
                                        </p:attrNameLst>
                                      </p:cBhvr>
                                      <p:tavLst>
                                        <p:tav tm="0">
                                          <p:val>
                                            <p:strVal val="#ppt_y+0.04"/>
                                          </p:val>
                                        </p:tav>
                                        <p:tav tm="100000">
                                          <p:val>
                                            <p:strVal val="#ppt_y"/>
                                          </p:val>
                                        </p:tav>
                                      </p:tavLst>
                                    </p:anim>
                                  </p:childTnLst>
                                </p:cTn>
                              </p:par>
                              <p:par>
                                <p:cTn id="107" presetID="42" presetClass="entr" presetSubtype="0" fill="hold" grpId="0" nodeType="withEffect">
                                  <p:stCondLst>
                                    <p:cond delay="540"/>
                                  </p:stCondLst>
                                  <p:childTnLst>
                                    <p:set>
                                      <p:cBhvr>
                                        <p:cTn id="105" dur="1" fill="hold">
                                          <p:stCondLst>
                                            <p:cond delay="0"/>
                                          </p:stCondLst>
                                        </p:cTn>
                                        <p:tgtEl>
                                          <p:spTgt spid="29"/>
                                        </p:tgtEl>
                                        <p:attrNameLst>
                                          <p:attrName>style.visibility</p:attrName>
                                        </p:attrNameLst>
                                      </p:cBhvr>
                                      <p:to>
                                        <p:strVal val="visible"/>
                                      </p:to>
                                    </p:set>
                                    <p:animEffect transition="in" filter="fade">
                                      <p:cBhvr>
                                        <p:cTn id="106" dur="550"/>
                                        <p:tgtEl>
                                          <p:spTgt spid="29"/>
                                        </p:tgtEl>
                                      </p:cBhvr>
                                    </p:animEffect>
                                    <p:anim calcmode="lin" valueType="num">
                                      <p:cBhvr>
                                        <p:cTn id="108" dur="550" decel="100000" fill="hold"/>
                                        <p:tgtEl>
                                          <p:spTgt spid="29"/>
                                        </p:tgtEl>
                                        <p:attrNameLst>
                                          <p:attrName>ppt_x</p:attrName>
                                        </p:attrNameLst>
                                      </p:cBhvr>
                                      <p:tavLst>
                                        <p:tav tm="0">
                                          <p:val>
                                            <p:strVal val="#ppt_x"/>
                                          </p:val>
                                        </p:tav>
                                        <p:tav tm="100000">
                                          <p:val>
                                            <p:strVal val="#ppt_x"/>
                                          </p:val>
                                        </p:tav>
                                      </p:tavLst>
                                    </p:anim>
                                    <p:anim calcmode="lin" valueType="num">
                                      <p:cBhvr>
                                        <p:cTn id="109" dur="550" decel="100000" fill="hold"/>
                                        <p:tgtEl>
                                          <p:spTgt spid="29"/>
                                        </p:tgtEl>
                                        <p:attrNameLst>
                                          <p:attrName>ppt_y</p:attrName>
                                        </p:attrNameLst>
                                      </p:cBhvr>
                                      <p:tavLst>
                                        <p:tav tm="0">
                                          <p:val>
                                            <p:strVal val="#ppt_y+0.04"/>
                                          </p:val>
                                        </p:tav>
                                        <p:tav tm="100000">
                                          <p:val>
                                            <p:strVal val="#ppt_y"/>
                                          </p:val>
                                        </p:tav>
                                      </p:tavLst>
                                    </p:anim>
                                  </p:childTnLst>
                                </p:cTn>
                              </p:par>
                              <p:par>
                                <p:cTn id="112" presetID="42" presetClass="entr" presetSubtype="0" fill="hold" grpId="0" nodeType="withEffect">
                                  <p:stCondLst>
                                    <p:cond delay="540"/>
                                  </p:stCondLst>
                                  <p:childTnLst>
                                    <p:set>
                                      <p:cBhvr>
                                        <p:cTn id="110" dur="1" fill="hold">
                                          <p:stCondLst>
                                            <p:cond delay="0"/>
                                          </p:stCondLst>
                                        </p:cTn>
                                        <p:tgtEl>
                                          <p:spTgt spid="30"/>
                                        </p:tgtEl>
                                        <p:attrNameLst>
                                          <p:attrName>style.visibility</p:attrName>
                                        </p:attrNameLst>
                                      </p:cBhvr>
                                      <p:to>
                                        <p:strVal val="visible"/>
                                      </p:to>
                                    </p:set>
                                    <p:animEffect transition="in" filter="fade">
                                      <p:cBhvr>
                                        <p:cTn id="111" dur="550"/>
                                        <p:tgtEl>
                                          <p:spTgt spid="30"/>
                                        </p:tgtEl>
                                      </p:cBhvr>
                                    </p:animEffect>
                                    <p:anim calcmode="lin" valueType="num">
                                      <p:cBhvr>
                                        <p:cTn id="113" dur="550" decel="100000" fill="hold"/>
                                        <p:tgtEl>
                                          <p:spTgt spid="30"/>
                                        </p:tgtEl>
                                        <p:attrNameLst>
                                          <p:attrName>ppt_x</p:attrName>
                                        </p:attrNameLst>
                                      </p:cBhvr>
                                      <p:tavLst>
                                        <p:tav tm="0">
                                          <p:val>
                                            <p:strVal val="#ppt_x"/>
                                          </p:val>
                                        </p:tav>
                                        <p:tav tm="100000">
                                          <p:val>
                                            <p:strVal val="#ppt_x"/>
                                          </p:val>
                                        </p:tav>
                                      </p:tavLst>
                                    </p:anim>
                                    <p:anim calcmode="lin" valueType="num">
                                      <p:cBhvr>
                                        <p:cTn id="114" dur="550" decel="100000" fill="hold"/>
                                        <p:tgtEl>
                                          <p:spTgt spid="30"/>
                                        </p:tgtEl>
                                        <p:attrNameLst>
                                          <p:attrName>ppt_y</p:attrName>
                                        </p:attrNameLst>
                                      </p:cBhvr>
                                      <p:tavLst>
                                        <p:tav tm="0">
                                          <p:val>
                                            <p:strVal val="#ppt_y+0.04"/>
                                          </p:val>
                                        </p:tav>
                                        <p:tav tm="100000">
                                          <p:val>
                                            <p:strVal val="#ppt_y"/>
                                          </p:val>
                                        </p:tav>
                                      </p:tavLst>
                                    </p:anim>
                                  </p:childTnLst>
                                </p:cTn>
                              </p:par>
                              <p:par>
                                <p:cTn id="117" presetID="42" presetClass="entr" presetSubtype="0" fill="hold" grpId="0" nodeType="withEffect">
                                  <p:stCondLst>
                                    <p:cond delay="540"/>
                                  </p:stCondLst>
                                  <p:childTnLst>
                                    <p:set>
                                      <p:cBhvr>
                                        <p:cTn id="115" dur="1" fill="hold">
                                          <p:stCondLst>
                                            <p:cond delay="0"/>
                                          </p:stCondLst>
                                        </p:cTn>
                                        <p:tgtEl>
                                          <p:spTgt spid="31"/>
                                        </p:tgtEl>
                                        <p:attrNameLst>
                                          <p:attrName>style.visibility</p:attrName>
                                        </p:attrNameLst>
                                      </p:cBhvr>
                                      <p:to>
                                        <p:strVal val="visible"/>
                                      </p:to>
                                    </p:set>
                                    <p:animEffect transition="in" filter="fade">
                                      <p:cBhvr>
                                        <p:cTn id="116" dur="550"/>
                                        <p:tgtEl>
                                          <p:spTgt spid="31"/>
                                        </p:tgtEl>
                                      </p:cBhvr>
                                    </p:animEffect>
                                    <p:anim calcmode="lin" valueType="num">
                                      <p:cBhvr>
                                        <p:cTn id="118" dur="550" decel="100000" fill="hold"/>
                                        <p:tgtEl>
                                          <p:spTgt spid="31"/>
                                        </p:tgtEl>
                                        <p:attrNameLst>
                                          <p:attrName>ppt_x</p:attrName>
                                        </p:attrNameLst>
                                      </p:cBhvr>
                                      <p:tavLst>
                                        <p:tav tm="0">
                                          <p:val>
                                            <p:strVal val="#ppt_x"/>
                                          </p:val>
                                        </p:tav>
                                        <p:tav tm="100000">
                                          <p:val>
                                            <p:strVal val="#ppt_x"/>
                                          </p:val>
                                        </p:tav>
                                      </p:tavLst>
                                    </p:anim>
                                    <p:anim calcmode="lin" valueType="num">
                                      <p:cBhvr>
                                        <p:cTn id="119" dur="550" decel="100000" fill="hold"/>
                                        <p:tgtEl>
                                          <p:spTgt spid="31"/>
                                        </p:tgtEl>
                                        <p:attrNameLst>
                                          <p:attrName>ppt_y</p:attrName>
                                        </p:attrNameLst>
                                      </p:cBhvr>
                                      <p:tavLst>
                                        <p:tav tm="0">
                                          <p:val>
                                            <p:strVal val="#ppt_y+0.04"/>
                                          </p:val>
                                        </p:tav>
                                        <p:tav tm="100000">
                                          <p:val>
                                            <p:strVal val="#ppt_y"/>
                                          </p:val>
                                        </p:tav>
                                      </p:tavLst>
                                    </p:anim>
                                  </p:childTnLst>
                                </p:cTn>
                              </p:par>
                              <p:par>
                                <p:cTn id="122" presetID="42" presetClass="entr" presetSubtype="0" fill="hold" grpId="0" nodeType="withEffect">
                                  <p:stCondLst>
                                    <p:cond delay="540"/>
                                  </p:stCondLst>
                                  <p:childTnLst>
                                    <p:set>
                                      <p:cBhvr>
                                        <p:cTn id="120" dur="1" fill="hold">
                                          <p:stCondLst>
                                            <p:cond delay="0"/>
                                          </p:stCondLst>
                                        </p:cTn>
                                        <p:tgtEl>
                                          <p:spTgt spid="32"/>
                                        </p:tgtEl>
                                        <p:attrNameLst>
                                          <p:attrName>style.visibility</p:attrName>
                                        </p:attrNameLst>
                                      </p:cBhvr>
                                      <p:to>
                                        <p:strVal val="visible"/>
                                      </p:to>
                                    </p:set>
                                    <p:animEffect transition="in" filter="fade">
                                      <p:cBhvr>
                                        <p:cTn id="121" dur="550"/>
                                        <p:tgtEl>
                                          <p:spTgt spid="32"/>
                                        </p:tgtEl>
                                      </p:cBhvr>
                                    </p:animEffect>
                                    <p:anim calcmode="lin" valueType="num">
                                      <p:cBhvr>
                                        <p:cTn id="123" dur="550" decel="100000" fill="hold"/>
                                        <p:tgtEl>
                                          <p:spTgt spid="32"/>
                                        </p:tgtEl>
                                        <p:attrNameLst>
                                          <p:attrName>ppt_x</p:attrName>
                                        </p:attrNameLst>
                                      </p:cBhvr>
                                      <p:tavLst>
                                        <p:tav tm="0">
                                          <p:val>
                                            <p:strVal val="#ppt_x"/>
                                          </p:val>
                                        </p:tav>
                                        <p:tav tm="100000">
                                          <p:val>
                                            <p:strVal val="#ppt_x"/>
                                          </p:val>
                                        </p:tav>
                                      </p:tavLst>
                                    </p:anim>
                                    <p:anim calcmode="lin" valueType="num">
                                      <p:cBhvr>
                                        <p:cTn id="124" dur="550" decel="100000" fill="hold"/>
                                        <p:tgtEl>
                                          <p:spTgt spid="32"/>
                                        </p:tgtEl>
                                        <p:attrNameLst>
                                          <p:attrName>ppt_y</p:attrName>
                                        </p:attrNameLst>
                                      </p:cBhvr>
                                      <p:tavLst>
                                        <p:tav tm="0">
                                          <p:val>
                                            <p:strVal val="#ppt_y+0.04"/>
                                          </p:val>
                                        </p:tav>
                                        <p:tav tm="100000">
                                          <p:val>
                                            <p:strVal val="#ppt_y"/>
                                          </p:val>
                                        </p:tav>
                                      </p:tavLst>
                                    </p:anim>
                                  </p:childTnLst>
                                </p:cTn>
                              </p:par>
                              <p:par>
                                <p:cTn id="127" presetID="42" presetClass="entr" presetSubtype="0" fill="hold" grpId="0" nodeType="withEffect">
                                  <p:stCondLst>
                                    <p:cond delay="67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anim calcmode="lin" valueType="num">
                                      <p:cBhvr>
                                        <p:cTn id="128" dur="550" decel="100000" fill="hold"/>
                                        <p:tgtEl>
                                          <p:spTgt spid="33"/>
                                        </p:tgtEl>
                                        <p:attrNameLst>
                                          <p:attrName>ppt_x</p:attrName>
                                        </p:attrNameLst>
                                      </p:cBhvr>
                                      <p:tavLst>
                                        <p:tav tm="0">
                                          <p:val>
                                            <p:strVal val="#ppt_x"/>
                                          </p:val>
                                        </p:tav>
                                        <p:tav tm="100000">
                                          <p:val>
                                            <p:strVal val="#ppt_x"/>
                                          </p:val>
                                        </p:tav>
                                      </p:tavLst>
                                    </p:anim>
                                    <p:anim calcmode="lin" valueType="num">
                                      <p:cBhvr>
                                        <p:cTn id="129" dur="550" decel="100000" fill="hold"/>
                                        <p:tgtEl>
                                          <p:spTgt spid="33"/>
                                        </p:tgtEl>
                                        <p:attrNameLst>
                                          <p:attrName>ppt_y</p:attrName>
                                        </p:attrNameLst>
                                      </p:cBhvr>
                                      <p:tavLst>
                                        <p:tav tm="0">
                                          <p:val>
                                            <p:strVal val="#ppt_y+0.04"/>
                                          </p:val>
                                        </p:tav>
                                        <p:tav tm="100000">
                                          <p:val>
                                            <p:strVal val="#ppt_y"/>
                                          </p:val>
                                        </p:tav>
                                      </p:tavLst>
                                    </p:anim>
                                  </p:childTnLst>
                                </p:cTn>
                              </p:par>
                              <p:par>
                                <p:cTn id="132" presetID="42" presetClass="entr" presetSubtype="0" fill="hold" grpId="0" nodeType="withEffect">
                                  <p:stCondLst>
                                    <p:cond delay="670"/>
                                  </p:stCondLst>
                                  <p:childTnLst>
                                    <p:set>
                                      <p:cBhvr>
                                        <p:cTn id="130" dur="1" fill="hold">
                                          <p:stCondLst>
                                            <p:cond delay="0"/>
                                          </p:stCondLst>
                                        </p:cTn>
                                        <p:tgtEl>
                                          <p:spTgt spid="34"/>
                                        </p:tgtEl>
                                        <p:attrNameLst>
                                          <p:attrName>style.visibility</p:attrName>
                                        </p:attrNameLst>
                                      </p:cBhvr>
                                      <p:to>
                                        <p:strVal val="visible"/>
                                      </p:to>
                                    </p:set>
                                    <p:animEffect transition="in" filter="fade">
                                      <p:cBhvr>
                                        <p:cTn id="131" dur="550"/>
                                        <p:tgtEl>
                                          <p:spTgt spid="34"/>
                                        </p:tgtEl>
                                      </p:cBhvr>
                                    </p:animEffect>
                                    <p:anim calcmode="lin" valueType="num">
                                      <p:cBhvr>
                                        <p:cTn id="133" dur="550" decel="100000" fill="hold"/>
                                        <p:tgtEl>
                                          <p:spTgt spid="34"/>
                                        </p:tgtEl>
                                        <p:attrNameLst>
                                          <p:attrName>ppt_x</p:attrName>
                                        </p:attrNameLst>
                                      </p:cBhvr>
                                      <p:tavLst>
                                        <p:tav tm="0">
                                          <p:val>
                                            <p:strVal val="#ppt_x"/>
                                          </p:val>
                                        </p:tav>
                                        <p:tav tm="100000">
                                          <p:val>
                                            <p:strVal val="#ppt_x"/>
                                          </p:val>
                                        </p:tav>
                                      </p:tavLst>
                                    </p:anim>
                                    <p:anim calcmode="lin" valueType="num">
                                      <p:cBhvr>
                                        <p:cTn id="134" dur="550" decel="100000" fill="hold"/>
                                        <p:tgtEl>
                                          <p:spTgt spid="34"/>
                                        </p:tgtEl>
                                        <p:attrNameLst>
                                          <p:attrName>ppt_y</p:attrName>
                                        </p:attrNameLst>
                                      </p:cBhvr>
                                      <p:tavLst>
                                        <p:tav tm="0">
                                          <p:val>
                                            <p:strVal val="#ppt_y+0.04"/>
                                          </p:val>
                                        </p:tav>
                                        <p:tav tm="100000">
                                          <p:val>
                                            <p:strVal val="#ppt_y"/>
                                          </p:val>
                                        </p:tav>
                                      </p:tavLst>
                                    </p:anim>
                                  </p:childTnLst>
                                </p:cTn>
                              </p:par>
                              <p:par>
                                <p:cTn id="137" presetID="42" presetClass="entr" presetSubtype="0" fill="hold" grpId="0" nodeType="withEffect">
                                  <p:stCondLst>
                                    <p:cond delay="670"/>
                                  </p:stCondLst>
                                  <p:childTnLst>
                                    <p:set>
                                      <p:cBhvr>
                                        <p:cTn id="135" dur="1" fill="hold">
                                          <p:stCondLst>
                                            <p:cond delay="0"/>
                                          </p:stCondLst>
                                        </p:cTn>
                                        <p:tgtEl>
                                          <p:spTgt spid="35"/>
                                        </p:tgtEl>
                                        <p:attrNameLst>
                                          <p:attrName>style.visibility</p:attrName>
                                        </p:attrNameLst>
                                      </p:cBhvr>
                                      <p:to>
                                        <p:strVal val="visible"/>
                                      </p:to>
                                    </p:set>
                                    <p:animEffect transition="in" filter="fade">
                                      <p:cBhvr>
                                        <p:cTn id="136" dur="550"/>
                                        <p:tgtEl>
                                          <p:spTgt spid="35"/>
                                        </p:tgtEl>
                                      </p:cBhvr>
                                    </p:animEffect>
                                    <p:anim calcmode="lin" valueType="num">
                                      <p:cBhvr>
                                        <p:cTn id="138" dur="550" decel="100000" fill="hold"/>
                                        <p:tgtEl>
                                          <p:spTgt spid="35"/>
                                        </p:tgtEl>
                                        <p:attrNameLst>
                                          <p:attrName>ppt_x</p:attrName>
                                        </p:attrNameLst>
                                      </p:cBhvr>
                                      <p:tavLst>
                                        <p:tav tm="0">
                                          <p:val>
                                            <p:strVal val="#ppt_x"/>
                                          </p:val>
                                        </p:tav>
                                        <p:tav tm="100000">
                                          <p:val>
                                            <p:strVal val="#ppt_x"/>
                                          </p:val>
                                        </p:tav>
                                      </p:tavLst>
                                    </p:anim>
                                    <p:anim calcmode="lin" valueType="num">
                                      <p:cBhvr>
                                        <p:cTn id="139" dur="550" decel="100000" fill="hold"/>
                                        <p:tgtEl>
                                          <p:spTgt spid="35"/>
                                        </p:tgtEl>
                                        <p:attrNameLst>
                                          <p:attrName>ppt_y</p:attrName>
                                        </p:attrNameLst>
                                      </p:cBhvr>
                                      <p:tavLst>
                                        <p:tav tm="0">
                                          <p:val>
                                            <p:strVal val="#ppt_y+0.04"/>
                                          </p:val>
                                        </p:tav>
                                        <p:tav tm="100000">
                                          <p:val>
                                            <p:strVal val="#ppt_y"/>
                                          </p:val>
                                        </p:tav>
                                      </p:tavLst>
                                    </p:anim>
                                  </p:childTnLst>
                                </p:cTn>
                              </p:par>
                              <p:par>
                                <p:cTn id="142" presetID="42" presetClass="entr" presetSubtype="0" fill="hold" grpId="0" nodeType="withEffect">
                                  <p:stCondLst>
                                    <p:cond delay="670"/>
                                  </p:stCondLst>
                                  <p:childTnLst>
                                    <p:set>
                                      <p:cBhvr>
                                        <p:cTn id="140" dur="1" fill="hold">
                                          <p:stCondLst>
                                            <p:cond delay="0"/>
                                          </p:stCondLst>
                                        </p:cTn>
                                        <p:tgtEl>
                                          <p:spTgt spid="36"/>
                                        </p:tgtEl>
                                        <p:attrNameLst>
                                          <p:attrName>style.visibility</p:attrName>
                                        </p:attrNameLst>
                                      </p:cBhvr>
                                      <p:to>
                                        <p:strVal val="visible"/>
                                      </p:to>
                                    </p:set>
                                    <p:animEffect transition="in" filter="fade">
                                      <p:cBhvr>
                                        <p:cTn id="141" dur="550"/>
                                        <p:tgtEl>
                                          <p:spTgt spid="36"/>
                                        </p:tgtEl>
                                      </p:cBhvr>
                                    </p:animEffect>
                                    <p:anim calcmode="lin" valueType="num">
                                      <p:cBhvr>
                                        <p:cTn id="143" dur="550" decel="100000" fill="hold"/>
                                        <p:tgtEl>
                                          <p:spTgt spid="36"/>
                                        </p:tgtEl>
                                        <p:attrNameLst>
                                          <p:attrName>ppt_x</p:attrName>
                                        </p:attrNameLst>
                                      </p:cBhvr>
                                      <p:tavLst>
                                        <p:tav tm="0">
                                          <p:val>
                                            <p:strVal val="#ppt_x"/>
                                          </p:val>
                                        </p:tav>
                                        <p:tav tm="100000">
                                          <p:val>
                                            <p:strVal val="#ppt_x"/>
                                          </p:val>
                                        </p:tav>
                                      </p:tavLst>
                                    </p:anim>
                                    <p:anim calcmode="lin" valueType="num">
                                      <p:cBhvr>
                                        <p:cTn id="144" dur="550" decel="100000" fill="hold"/>
                                        <p:tgtEl>
                                          <p:spTgt spid="36"/>
                                        </p:tgtEl>
                                        <p:attrNameLst>
                                          <p:attrName>ppt_y</p:attrName>
                                        </p:attrNameLst>
                                      </p:cBhvr>
                                      <p:tavLst>
                                        <p:tav tm="0">
                                          <p:val>
                                            <p:strVal val="#ppt_y+0.04"/>
                                          </p:val>
                                        </p:tav>
                                        <p:tav tm="100000">
                                          <p:val>
                                            <p:strVal val="#ppt_y"/>
                                          </p:val>
                                        </p:tav>
                                      </p:tavLst>
                                    </p:anim>
                                  </p:childTnLst>
                                </p:cTn>
                              </p:par>
                              <p:par>
                                <p:cTn id="147" presetID="42" presetClass="entr" presetSubtype="0" fill="hold" grpId="0" nodeType="withEffect">
                                  <p:stCondLst>
                                    <p:cond delay="670"/>
                                  </p:stCondLst>
                                  <p:childTnLst>
                                    <p:set>
                                      <p:cBhvr>
                                        <p:cTn id="145" dur="1" fill="hold">
                                          <p:stCondLst>
                                            <p:cond delay="0"/>
                                          </p:stCondLst>
                                        </p:cTn>
                                        <p:tgtEl>
                                          <p:spTgt spid="37"/>
                                        </p:tgtEl>
                                        <p:attrNameLst>
                                          <p:attrName>style.visibility</p:attrName>
                                        </p:attrNameLst>
                                      </p:cBhvr>
                                      <p:to>
                                        <p:strVal val="visible"/>
                                      </p:to>
                                    </p:set>
                                    <p:animEffect transition="in" filter="fade">
                                      <p:cBhvr>
                                        <p:cTn id="146" dur="550"/>
                                        <p:tgtEl>
                                          <p:spTgt spid="37"/>
                                        </p:tgtEl>
                                      </p:cBhvr>
                                    </p:animEffect>
                                    <p:anim calcmode="lin" valueType="num">
                                      <p:cBhvr>
                                        <p:cTn id="148" dur="550" decel="100000" fill="hold"/>
                                        <p:tgtEl>
                                          <p:spTgt spid="37"/>
                                        </p:tgtEl>
                                        <p:attrNameLst>
                                          <p:attrName>ppt_x</p:attrName>
                                        </p:attrNameLst>
                                      </p:cBhvr>
                                      <p:tavLst>
                                        <p:tav tm="0">
                                          <p:val>
                                            <p:strVal val="#ppt_x"/>
                                          </p:val>
                                        </p:tav>
                                        <p:tav tm="100000">
                                          <p:val>
                                            <p:strVal val="#ppt_x"/>
                                          </p:val>
                                        </p:tav>
                                      </p:tavLst>
                                    </p:anim>
                                    <p:anim calcmode="lin" valueType="num">
                                      <p:cBhvr>
                                        <p:cTn id="149" dur="550" decel="100000" fill="hold"/>
                                        <p:tgtEl>
                                          <p:spTgt spid="37"/>
                                        </p:tgtEl>
                                        <p:attrNameLst>
                                          <p:attrName>ppt_y</p:attrName>
                                        </p:attrNameLst>
                                      </p:cBhvr>
                                      <p:tavLst>
                                        <p:tav tm="0">
                                          <p:val>
                                            <p:strVal val="#ppt_y+0.04"/>
                                          </p:val>
                                        </p:tav>
                                        <p:tav tm="100000">
                                          <p:val>
                                            <p:strVal val="#ppt_y"/>
                                          </p:val>
                                        </p:tav>
                                      </p:tavLst>
                                    </p:anim>
                                  </p:childTnLst>
                                </p:cTn>
                              </p:par>
                              <p:par>
                                <p:cTn id="152" presetID="42" presetClass="entr" presetSubtype="0" fill="hold" grpId="0" nodeType="withEffect">
                                  <p:stCondLst>
                                    <p:cond delay="670"/>
                                  </p:stCondLst>
                                  <p:childTnLst>
                                    <p:set>
                                      <p:cBhvr>
                                        <p:cTn id="150" dur="1" fill="hold">
                                          <p:stCondLst>
                                            <p:cond delay="0"/>
                                          </p:stCondLst>
                                        </p:cTn>
                                        <p:tgtEl>
                                          <p:spTgt spid="38"/>
                                        </p:tgtEl>
                                        <p:attrNameLst>
                                          <p:attrName>style.visibility</p:attrName>
                                        </p:attrNameLst>
                                      </p:cBhvr>
                                      <p:to>
                                        <p:strVal val="visible"/>
                                      </p:to>
                                    </p:set>
                                    <p:animEffect transition="in" filter="fade">
                                      <p:cBhvr>
                                        <p:cTn id="151" dur="550"/>
                                        <p:tgtEl>
                                          <p:spTgt spid="38"/>
                                        </p:tgtEl>
                                      </p:cBhvr>
                                    </p:animEffect>
                                    <p:anim calcmode="lin" valueType="num">
                                      <p:cBhvr>
                                        <p:cTn id="153" dur="550" decel="100000" fill="hold"/>
                                        <p:tgtEl>
                                          <p:spTgt spid="38"/>
                                        </p:tgtEl>
                                        <p:attrNameLst>
                                          <p:attrName>ppt_x</p:attrName>
                                        </p:attrNameLst>
                                      </p:cBhvr>
                                      <p:tavLst>
                                        <p:tav tm="0">
                                          <p:val>
                                            <p:strVal val="#ppt_x"/>
                                          </p:val>
                                        </p:tav>
                                        <p:tav tm="100000">
                                          <p:val>
                                            <p:strVal val="#ppt_x"/>
                                          </p:val>
                                        </p:tav>
                                      </p:tavLst>
                                    </p:anim>
                                    <p:anim calcmode="lin" valueType="num">
                                      <p:cBhvr>
                                        <p:cTn id="154" dur="550" decel="100000" fill="hold"/>
                                        <p:tgtEl>
                                          <p:spTgt spid="38"/>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3" grpId="0" animBg="1"/>
      <p:bldP spid="24" grpId="0" animBg="1"/>
      <p:bldP spid="25" grpId="0" animBg="1"/>
      <p:bldP spid="26" grpId="0" animBg="1"/>
      <p:bldP spid="27" grpId="0" animBg="1"/>
      <p:bldP spid="29" grpId="0" animBg="1"/>
      <p:bldP spid="30" grpId="0" animBg="1"/>
      <p:bldP spid="31" grpId="0" animBg="1"/>
      <p:bldP spid="32" grpId="0" animBg="1"/>
      <p:bldP spid="33" grpId="0" animBg="1"/>
      <p:bldP spid="35" grpId="0" animBg="1"/>
      <p:bldP spid="36" grpId="0" animBg="1"/>
      <p:bldP spid="37" grpId="0" animBg="1"/>
      <p:bldP spid="38" grpId="0" animBg="1"/>
    </p:bldLst>
  </p:timing>
</p:sld>
</file>

<file path=ppt/slides/slide3.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3">
    <p:bg>
      <p:bgPr>
        <a:solidFill>
          <a:srgbClr val="0A0405"/>
        </a:solidFill>
      </p:bgPr>
    </p:bg>
    <p:spTree>
      <p:nvGrpSpPr>
        <p:cNvPr id="1" name=""/>
        <p:cNvGrpSpPr/>
        <p:nvPr/>
      </p:nvGrpSpPr>
      <p:grpSpPr>
        <a:xfrm>
          <a:off x="0" y="0"/>
          <a:ext cx="0" cy="0"/>
          <a:chOff x="0" y="0"/>
          <a:chExt cx="0" cy="0"/>
        </a:xfrm>
      </p:grpSpPr>
      <p:pic>
        <p:nvPicPr>
          <p:cNvPr id="2" name="!!bg" descr="Anopheles mosquito silhouetted against a red lamp at night">    </p:cNvPr>
          <p:cNvPicPr>
            <a:picLocks noChangeAspect="1"/>
          </p:cNvPicPr>
          <p:nvPr/>
        </p:nvPicPr>
        <p:blipFill>
          <a:blip r:embed="rId1"/>
          <a:stretch>
            <a:fillRect/>
          </a:stretch>
        </p:blipFill>
        <p:spPr>
          <a:xfrm>
            <a:off x="0" y="0"/>
            <a:ext cx="12191695" cy="6858000"/>
          </a:xfrm>
          <a:prstGeom prst="rect">
            <a:avLst/>
          </a:prstGeom>
        </p:spPr>
      </p:pic>
      <p:pic>
        <p:nvPicPr>
          <p:cNvPr id="3" name="!!shade" descr="/home/user/mdist-tracker/presentations/malaria/build/shade_L.png">    </p:cNvPr>
          <p:cNvPicPr>
            <a:picLocks noChangeAspect="1"/>
          </p:cNvPicPr>
          <p:nvPr/>
        </p:nvPicPr>
        <p:blipFill>
          <a:blip r:embed="rId2"/>
          <a:stretch>
            <a:fillRect/>
          </a:stretch>
        </p:blipFill>
        <p:spPr>
          <a:xfrm>
            <a:off x="0" y="0"/>
            <a:ext cx="12191695" cy="6858000"/>
          </a:xfrm>
          <a:prstGeom prst="rect">
            <a:avLst/>
          </a:prstGeom>
        </p:spPr>
      </p:pic>
      <p:sp>
        <p:nvSpPr>
          <p:cNvPr id="4" name="!!pill"/>
          <p:cNvSpPr/>
          <p:nvPr/>
        </p:nvSpPr>
        <p:spPr>
          <a:xfrm>
            <a:off x="548640" y="411480"/>
            <a:ext cx="2359152" cy="274320"/>
          </a:xfrm>
          <a:prstGeom prst="roundRect">
            <a:avLst>
              <a:gd name="adj" fmla="val 50000"/>
            </a:avLst>
          </a:prstGeom>
          <a:solidFill>
            <a:srgbClr val="0A0405">
              <a:alpha val="65000"/>
            </a:srgbClr>
          </a:solidFill>
          <a:ln w="9525">
            <a:solidFill>
              <a:srgbClr val="7A3038"/>
            </a:solidFill>
            <a:prstDash val="solid"/>
          </a:ln>
        </p:spPr>
      </p:sp>
      <p:sp>
        <p:nvSpPr>
          <p:cNvPr id="5" name="!!pilltext"/>
          <p:cNvSpPr txBox="1"/>
          <p:nvPr/>
        </p:nvSpPr>
        <p:spPr>
          <a:xfrm>
            <a:off x="548640" y="411480"/>
            <a:ext cx="2359152" cy="274320"/>
          </a:xfrm>
          <a:prstGeom prst="rect">
            <a:avLst/>
          </a:prstGeom>
          <a:noFill/>
          <a:ln/>
        </p:spPr>
        <p:txBody>
          <a:bodyPr wrap="square" lIns="0" tIns="0" rIns="0" bIns="0" rtlCol="0" anchor="ctr"/>
          <a:lstStyle/>
          <a:p>
            <a:pPr algn="ctr" indent="0" marL="0">
              <a:buNone/>
            </a:pPr>
            <a:r>
              <a:rPr lang="en-US" sz="1000" b="1" spc="150" kern="0" dirty="0">
                <a:solidFill>
                  <a:srgbClr val="C9B2AE"/>
                </a:solidFill>
                <a:latin typeface="Arial" pitchFamily="34" charset="0"/>
                <a:ea typeface="Arial" pitchFamily="34" charset="-122"/>
                <a:cs typeface="Arial" pitchFamily="34" charset="-120"/>
              </a:rPr>
              <a:t>01 · WHAT IS MALARIA</a:t>
            </a:r>
            <a:endParaRPr lang="en-US" sz="1000" dirty="0"/>
          </a:p>
        </p:txBody>
      </p:sp>
      <p:pic>
        <p:nvPicPr>
          <p:cNvPr id="6" name="!!title" descr="What is malaria?">    </p:cNvPr>
          <p:cNvPicPr>
            <a:picLocks noChangeAspect="1"/>
          </p:cNvPicPr>
          <p:nvPr/>
        </p:nvPicPr>
        <p:blipFill>
          <a:blip r:embed="rId3"/>
          <a:stretch>
            <a:fillRect/>
          </a:stretch>
        </p:blipFill>
        <p:spPr>
          <a:xfrm>
            <a:off x="521208" y="822960"/>
            <a:ext cx="5808166" cy="530721"/>
          </a:xfrm>
          <a:prstGeom prst="rect">
            <a:avLst/>
          </a:prstGeom>
        </p:spPr>
      </p:pic>
      <p:pic>
        <p:nvPicPr>
          <p:cNvPr id="7" name="!!crest" descr="MDIS Tashkent crest">    </p:cNvPr>
          <p:cNvPicPr>
            <a:picLocks noChangeAspect="1"/>
          </p:cNvPicPr>
          <p:nvPr/>
        </p:nvPicPr>
        <p:blipFill>
          <a:blip r:embed="rId4"/>
          <a:stretch>
            <a:fillRect/>
          </a:stretch>
        </p:blipFill>
        <p:spPr>
          <a:xfrm>
            <a:off x="11249708" y="384048"/>
            <a:ext cx="393347" cy="384048"/>
          </a:xfrm>
          <a:prstGeom prst="rect">
            <a:avLst/>
          </a:prstGeom>
        </p:spPr>
      </p:pic>
      <p:sp>
        <p:nvSpPr>
          <p:cNvPr id="8" name="Text 2"/>
          <p:cNvSpPr txBox="1"/>
          <p:nvPr/>
        </p:nvSpPr>
        <p:spPr>
          <a:xfrm>
            <a:off x="548640" y="6382512"/>
            <a:ext cx="7863840" cy="256032"/>
          </a:xfrm>
          <a:prstGeom prst="rect">
            <a:avLst/>
          </a:prstGeom>
          <a:noFill/>
          <a:ln/>
        </p:spPr>
        <p:txBody>
          <a:bodyPr wrap="square" lIns="0" tIns="0" rIns="0" bIns="0" rtlCol="0" anchor="ctr"/>
          <a:lstStyle/>
          <a:p>
            <a:pPr indent="0" marL="0">
              <a:buNone/>
            </a:pPr>
            <a:r>
              <a:rPr lang="en-US" sz="1000" dirty="0">
                <a:solidFill>
                  <a:srgbClr val="9C8380"/>
                </a:solidFill>
                <a:latin typeface="Arial" pitchFamily="34" charset="0"/>
                <a:ea typeface="Arial" pitchFamily="34" charset="-122"/>
                <a:cs typeface="Arial" pitchFamily="34" charset="-120"/>
              </a:rPr>
              <a:t>Source: World Health Organization (2025a)</a:t>
            </a:r>
            <a:endParaRPr lang="en-US" sz="1000" dirty="0"/>
          </a:p>
        </p:txBody>
      </p:sp>
      <p:sp>
        <p:nvSpPr>
          <p:cNvPr id="9" name="Text 3"/>
          <p:cNvSpPr txBox="1"/>
          <p:nvPr/>
        </p:nvSpPr>
        <p:spPr>
          <a:xfrm>
            <a:off x="7802575" y="6382512"/>
            <a:ext cx="3840480" cy="256032"/>
          </a:xfrm>
          <a:prstGeom prst="rect">
            <a:avLst/>
          </a:prstGeom>
          <a:noFill/>
          <a:ln/>
        </p:spPr>
        <p:txBody>
          <a:bodyPr wrap="square" lIns="0" tIns="0" rIns="0" bIns="0" rtlCol="0" anchor="ctr"/>
          <a:lstStyle/>
          <a:p>
            <a:pPr algn="r" indent="0" marL="0">
              <a:buNone/>
            </a:pPr>
            <a:r>
              <a:rPr lang="en-US" sz="1000" b="1" spc="100" kern="0" dirty="0">
                <a:solidFill>
                  <a:srgbClr val="C9B2AE"/>
                </a:solidFill>
                <a:latin typeface="Arial" pitchFamily="34" charset="0"/>
                <a:ea typeface="Arial" pitchFamily="34" charset="-122"/>
                <a:cs typeface="Arial" pitchFamily="34" charset="-120"/>
              </a:rPr>
              <a:t>JAVOHIR AZAMOV   ·   03 / 16</a:t>
            </a:r>
            <a:endParaRPr lang="en-US" sz="1000" dirty="0"/>
          </a:p>
        </p:txBody>
      </p:sp>
      <p:sp>
        <p:nvSpPr>
          <p:cNvPr id="10" name="fx:1:up:quote"/>
          <p:cNvSpPr/>
          <p:nvPr/>
        </p:nvSpPr>
        <p:spPr>
          <a:xfrm>
            <a:off x="548640" y="1783080"/>
            <a:ext cx="6172200" cy="1207008"/>
          </a:xfrm>
          <a:prstGeom prst="roundRect">
            <a:avLst>
              <a:gd name="adj" fmla="val 6818"/>
            </a:avLst>
          </a:prstGeom>
          <a:solidFill>
            <a:srgbClr val="1C080B">
              <a:alpha val="78000"/>
            </a:srgbClr>
          </a:solidFill>
          <a:ln w="9525">
            <a:solidFill>
              <a:srgbClr val="7A3038"/>
            </a:solidFill>
            <a:prstDash val="solid"/>
          </a:ln>
        </p:spPr>
      </p:sp>
      <p:sp>
        <p:nvSpPr>
          <p:cNvPr id="11" name="fx:1:up:quotetext"/>
          <p:cNvSpPr txBox="1"/>
          <p:nvPr/>
        </p:nvSpPr>
        <p:spPr>
          <a:xfrm>
            <a:off x="777240" y="1892808"/>
            <a:ext cx="5760720" cy="777240"/>
          </a:xfrm>
          <a:prstGeom prst="rect">
            <a:avLst/>
          </a:prstGeom>
          <a:noFill/>
          <a:ln/>
        </p:spPr>
        <p:txBody>
          <a:bodyPr wrap="square" lIns="0" tIns="0" rIns="0" bIns="0" rtlCol="0" anchor="t"/>
          <a:lstStyle/>
          <a:p>
            <a:pPr indent="0" marL="0">
              <a:buNone/>
            </a:pPr>
            <a:r>
              <a:rPr lang="en-US" sz="1400" i="1" dirty="0">
                <a:solidFill>
                  <a:srgbClr val="F4ECE8"/>
                </a:solidFill>
                <a:latin typeface="Arial" pitchFamily="34" charset="0"/>
                <a:ea typeface="Arial" pitchFamily="34" charset="-122"/>
                <a:cs typeface="Arial" pitchFamily="34" charset="-120"/>
              </a:rPr>
              <a:t>“A life-threatening disease spread to humans by some types of mosquitoes. The infection is caused by a parasite and does not spread from person to person.”</a:t>
            </a:r>
            <a:endParaRPr lang="en-US" sz="1400" dirty="0"/>
          </a:p>
        </p:txBody>
      </p:sp>
      <p:sp>
        <p:nvSpPr>
          <p:cNvPr id="12" name="fx:1:up:quotesrc"/>
          <p:cNvSpPr txBox="1"/>
          <p:nvPr/>
        </p:nvSpPr>
        <p:spPr>
          <a:xfrm>
            <a:off x="777240" y="2679192"/>
            <a:ext cx="5760720" cy="201168"/>
          </a:xfrm>
          <a:prstGeom prst="rect">
            <a:avLst/>
          </a:prstGeom>
          <a:noFill/>
          <a:ln/>
        </p:spPr>
        <p:txBody>
          <a:bodyPr wrap="square" lIns="0" tIns="0" rIns="0" bIns="0" rtlCol="0" anchor="t"/>
          <a:lstStyle/>
          <a:p>
            <a:pPr indent="0" marL="0">
              <a:buNone/>
            </a:pPr>
            <a:r>
              <a:rPr lang="en-US" sz="1000" b="1" spc="200" kern="0" dirty="0">
                <a:solidFill>
                  <a:srgbClr val="E5333D"/>
                </a:solidFill>
                <a:latin typeface="Arial" pitchFamily="34" charset="0"/>
                <a:ea typeface="Arial" pitchFamily="34" charset="-122"/>
                <a:cs typeface="Arial" pitchFamily="34" charset="-120"/>
              </a:rPr>
              <a:t>WORLD HEALTH ORGANIZATION</a:t>
            </a:r>
            <a:endParaRPr lang="en-US" sz="1000" dirty="0"/>
          </a:p>
        </p:txBody>
      </p:sp>
      <p:sp>
        <p:nvSpPr>
          <p:cNvPr id="13" name="fx:2:up:c0"/>
          <p:cNvSpPr/>
          <p:nvPr/>
        </p:nvSpPr>
        <p:spPr>
          <a:xfrm>
            <a:off x="548640" y="3200400"/>
            <a:ext cx="1938528" cy="2487168"/>
          </a:xfrm>
          <a:prstGeom prst="roundRect">
            <a:avLst>
              <a:gd name="adj" fmla="val 4245"/>
            </a:avLst>
          </a:prstGeom>
          <a:solidFill>
            <a:srgbClr val="1C080B">
              <a:alpha val="78000"/>
            </a:srgbClr>
          </a:solidFill>
          <a:ln w="9525">
            <a:solidFill>
              <a:srgbClr val="7A3038"/>
            </a:solidFill>
            <a:prstDash val="solid"/>
          </a:ln>
        </p:spPr>
      </p:sp>
      <p:sp>
        <p:nvSpPr>
          <p:cNvPr id="14" name="fx:2:up:l0"/>
          <p:cNvSpPr txBox="1"/>
          <p:nvPr/>
        </p:nvSpPr>
        <p:spPr>
          <a:xfrm>
            <a:off x="731520" y="3401568"/>
            <a:ext cx="1572768" cy="219456"/>
          </a:xfrm>
          <a:prstGeom prst="rect">
            <a:avLst/>
          </a:prstGeom>
          <a:noFill/>
          <a:ln/>
        </p:spPr>
        <p:txBody>
          <a:bodyPr wrap="square" lIns="0" tIns="0" rIns="0" bIns="0" rtlCol="0" anchor="t"/>
          <a:lstStyle/>
          <a:p>
            <a:pPr indent="0" marL="0">
              <a:buNone/>
            </a:pPr>
            <a:r>
              <a:rPr lang="en-US" sz="1000" b="1" spc="200" kern="0" dirty="0">
                <a:solidFill>
                  <a:srgbClr val="E5333D"/>
                </a:solidFill>
                <a:latin typeface="Arial" pitchFamily="34" charset="0"/>
                <a:ea typeface="Arial" pitchFamily="34" charset="-122"/>
                <a:cs typeface="Arial" pitchFamily="34" charset="-120"/>
              </a:rPr>
              <a:t>CAUSE</a:t>
            </a:r>
            <a:endParaRPr lang="en-US" sz="1000" dirty="0"/>
          </a:p>
        </p:txBody>
      </p:sp>
      <p:sp>
        <p:nvSpPr>
          <p:cNvPr id="15" name="fx:2:up:h0"/>
          <p:cNvSpPr txBox="1"/>
          <p:nvPr/>
        </p:nvSpPr>
        <p:spPr>
          <a:xfrm>
            <a:off x="731520" y="3657600"/>
            <a:ext cx="1572768" cy="640080"/>
          </a:xfrm>
          <a:prstGeom prst="rect">
            <a:avLst/>
          </a:prstGeom>
          <a:noFill/>
          <a:ln/>
        </p:spPr>
        <p:txBody>
          <a:bodyPr wrap="square" lIns="0" tIns="0" rIns="0" bIns="0" rtlCol="0" anchor="t"/>
          <a:lstStyle/>
          <a:p>
            <a:pPr indent="0" marL="0">
              <a:buNone/>
            </a:pPr>
            <a:r>
              <a:rPr lang="en-US" sz="1800" b="1" dirty="0">
                <a:solidFill>
                  <a:srgbClr val="F4ECE8"/>
                </a:solidFill>
                <a:latin typeface="Arial" pitchFamily="34" charset="0"/>
                <a:ea typeface="Arial" pitchFamily="34" charset="-122"/>
                <a:cs typeface="Arial" pitchFamily="34" charset="-120"/>
              </a:rPr>
              <a:t>A parasite</a:t>
            </a:r>
            <a:endParaRPr lang="en-US" sz="1800" dirty="0"/>
          </a:p>
        </p:txBody>
      </p:sp>
      <p:sp>
        <p:nvSpPr>
          <p:cNvPr id="16" name="fx:2:up:b0"/>
          <p:cNvSpPr txBox="1"/>
          <p:nvPr/>
        </p:nvSpPr>
        <p:spPr>
          <a:xfrm>
            <a:off x="731520" y="4343400"/>
            <a:ext cx="1572768" cy="1234440"/>
          </a:xfrm>
          <a:prstGeom prst="rect">
            <a:avLst/>
          </a:prstGeom>
          <a:noFill/>
          <a:ln/>
        </p:spPr>
        <p:txBody>
          <a:bodyPr wrap="square" lIns="0" tIns="0" rIns="0" bIns="0" rtlCol="0" anchor="t"/>
          <a:lstStyle/>
          <a:p>
            <a:pPr indent="0" marL="0">
              <a:buNone/>
            </a:pPr>
            <a:r>
              <a:rPr lang="en-US" sz="1200" dirty="0">
                <a:solidFill>
                  <a:srgbClr val="C9B2AE"/>
                </a:solidFill>
                <a:latin typeface="Arial" pitchFamily="34" charset="0"/>
                <a:ea typeface="Arial" pitchFamily="34" charset="-122"/>
                <a:cs typeface="Arial" pitchFamily="34" charset="-120"/>
              </a:rPr>
              <a:t>Plasmodium, a single-celled organism. Not a virus, not a bacterium.</a:t>
            </a:r>
            <a:endParaRPr lang="en-US" sz="1200" dirty="0"/>
          </a:p>
        </p:txBody>
      </p:sp>
      <p:sp>
        <p:nvSpPr>
          <p:cNvPr id="17" name="fx:3:up:c1"/>
          <p:cNvSpPr/>
          <p:nvPr/>
        </p:nvSpPr>
        <p:spPr>
          <a:xfrm>
            <a:off x="2660904" y="3200400"/>
            <a:ext cx="1938528" cy="2487168"/>
          </a:xfrm>
          <a:prstGeom prst="roundRect">
            <a:avLst>
              <a:gd name="adj" fmla="val 4245"/>
            </a:avLst>
          </a:prstGeom>
          <a:solidFill>
            <a:srgbClr val="1C080B">
              <a:alpha val="78000"/>
            </a:srgbClr>
          </a:solidFill>
          <a:ln w="9525">
            <a:solidFill>
              <a:srgbClr val="7A3038"/>
            </a:solidFill>
            <a:prstDash val="solid"/>
          </a:ln>
        </p:spPr>
      </p:sp>
      <p:sp>
        <p:nvSpPr>
          <p:cNvPr id="18" name="fx:3:up:l1"/>
          <p:cNvSpPr txBox="1"/>
          <p:nvPr/>
        </p:nvSpPr>
        <p:spPr>
          <a:xfrm>
            <a:off x="2843784" y="3401568"/>
            <a:ext cx="1572768" cy="219456"/>
          </a:xfrm>
          <a:prstGeom prst="rect">
            <a:avLst/>
          </a:prstGeom>
          <a:noFill/>
          <a:ln/>
        </p:spPr>
        <p:txBody>
          <a:bodyPr wrap="square" lIns="0" tIns="0" rIns="0" bIns="0" rtlCol="0" anchor="t"/>
          <a:lstStyle/>
          <a:p>
            <a:pPr indent="0" marL="0">
              <a:buNone/>
            </a:pPr>
            <a:r>
              <a:rPr lang="en-US" sz="1000" b="1" spc="200" kern="0" dirty="0">
                <a:solidFill>
                  <a:srgbClr val="E5333D"/>
                </a:solidFill>
                <a:latin typeface="Arial" pitchFamily="34" charset="0"/>
                <a:ea typeface="Arial" pitchFamily="34" charset="-122"/>
                <a:cs typeface="Arial" pitchFamily="34" charset="-120"/>
              </a:rPr>
              <a:t>CARRIER</a:t>
            </a:r>
            <a:endParaRPr lang="en-US" sz="1000" dirty="0"/>
          </a:p>
        </p:txBody>
      </p:sp>
      <p:sp>
        <p:nvSpPr>
          <p:cNvPr id="19" name="fx:3:up:h1"/>
          <p:cNvSpPr txBox="1"/>
          <p:nvPr/>
        </p:nvSpPr>
        <p:spPr>
          <a:xfrm>
            <a:off x="2843784" y="3657600"/>
            <a:ext cx="1572768" cy="640080"/>
          </a:xfrm>
          <a:prstGeom prst="rect">
            <a:avLst/>
          </a:prstGeom>
          <a:noFill/>
          <a:ln/>
        </p:spPr>
        <p:txBody>
          <a:bodyPr wrap="square" lIns="0" tIns="0" rIns="0" bIns="0" rtlCol="0" anchor="t"/>
          <a:lstStyle/>
          <a:p>
            <a:pPr indent="0" marL="0">
              <a:buNone/>
            </a:pPr>
            <a:r>
              <a:rPr lang="en-US" sz="1800" b="1" dirty="0">
                <a:solidFill>
                  <a:srgbClr val="F4ECE8"/>
                </a:solidFill>
                <a:latin typeface="Arial" pitchFamily="34" charset="0"/>
                <a:ea typeface="Arial" pitchFamily="34" charset="-122"/>
                <a:cs typeface="Arial" pitchFamily="34" charset="-120"/>
              </a:rPr>
              <a:t>Female Anopheles</a:t>
            </a:r>
            <a:endParaRPr lang="en-US" sz="1800" dirty="0"/>
          </a:p>
        </p:txBody>
      </p:sp>
      <p:sp>
        <p:nvSpPr>
          <p:cNvPr id="20" name="fx:3:up:b1"/>
          <p:cNvSpPr txBox="1"/>
          <p:nvPr/>
        </p:nvSpPr>
        <p:spPr>
          <a:xfrm>
            <a:off x="2843784" y="4343400"/>
            <a:ext cx="1572768" cy="1234440"/>
          </a:xfrm>
          <a:prstGeom prst="rect">
            <a:avLst/>
          </a:prstGeom>
          <a:noFill/>
          <a:ln/>
        </p:spPr>
        <p:txBody>
          <a:bodyPr wrap="square" lIns="0" tIns="0" rIns="0" bIns="0" rtlCol="0" anchor="t"/>
          <a:lstStyle/>
          <a:p>
            <a:pPr indent="0" marL="0">
              <a:buNone/>
            </a:pPr>
            <a:r>
              <a:rPr lang="en-US" sz="1200" dirty="0">
                <a:solidFill>
                  <a:srgbClr val="C9B2AE"/>
                </a:solidFill>
                <a:latin typeface="Arial" pitchFamily="34" charset="0"/>
                <a:ea typeface="Arial" pitchFamily="34" charset="-122"/>
                <a:cs typeface="Arial" pitchFamily="34" charset="-120"/>
              </a:rPr>
              <a:t>The mosquito bites mostly at night. Parasites go to the liver, then to red blood cells.</a:t>
            </a:r>
            <a:endParaRPr lang="en-US" sz="1200" dirty="0"/>
          </a:p>
        </p:txBody>
      </p:sp>
      <p:sp>
        <p:nvSpPr>
          <p:cNvPr id="21" name="fx:4:up:c2"/>
          <p:cNvSpPr/>
          <p:nvPr/>
        </p:nvSpPr>
        <p:spPr>
          <a:xfrm>
            <a:off x="4773168" y="3200400"/>
            <a:ext cx="1938528" cy="2487168"/>
          </a:xfrm>
          <a:prstGeom prst="roundRect">
            <a:avLst>
              <a:gd name="adj" fmla="val 4245"/>
            </a:avLst>
          </a:prstGeom>
          <a:solidFill>
            <a:srgbClr val="1C080B">
              <a:alpha val="78000"/>
            </a:srgbClr>
          </a:solidFill>
          <a:ln w="9525">
            <a:solidFill>
              <a:srgbClr val="7A3038"/>
            </a:solidFill>
            <a:prstDash val="solid"/>
          </a:ln>
        </p:spPr>
      </p:sp>
      <p:sp>
        <p:nvSpPr>
          <p:cNvPr id="22" name="fx:4:up:l2"/>
          <p:cNvSpPr txBox="1"/>
          <p:nvPr/>
        </p:nvSpPr>
        <p:spPr>
          <a:xfrm>
            <a:off x="4956048" y="3401568"/>
            <a:ext cx="1572768" cy="219456"/>
          </a:xfrm>
          <a:prstGeom prst="rect">
            <a:avLst/>
          </a:prstGeom>
          <a:noFill/>
          <a:ln/>
        </p:spPr>
        <p:txBody>
          <a:bodyPr wrap="square" lIns="0" tIns="0" rIns="0" bIns="0" rtlCol="0" anchor="t"/>
          <a:lstStyle/>
          <a:p>
            <a:pPr indent="0" marL="0">
              <a:buNone/>
            </a:pPr>
            <a:r>
              <a:rPr lang="en-US" sz="1000" b="1" spc="200" kern="0" dirty="0">
                <a:solidFill>
                  <a:srgbClr val="E5333D"/>
                </a:solidFill>
                <a:latin typeface="Arial" pitchFamily="34" charset="0"/>
                <a:ea typeface="Arial" pitchFamily="34" charset="-122"/>
                <a:cs typeface="Arial" pitchFamily="34" charset="-120"/>
              </a:rPr>
              <a:t>SPECIES</a:t>
            </a:r>
            <a:endParaRPr lang="en-US" sz="1000" dirty="0"/>
          </a:p>
        </p:txBody>
      </p:sp>
      <p:sp>
        <p:nvSpPr>
          <p:cNvPr id="23" name="fx:4:up:h2"/>
          <p:cNvSpPr txBox="1"/>
          <p:nvPr/>
        </p:nvSpPr>
        <p:spPr>
          <a:xfrm>
            <a:off x="4956048" y="3657600"/>
            <a:ext cx="1572768" cy="640080"/>
          </a:xfrm>
          <a:prstGeom prst="rect">
            <a:avLst/>
          </a:prstGeom>
          <a:noFill/>
          <a:ln/>
        </p:spPr>
        <p:txBody>
          <a:bodyPr wrap="square" lIns="0" tIns="0" rIns="0" bIns="0" rtlCol="0" anchor="t"/>
          <a:lstStyle/>
          <a:p>
            <a:pPr indent="0" marL="0">
              <a:buNone/>
            </a:pPr>
            <a:r>
              <a:rPr lang="en-US" sz="1800" b="1" dirty="0">
                <a:solidFill>
                  <a:srgbClr val="F4ECE8"/>
                </a:solidFill>
                <a:latin typeface="Arial" pitchFamily="34" charset="0"/>
                <a:ea typeface="Arial" pitchFamily="34" charset="-122"/>
                <a:cs typeface="Arial" pitchFamily="34" charset="-120"/>
              </a:rPr>
              <a:t>5 infect humans</a:t>
            </a:r>
            <a:endParaRPr lang="en-US" sz="1800" dirty="0"/>
          </a:p>
        </p:txBody>
      </p:sp>
      <p:sp>
        <p:nvSpPr>
          <p:cNvPr id="24" name="fx:4:up:b2"/>
          <p:cNvSpPr txBox="1"/>
          <p:nvPr/>
        </p:nvSpPr>
        <p:spPr>
          <a:xfrm>
            <a:off x="4956048" y="4343400"/>
            <a:ext cx="1572768" cy="1234440"/>
          </a:xfrm>
          <a:prstGeom prst="rect">
            <a:avLst/>
          </a:prstGeom>
          <a:noFill/>
          <a:ln/>
        </p:spPr>
        <p:txBody>
          <a:bodyPr wrap="square" lIns="0" tIns="0" rIns="0" bIns="0" rtlCol="0" anchor="t"/>
          <a:lstStyle/>
          <a:p>
            <a:pPr indent="0" marL="0">
              <a:buNone/>
            </a:pPr>
            <a:r>
              <a:rPr lang="en-US" sz="1200" dirty="0">
                <a:solidFill>
                  <a:srgbClr val="C9B2AE"/>
                </a:solidFill>
                <a:latin typeface="Arial" pitchFamily="34" charset="0"/>
                <a:ea typeface="Arial" pitchFamily="34" charset="-122"/>
                <a:cs typeface="Arial" pitchFamily="34" charset="-120"/>
              </a:rPr>
              <a:t>P. falciparum is the deadliest. P. vivax is the most common outside Africa.</a:t>
            </a:r>
            <a:endParaRPr lang="en-US" sz="1200" dirty="0"/>
          </a:p>
        </p:txBody>
      </p:sp>
      <p:pic>
        <p:nvPicPr>
          <p:cNvPr id="25" name="!!disc" descr="Red blood cell">    </p:cNvPr>
          <p:cNvPicPr>
            <a:picLocks noChangeAspect="1"/>
          </p:cNvPicPr>
          <p:nvPr/>
        </p:nvPicPr>
        <p:blipFill>
          <a:blip r:embed="rId5"/>
          <a:stretch>
            <a:fillRect/>
          </a:stretch>
        </p:blipFill>
        <p:spPr>
          <a:xfrm>
            <a:off x="8001000" y="1600200"/>
            <a:ext cx="3520440" cy="3520440"/>
          </a:xfrm>
          <a:prstGeom prst="rect">
            <a:avLst/>
          </a:prstGeom>
        </p:spPr>
      </p:pic>
      <p:pic>
        <p:nvPicPr>
          <p:cNvPr id="26" name="fx:5:zoom:disctext" descr="Not a virus. Not a bacterium. A parasite.">    </p:cNvPr>
          <p:cNvPicPr>
            <a:picLocks noChangeAspect="1"/>
          </p:cNvPicPr>
          <p:nvPr/>
        </p:nvPicPr>
        <p:blipFill>
          <a:blip r:embed="rId6"/>
          <a:stretch>
            <a:fillRect/>
          </a:stretch>
        </p:blipFill>
        <p:spPr>
          <a:xfrm>
            <a:off x="8119348" y="2896448"/>
            <a:ext cx="3283744" cy="927943"/>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42" presetClass="entr" presetSubtype="0" fill="hold" grpId="0" nodeType="afterEffect">
                                  <p:stCondLst>
                                    <p:cond delay="15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550"/>
                                        <p:tgtEl>
                                          <p:spTgt spid="10"/>
                                        </p:tgtEl>
                                      </p:cBhvr>
                                    </p:animEffect>
                                    <p:anim calcmode="lin" valueType="num">
                                      <p:cBhvr>
                                        <p:cTn id="8" dur="550" decel="100000" fill="hold"/>
                                        <p:tgtEl>
                                          <p:spTgt spid="10"/>
                                        </p:tgtEl>
                                        <p:attrNameLst>
                                          <p:attrName>ppt_x</p:attrName>
                                        </p:attrNameLst>
                                      </p:cBhvr>
                                      <p:tavLst>
                                        <p:tav tm="0">
                                          <p:val>
                                            <p:strVal val="#ppt_x"/>
                                          </p:val>
                                        </p:tav>
                                        <p:tav tm="100000">
                                          <p:val>
                                            <p:strVal val="#ppt_x"/>
                                          </p:val>
                                        </p:tav>
                                      </p:tavLst>
                                    </p:anim>
                                    <p:anim calcmode="lin" valueType="num">
                                      <p:cBhvr>
                                        <p:cTn id="9" dur="550" decel="100000" fill="hold"/>
                                        <p:tgtEl>
                                          <p:spTgt spid="10"/>
                                        </p:tgtEl>
                                        <p:attrNameLst>
                                          <p:attrName>ppt_y</p:attrName>
                                        </p:attrNameLst>
                                      </p:cBhvr>
                                      <p:tavLst>
                                        <p:tav tm="0">
                                          <p:val>
                                            <p:strVal val="#ppt_y+0.04"/>
                                          </p:val>
                                        </p:tav>
                                        <p:tav tm="100000">
                                          <p:val>
                                            <p:strVal val="#ppt_y"/>
                                          </p:val>
                                        </p:tav>
                                      </p:tavLst>
                                    </p:anim>
                                  </p:childTnLst>
                                </p:cTn>
                              </p:par>
                              <p:par>
                                <p:cTn id="12" presetID="42" presetClass="entr" presetSubtype="0" fill="hold" grpId="0" nodeType="withEffect">
                                  <p:stCondLst>
                                    <p:cond delay="15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50"/>
                                        <p:tgtEl>
                                          <p:spTgt spid="11"/>
                                        </p:tgtEl>
                                      </p:cBhvr>
                                    </p:animEffect>
                                    <p:anim calcmode="lin" valueType="num">
                                      <p:cBhvr>
                                        <p:cTn id="13" dur="550" decel="100000" fill="hold"/>
                                        <p:tgtEl>
                                          <p:spTgt spid="11"/>
                                        </p:tgtEl>
                                        <p:attrNameLst>
                                          <p:attrName>ppt_x</p:attrName>
                                        </p:attrNameLst>
                                      </p:cBhvr>
                                      <p:tavLst>
                                        <p:tav tm="0">
                                          <p:val>
                                            <p:strVal val="#ppt_x"/>
                                          </p:val>
                                        </p:tav>
                                        <p:tav tm="100000">
                                          <p:val>
                                            <p:strVal val="#ppt_x"/>
                                          </p:val>
                                        </p:tav>
                                      </p:tavLst>
                                    </p:anim>
                                    <p:anim calcmode="lin" valueType="num">
                                      <p:cBhvr>
                                        <p:cTn id="14" dur="550" decel="100000" fill="hold"/>
                                        <p:tgtEl>
                                          <p:spTgt spid="11"/>
                                        </p:tgtEl>
                                        <p:attrNameLst>
                                          <p:attrName>ppt_y</p:attrName>
                                        </p:attrNameLst>
                                      </p:cBhvr>
                                      <p:tavLst>
                                        <p:tav tm="0">
                                          <p:val>
                                            <p:strVal val="#ppt_y+0.04"/>
                                          </p:val>
                                        </p:tav>
                                        <p:tav tm="100000">
                                          <p:val>
                                            <p:strVal val="#ppt_y"/>
                                          </p:val>
                                        </p:tav>
                                      </p:tavLst>
                                    </p:anim>
                                  </p:childTnLst>
                                </p:cTn>
                              </p:par>
                              <p:par>
                                <p:cTn id="17" presetID="42" presetClass="entr" presetSubtype="0" fill="hold" grpId="0" nodeType="withEffect">
                                  <p:stCondLst>
                                    <p:cond delay="15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50"/>
                                        <p:tgtEl>
                                          <p:spTgt spid="12"/>
                                        </p:tgtEl>
                                      </p:cBhvr>
                                    </p:animEffect>
                                    <p:anim calcmode="lin" valueType="num">
                                      <p:cBhvr>
                                        <p:cTn id="18" dur="550" decel="100000" fill="hold"/>
                                        <p:tgtEl>
                                          <p:spTgt spid="12"/>
                                        </p:tgtEl>
                                        <p:attrNameLst>
                                          <p:attrName>ppt_x</p:attrName>
                                        </p:attrNameLst>
                                      </p:cBhvr>
                                      <p:tavLst>
                                        <p:tav tm="0">
                                          <p:val>
                                            <p:strVal val="#ppt_x"/>
                                          </p:val>
                                        </p:tav>
                                        <p:tav tm="100000">
                                          <p:val>
                                            <p:strVal val="#ppt_x"/>
                                          </p:val>
                                        </p:tav>
                                      </p:tavLst>
                                    </p:anim>
                                    <p:anim calcmode="lin" valueType="num">
                                      <p:cBhvr>
                                        <p:cTn id="19" dur="550" decel="100000" fill="hold"/>
                                        <p:tgtEl>
                                          <p:spTgt spid="12"/>
                                        </p:tgtEl>
                                        <p:attrNameLst>
                                          <p:attrName>ppt_y</p:attrName>
                                        </p:attrNameLst>
                                      </p:cBhvr>
                                      <p:tavLst>
                                        <p:tav tm="0">
                                          <p:val>
                                            <p:strVal val="#ppt_y+0.04"/>
                                          </p:val>
                                        </p:tav>
                                        <p:tav tm="100000">
                                          <p:val>
                                            <p:strVal val="#ppt_y"/>
                                          </p:val>
                                        </p:tav>
                                      </p:tavLst>
                                    </p:anim>
                                  </p:childTnLst>
                                </p:cTn>
                              </p:par>
                              <p:par>
                                <p:cTn id="22" presetID="42" presetClass="entr" presetSubtype="0" fill="hold" grpId="0" nodeType="withEffect">
                                  <p:stCondLst>
                                    <p:cond delay="28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50"/>
                                        <p:tgtEl>
                                          <p:spTgt spid="13"/>
                                        </p:tgtEl>
                                      </p:cBhvr>
                                    </p:animEffect>
                                    <p:anim calcmode="lin" valueType="num">
                                      <p:cBhvr>
                                        <p:cTn id="23" dur="550" decel="100000" fill="hold"/>
                                        <p:tgtEl>
                                          <p:spTgt spid="13"/>
                                        </p:tgtEl>
                                        <p:attrNameLst>
                                          <p:attrName>ppt_x</p:attrName>
                                        </p:attrNameLst>
                                      </p:cBhvr>
                                      <p:tavLst>
                                        <p:tav tm="0">
                                          <p:val>
                                            <p:strVal val="#ppt_x"/>
                                          </p:val>
                                        </p:tav>
                                        <p:tav tm="100000">
                                          <p:val>
                                            <p:strVal val="#ppt_x"/>
                                          </p:val>
                                        </p:tav>
                                      </p:tavLst>
                                    </p:anim>
                                    <p:anim calcmode="lin" valueType="num">
                                      <p:cBhvr>
                                        <p:cTn id="24" dur="550" decel="100000" fill="hold"/>
                                        <p:tgtEl>
                                          <p:spTgt spid="13"/>
                                        </p:tgtEl>
                                        <p:attrNameLst>
                                          <p:attrName>ppt_y</p:attrName>
                                        </p:attrNameLst>
                                      </p:cBhvr>
                                      <p:tavLst>
                                        <p:tav tm="0">
                                          <p:val>
                                            <p:strVal val="#ppt_y+0.04"/>
                                          </p:val>
                                        </p:tav>
                                        <p:tav tm="100000">
                                          <p:val>
                                            <p:strVal val="#ppt_y"/>
                                          </p:val>
                                        </p:tav>
                                      </p:tavLst>
                                    </p:anim>
                                  </p:childTnLst>
                                </p:cTn>
                              </p:par>
                              <p:par>
                                <p:cTn id="27" presetID="42" presetClass="entr" presetSubtype="0" fill="hold" grpId="0" nodeType="withEffect">
                                  <p:stCondLst>
                                    <p:cond delay="28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50"/>
                                        <p:tgtEl>
                                          <p:spTgt spid="14"/>
                                        </p:tgtEl>
                                      </p:cBhvr>
                                    </p:animEffect>
                                    <p:anim calcmode="lin" valueType="num">
                                      <p:cBhvr>
                                        <p:cTn id="28" dur="550" decel="100000" fill="hold"/>
                                        <p:tgtEl>
                                          <p:spTgt spid="14"/>
                                        </p:tgtEl>
                                        <p:attrNameLst>
                                          <p:attrName>ppt_x</p:attrName>
                                        </p:attrNameLst>
                                      </p:cBhvr>
                                      <p:tavLst>
                                        <p:tav tm="0">
                                          <p:val>
                                            <p:strVal val="#ppt_x"/>
                                          </p:val>
                                        </p:tav>
                                        <p:tav tm="100000">
                                          <p:val>
                                            <p:strVal val="#ppt_x"/>
                                          </p:val>
                                        </p:tav>
                                      </p:tavLst>
                                    </p:anim>
                                    <p:anim calcmode="lin" valueType="num">
                                      <p:cBhvr>
                                        <p:cTn id="29" dur="550" decel="100000" fill="hold"/>
                                        <p:tgtEl>
                                          <p:spTgt spid="14"/>
                                        </p:tgtEl>
                                        <p:attrNameLst>
                                          <p:attrName>ppt_y</p:attrName>
                                        </p:attrNameLst>
                                      </p:cBhvr>
                                      <p:tavLst>
                                        <p:tav tm="0">
                                          <p:val>
                                            <p:strVal val="#ppt_y+0.04"/>
                                          </p:val>
                                        </p:tav>
                                        <p:tav tm="100000">
                                          <p:val>
                                            <p:strVal val="#ppt_y"/>
                                          </p:val>
                                        </p:tav>
                                      </p:tavLst>
                                    </p:anim>
                                  </p:childTnLst>
                                </p:cTn>
                              </p:par>
                              <p:par>
                                <p:cTn id="32" presetID="42" presetClass="entr" presetSubtype="0" fill="hold" grpId="0" nodeType="withEffect">
                                  <p:stCondLst>
                                    <p:cond delay="28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50"/>
                                        <p:tgtEl>
                                          <p:spTgt spid="15"/>
                                        </p:tgtEl>
                                      </p:cBhvr>
                                    </p:animEffect>
                                    <p:anim calcmode="lin" valueType="num">
                                      <p:cBhvr>
                                        <p:cTn id="33" dur="550" decel="100000" fill="hold"/>
                                        <p:tgtEl>
                                          <p:spTgt spid="15"/>
                                        </p:tgtEl>
                                        <p:attrNameLst>
                                          <p:attrName>ppt_x</p:attrName>
                                        </p:attrNameLst>
                                      </p:cBhvr>
                                      <p:tavLst>
                                        <p:tav tm="0">
                                          <p:val>
                                            <p:strVal val="#ppt_x"/>
                                          </p:val>
                                        </p:tav>
                                        <p:tav tm="100000">
                                          <p:val>
                                            <p:strVal val="#ppt_x"/>
                                          </p:val>
                                        </p:tav>
                                      </p:tavLst>
                                    </p:anim>
                                    <p:anim calcmode="lin" valueType="num">
                                      <p:cBhvr>
                                        <p:cTn id="34" dur="550" decel="100000" fill="hold"/>
                                        <p:tgtEl>
                                          <p:spTgt spid="15"/>
                                        </p:tgtEl>
                                        <p:attrNameLst>
                                          <p:attrName>ppt_y</p:attrName>
                                        </p:attrNameLst>
                                      </p:cBhvr>
                                      <p:tavLst>
                                        <p:tav tm="0">
                                          <p:val>
                                            <p:strVal val="#ppt_y+0.04"/>
                                          </p:val>
                                        </p:tav>
                                        <p:tav tm="100000">
                                          <p:val>
                                            <p:strVal val="#ppt_y"/>
                                          </p:val>
                                        </p:tav>
                                      </p:tavLst>
                                    </p:anim>
                                  </p:childTnLst>
                                </p:cTn>
                              </p:par>
                              <p:par>
                                <p:cTn id="37" presetID="42" presetClass="entr" presetSubtype="0" fill="hold" grpId="0" nodeType="withEffect">
                                  <p:stCondLst>
                                    <p:cond delay="28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50"/>
                                        <p:tgtEl>
                                          <p:spTgt spid="16"/>
                                        </p:tgtEl>
                                      </p:cBhvr>
                                    </p:animEffect>
                                    <p:anim calcmode="lin" valueType="num">
                                      <p:cBhvr>
                                        <p:cTn id="38" dur="550" decel="100000" fill="hold"/>
                                        <p:tgtEl>
                                          <p:spTgt spid="16"/>
                                        </p:tgtEl>
                                        <p:attrNameLst>
                                          <p:attrName>ppt_x</p:attrName>
                                        </p:attrNameLst>
                                      </p:cBhvr>
                                      <p:tavLst>
                                        <p:tav tm="0">
                                          <p:val>
                                            <p:strVal val="#ppt_x"/>
                                          </p:val>
                                        </p:tav>
                                        <p:tav tm="100000">
                                          <p:val>
                                            <p:strVal val="#ppt_x"/>
                                          </p:val>
                                        </p:tav>
                                      </p:tavLst>
                                    </p:anim>
                                    <p:anim calcmode="lin" valueType="num">
                                      <p:cBhvr>
                                        <p:cTn id="39" dur="550" decel="100000" fill="hold"/>
                                        <p:tgtEl>
                                          <p:spTgt spid="16"/>
                                        </p:tgtEl>
                                        <p:attrNameLst>
                                          <p:attrName>ppt_y</p:attrName>
                                        </p:attrNameLst>
                                      </p:cBhvr>
                                      <p:tavLst>
                                        <p:tav tm="0">
                                          <p:val>
                                            <p:strVal val="#ppt_y+0.04"/>
                                          </p:val>
                                        </p:tav>
                                        <p:tav tm="100000">
                                          <p:val>
                                            <p:strVal val="#ppt_y"/>
                                          </p:val>
                                        </p:tav>
                                      </p:tavLst>
                                    </p:anim>
                                  </p:childTnLst>
                                </p:cTn>
                              </p:par>
                              <p:par>
                                <p:cTn id="42" presetID="42" presetClass="entr" presetSubtype="0" fill="hold" grpId="0" nodeType="withEffect">
                                  <p:stCondLst>
                                    <p:cond delay="41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50"/>
                                        <p:tgtEl>
                                          <p:spTgt spid="17"/>
                                        </p:tgtEl>
                                      </p:cBhvr>
                                    </p:animEffect>
                                    <p:anim calcmode="lin" valueType="num">
                                      <p:cBhvr>
                                        <p:cTn id="43" dur="550" decel="100000" fill="hold"/>
                                        <p:tgtEl>
                                          <p:spTgt spid="17"/>
                                        </p:tgtEl>
                                        <p:attrNameLst>
                                          <p:attrName>ppt_x</p:attrName>
                                        </p:attrNameLst>
                                      </p:cBhvr>
                                      <p:tavLst>
                                        <p:tav tm="0">
                                          <p:val>
                                            <p:strVal val="#ppt_x"/>
                                          </p:val>
                                        </p:tav>
                                        <p:tav tm="100000">
                                          <p:val>
                                            <p:strVal val="#ppt_x"/>
                                          </p:val>
                                        </p:tav>
                                      </p:tavLst>
                                    </p:anim>
                                    <p:anim calcmode="lin" valueType="num">
                                      <p:cBhvr>
                                        <p:cTn id="44" dur="550" decel="100000" fill="hold"/>
                                        <p:tgtEl>
                                          <p:spTgt spid="17"/>
                                        </p:tgtEl>
                                        <p:attrNameLst>
                                          <p:attrName>ppt_y</p:attrName>
                                        </p:attrNameLst>
                                      </p:cBhvr>
                                      <p:tavLst>
                                        <p:tav tm="0">
                                          <p:val>
                                            <p:strVal val="#ppt_y+0.04"/>
                                          </p:val>
                                        </p:tav>
                                        <p:tav tm="100000">
                                          <p:val>
                                            <p:strVal val="#ppt_y"/>
                                          </p:val>
                                        </p:tav>
                                      </p:tavLst>
                                    </p:anim>
                                  </p:childTnLst>
                                </p:cTn>
                              </p:par>
                              <p:par>
                                <p:cTn id="47" presetID="42" presetClass="entr" presetSubtype="0" fill="hold" grpId="0" nodeType="withEffect">
                                  <p:stCondLst>
                                    <p:cond delay="41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50"/>
                                        <p:tgtEl>
                                          <p:spTgt spid="18"/>
                                        </p:tgtEl>
                                      </p:cBhvr>
                                    </p:animEffect>
                                    <p:anim calcmode="lin" valueType="num">
                                      <p:cBhvr>
                                        <p:cTn id="48" dur="550" decel="100000" fill="hold"/>
                                        <p:tgtEl>
                                          <p:spTgt spid="18"/>
                                        </p:tgtEl>
                                        <p:attrNameLst>
                                          <p:attrName>ppt_x</p:attrName>
                                        </p:attrNameLst>
                                      </p:cBhvr>
                                      <p:tavLst>
                                        <p:tav tm="0">
                                          <p:val>
                                            <p:strVal val="#ppt_x"/>
                                          </p:val>
                                        </p:tav>
                                        <p:tav tm="100000">
                                          <p:val>
                                            <p:strVal val="#ppt_x"/>
                                          </p:val>
                                        </p:tav>
                                      </p:tavLst>
                                    </p:anim>
                                    <p:anim calcmode="lin" valueType="num">
                                      <p:cBhvr>
                                        <p:cTn id="49" dur="550" decel="100000" fill="hold"/>
                                        <p:tgtEl>
                                          <p:spTgt spid="18"/>
                                        </p:tgtEl>
                                        <p:attrNameLst>
                                          <p:attrName>ppt_y</p:attrName>
                                        </p:attrNameLst>
                                      </p:cBhvr>
                                      <p:tavLst>
                                        <p:tav tm="0">
                                          <p:val>
                                            <p:strVal val="#ppt_y+0.04"/>
                                          </p:val>
                                        </p:tav>
                                        <p:tav tm="100000">
                                          <p:val>
                                            <p:strVal val="#ppt_y"/>
                                          </p:val>
                                        </p:tav>
                                      </p:tavLst>
                                    </p:anim>
                                  </p:childTnLst>
                                </p:cTn>
                              </p:par>
                              <p:par>
                                <p:cTn id="52" presetID="42" presetClass="entr" presetSubtype="0" fill="hold" grpId="0" nodeType="withEffect">
                                  <p:stCondLst>
                                    <p:cond delay="41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50"/>
                                        <p:tgtEl>
                                          <p:spTgt spid="19"/>
                                        </p:tgtEl>
                                      </p:cBhvr>
                                    </p:animEffect>
                                    <p:anim calcmode="lin" valueType="num">
                                      <p:cBhvr>
                                        <p:cTn id="53" dur="550" decel="100000" fill="hold"/>
                                        <p:tgtEl>
                                          <p:spTgt spid="19"/>
                                        </p:tgtEl>
                                        <p:attrNameLst>
                                          <p:attrName>ppt_x</p:attrName>
                                        </p:attrNameLst>
                                      </p:cBhvr>
                                      <p:tavLst>
                                        <p:tav tm="0">
                                          <p:val>
                                            <p:strVal val="#ppt_x"/>
                                          </p:val>
                                        </p:tav>
                                        <p:tav tm="100000">
                                          <p:val>
                                            <p:strVal val="#ppt_x"/>
                                          </p:val>
                                        </p:tav>
                                      </p:tavLst>
                                    </p:anim>
                                    <p:anim calcmode="lin" valueType="num">
                                      <p:cBhvr>
                                        <p:cTn id="54" dur="550" decel="100000" fill="hold"/>
                                        <p:tgtEl>
                                          <p:spTgt spid="19"/>
                                        </p:tgtEl>
                                        <p:attrNameLst>
                                          <p:attrName>ppt_y</p:attrName>
                                        </p:attrNameLst>
                                      </p:cBhvr>
                                      <p:tavLst>
                                        <p:tav tm="0">
                                          <p:val>
                                            <p:strVal val="#ppt_y+0.04"/>
                                          </p:val>
                                        </p:tav>
                                        <p:tav tm="100000">
                                          <p:val>
                                            <p:strVal val="#ppt_y"/>
                                          </p:val>
                                        </p:tav>
                                      </p:tavLst>
                                    </p:anim>
                                  </p:childTnLst>
                                </p:cTn>
                              </p:par>
                              <p:par>
                                <p:cTn id="57" presetID="42" presetClass="entr" presetSubtype="0" fill="hold" grpId="0" nodeType="withEffect">
                                  <p:stCondLst>
                                    <p:cond delay="41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50"/>
                                        <p:tgtEl>
                                          <p:spTgt spid="20"/>
                                        </p:tgtEl>
                                      </p:cBhvr>
                                    </p:animEffect>
                                    <p:anim calcmode="lin" valueType="num">
                                      <p:cBhvr>
                                        <p:cTn id="58" dur="550" decel="100000" fill="hold"/>
                                        <p:tgtEl>
                                          <p:spTgt spid="20"/>
                                        </p:tgtEl>
                                        <p:attrNameLst>
                                          <p:attrName>ppt_x</p:attrName>
                                        </p:attrNameLst>
                                      </p:cBhvr>
                                      <p:tavLst>
                                        <p:tav tm="0">
                                          <p:val>
                                            <p:strVal val="#ppt_x"/>
                                          </p:val>
                                        </p:tav>
                                        <p:tav tm="100000">
                                          <p:val>
                                            <p:strVal val="#ppt_x"/>
                                          </p:val>
                                        </p:tav>
                                      </p:tavLst>
                                    </p:anim>
                                    <p:anim calcmode="lin" valueType="num">
                                      <p:cBhvr>
                                        <p:cTn id="59" dur="550" decel="100000" fill="hold"/>
                                        <p:tgtEl>
                                          <p:spTgt spid="20"/>
                                        </p:tgtEl>
                                        <p:attrNameLst>
                                          <p:attrName>ppt_y</p:attrName>
                                        </p:attrNameLst>
                                      </p:cBhvr>
                                      <p:tavLst>
                                        <p:tav tm="0">
                                          <p:val>
                                            <p:strVal val="#ppt_y+0.04"/>
                                          </p:val>
                                        </p:tav>
                                        <p:tav tm="100000">
                                          <p:val>
                                            <p:strVal val="#ppt_y"/>
                                          </p:val>
                                        </p:tav>
                                      </p:tavLst>
                                    </p:anim>
                                  </p:childTnLst>
                                </p:cTn>
                              </p:par>
                              <p:par>
                                <p:cTn id="62" presetID="42" presetClass="entr" presetSubtype="0" fill="hold" grpId="0" nodeType="withEffect">
                                  <p:stCondLst>
                                    <p:cond delay="54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50"/>
                                        <p:tgtEl>
                                          <p:spTgt spid="21"/>
                                        </p:tgtEl>
                                      </p:cBhvr>
                                    </p:animEffect>
                                    <p:anim calcmode="lin" valueType="num">
                                      <p:cBhvr>
                                        <p:cTn id="63" dur="550" decel="100000" fill="hold"/>
                                        <p:tgtEl>
                                          <p:spTgt spid="21"/>
                                        </p:tgtEl>
                                        <p:attrNameLst>
                                          <p:attrName>ppt_x</p:attrName>
                                        </p:attrNameLst>
                                      </p:cBhvr>
                                      <p:tavLst>
                                        <p:tav tm="0">
                                          <p:val>
                                            <p:strVal val="#ppt_x"/>
                                          </p:val>
                                        </p:tav>
                                        <p:tav tm="100000">
                                          <p:val>
                                            <p:strVal val="#ppt_x"/>
                                          </p:val>
                                        </p:tav>
                                      </p:tavLst>
                                    </p:anim>
                                    <p:anim calcmode="lin" valueType="num">
                                      <p:cBhvr>
                                        <p:cTn id="64" dur="550" decel="100000" fill="hold"/>
                                        <p:tgtEl>
                                          <p:spTgt spid="21"/>
                                        </p:tgtEl>
                                        <p:attrNameLst>
                                          <p:attrName>ppt_y</p:attrName>
                                        </p:attrNameLst>
                                      </p:cBhvr>
                                      <p:tavLst>
                                        <p:tav tm="0">
                                          <p:val>
                                            <p:strVal val="#ppt_y+0.04"/>
                                          </p:val>
                                        </p:tav>
                                        <p:tav tm="100000">
                                          <p:val>
                                            <p:strVal val="#ppt_y"/>
                                          </p:val>
                                        </p:tav>
                                      </p:tavLst>
                                    </p:anim>
                                  </p:childTnLst>
                                </p:cTn>
                              </p:par>
                              <p:par>
                                <p:cTn id="67" presetID="42" presetClass="entr" presetSubtype="0" fill="hold" grpId="0" nodeType="withEffect">
                                  <p:stCondLst>
                                    <p:cond delay="54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50"/>
                                        <p:tgtEl>
                                          <p:spTgt spid="22"/>
                                        </p:tgtEl>
                                      </p:cBhvr>
                                    </p:animEffect>
                                    <p:anim calcmode="lin" valueType="num">
                                      <p:cBhvr>
                                        <p:cTn id="68" dur="550" decel="100000" fill="hold"/>
                                        <p:tgtEl>
                                          <p:spTgt spid="22"/>
                                        </p:tgtEl>
                                        <p:attrNameLst>
                                          <p:attrName>ppt_x</p:attrName>
                                        </p:attrNameLst>
                                      </p:cBhvr>
                                      <p:tavLst>
                                        <p:tav tm="0">
                                          <p:val>
                                            <p:strVal val="#ppt_x"/>
                                          </p:val>
                                        </p:tav>
                                        <p:tav tm="100000">
                                          <p:val>
                                            <p:strVal val="#ppt_x"/>
                                          </p:val>
                                        </p:tav>
                                      </p:tavLst>
                                    </p:anim>
                                    <p:anim calcmode="lin" valueType="num">
                                      <p:cBhvr>
                                        <p:cTn id="69" dur="550" decel="100000" fill="hold"/>
                                        <p:tgtEl>
                                          <p:spTgt spid="22"/>
                                        </p:tgtEl>
                                        <p:attrNameLst>
                                          <p:attrName>ppt_y</p:attrName>
                                        </p:attrNameLst>
                                      </p:cBhvr>
                                      <p:tavLst>
                                        <p:tav tm="0">
                                          <p:val>
                                            <p:strVal val="#ppt_y+0.04"/>
                                          </p:val>
                                        </p:tav>
                                        <p:tav tm="100000">
                                          <p:val>
                                            <p:strVal val="#ppt_y"/>
                                          </p:val>
                                        </p:tav>
                                      </p:tavLst>
                                    </p:anim>
                                  </p:childTnLst>
                                </p:cTn>
                              </p:par>
                              <p:par>
                                <p:cTn id="72" presetID="42" presetClass="entr" presetSubtype="0" fill="hold" grpId="0" nodeType="withEffect">
                                  <p:stCondLst>
                                    <p:cond delay="54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50"/>
                                        <p:tgtEl>
                                          <p:spTgt spid="23"/>
                                        </p:tgtEl>
                                      </p:cBhvr>
                                    </p:animEffect>
                                    <p:anim calcmode="lin" valueType="num">
                                      <p:cBhvr>
                                        <p:cTn id="73" dur="550" decel="100000" fill="hold"/>
                                        <p:tgtEl>
                                          <p:spTgt spid="23"/>
                                        </p:tgtEl>
                                        <p:attrNameLst>
                                          <p:attrName>ppt_x</p:attrName>
                                        </p:attrNameLst>
                                      </p:cBhvr>
                                      <p:tavLst>
                                        <p:tav tm="0">
                                          <p:val>
                                            <p:strVal val="#ppt_x"/>
                                          </p:val>
                                        </p:tav>
                                        <p:tav tm="100000">
                                          <p:val>
                                            <p:strVal val="#ppt_x"/>
                                          </p:val>
                                        </p:tav>
                                      </p:tavLst>
                                    </p:anim>
                                    <p:anim calcmode="lin" valueType="num">
                                      <p:cBhvr>
                                        <p:cTn id="74" dur="550" decel="100000" fill="hold"/>
                                        <p:tgtEl>
                                          <p:spTgt spid="23"/>
                                        </p:tgtEl>
                                        <p:attrNameLst>
                                          <p:attrName>ppt_y</p:attrName>
                                        </p:attrNameLst>
                                      </p:cBhvr>
                                      <p:tavLst>
                                        <p:tav tm="0">
                                          <p:val>
                                            <p:strVal val="#ppt_y+0.04"/>
                                          </p:val>
                                        </p:tav>
                                        <p:tav tm="100000">
                                          <p:val>
                                            <p:strVal val="#ppt_y"/>
                                          </p:val>
                                        </p:tav>
                                      </p:tavLst>
                                    </p:anim>
                                  </p:childTnLst>
                                </p:cTn>
                              </p:par>
                              <p:par>
                                <p:cTn id="77" presetID="42" presetClass="entr" presetSubtype="0" fill="hold" grpId="0" nodeType="withEffect">
                                  <p:stCondLst>
                                    <p:cond delay="54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550"/>
                                        <p:tgtEl>
                                          <p:spTgt spid="24"/>
                                        </p:tgtEl>
                                      </p:cBhvr>
                                    </p:animEffect>
                                    <p:anim calcmode="lin" valueType="num">
                                      <p:cBhvr>
                                        <p:cTn id="78" dur="550" decel="100000" fill="hold"/>
                                        <p:tgtEl>
                                          <p:spTgt spid="24"/>
                                        </p:tgtEl>
                                        <p:attrNameLst>
                                          <p:attrName>ppt_x</p:attrName>
                                        </p:attrNameLst>
                                      </p:cBhvr>
                                      <p:tavLst>
                                        <p:tav tm="0">
                                          <p:val>
                                            <p:strVal val="#ppt_x"/>
                                          </p:val>
                                        </p:tav>
                                        <p:tav tm="100000">
                                          <p:val>
                                            <p:strVal val="#ppt_x"/>
                                          </p:val>
                                        </p:tav>
                                      </p:tavLst>
                                    </p:anim>
                                    <p:anim calcmode="lin" valueType="num">
                                      <p:cBhvr>
                                        <p:cTn id="79" dur="550" decel="100000" fill="hold"/>
                                        <p:tgtEl>
                                          <p:spTgt spid="24"/>
                                        </p:tgtEl>
                                        <p:attrNameLst>
                                          <p:attrName>ppt_y</p:attrName>
                                        </p:attrNameLst>
                                      </p:cBhvr>
                                      <p:tavLst>
                                        <p:tav tm="0">
                                          <p:val>
                                            <p:strVal val="#ppt_y+0.04"/>
                                          </p:val>
                                        </p:tav>
                                        <p:tav tm="100000">
                                          <p:val>
                                            <p:strVal val="#ppt_y"/>
                                          </p:val>
                                        </p:tav>
                                      </p:tavLst>
                                    </p:anim>
                                  </p:childTnLst>
                                </p:cTn>
                              </p:par>
                              <p:par>
                                <p:cTn id="82" presetID="53" presetClass="entr" presetSubtype="16" fill="hold" grpId="0" nodeType="withEffect">
                                  <p:stCondLst>
                                    <p:cond delay="670"/>
                                  </p:stCondLst>
                                  <p:childTnLst>
                                    <p:set>
                                      <p:cBhvr>
                                        <p:cTn id="80" dur="1" fill="hold">
                                          <p:stCondLst>
                                            <p:cond delay="0"/>
                                          </p:stCondLst>
                                        </p:cTn>
                                        <p:tgtEl>
                                          <p:spTgt spid="26"/>
                                        </p:tgtEl>
                                        <p:attrNameLst>
                                          <p:attrName>style.visibility</p:attrName>
                                        </p:attrNameLst>
                                      </p:cBhvr>
                                      <p:to>
                                        <p:strVal val="visible"/>
                                      </p:to>
                                    </p:set>
                                    <p:anim calcmode="lin" valueType="num">
                                      <p:cBhvr>
                                        <p:cTn id="83" dur="600" decel="100000" fill="hold"/>
                                        <p:tgtEl>
                                          <p:spTgt spid="26"/>
                                        </p:tgtEl>
                                        <p:attrNameLst>
                                          <p:attrName>ppt_w</p:attrName>
                                        </p:attrNameLst>
                                      </p:cBhvr>
                                      <p:tavLst>
                                        <p:tav tm="0">
                                          <p:val>
                                            <p:strVal val="#ppt_w*0.7"/>
                                          </p:val>
                                        </p:tav>
                                        <p:tav tm="100000">
                                          <p:val>
                                            <p:strVal val="#ppt_w"/>
                                          </p:val>
                                        </p:tav>
                                      </p:tavLst>
                                    </p:anim>
                                    <p:anim calcmode="lin" valueType="num">
                                      <p:cBhvr>
                                        <p:cTn id="84" dur="600" decel="100000" fill="hold"/>
                                        <p:tgtEl>
                                          <p:spTgt spid="26"/>
                                        </p:tgtEl>
                                        <p:attrNameLst>
                                          <p:attrName>ppt_h</p:attrName>
                                        </p:attrNameLst>
                                      </p:cBhvr>
                                      <p:tavLst>
                                        <p:tav tm="0">
                                          <p:val>
                                            <p:strVal val="#ppt_h*0.7"/>
                                          </p:val>
                                        </p:tav>
                                        <p:tav tm="100000">
                                          <p:val>
                                            <p:strVal val="#ppt_h"/>
                                          </p:val>
                                        </p:tav>
                                      </p:tavLst>
                                    </p:anim>
                                    <p:animEffect transition="in" filter="fade">
                                      <p:cBhvr>
                                        <p:cTn id="81" dur="6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4">
    <p:bg>
      <p:bgPr>
        <a:solidFill>
          <a:srgbClr val="0A0405"/>
        </a:solidFill>
      </p:bgPr>
    </p:bg>
    <p:spTree>
      <p:nvGrpSpPr>
        <p:cNvPr id="1" name=""/>
        <p:cNvGrpSpPr/>
        <p:nvPr/>
      </p:nvGrpSpPr>
      <p:grpSpPr>
        <a:xfrm>
          <a:off x="0" y="0"/>
          <a:ext cx="0" cy="0"/>
          <a:chOff x="0" y="0"/>
          <a:chExt cx="0" cy="0"/>
        </a:xfrm>
      </p:grpSpPr>
      <p:pic>
        <p:nvPicPr>
          <p:cNvPr id="2" name="!!bg" descr="Hourglass with red sand next to blood sample tubes">    </p:cNvPr>
          <p:cNvPicPr>
            <a:picLocks noChangeAspect="1"/>
          </p:cNvPicPr>
          <p:nvPr/>
        </p:nvPicPr>
        <p:blipFill>
          <a:blip r:embed="rId1"/>
          <a:stretch>
            <a:fillRect/>
          </a:stretch>
        </p:blipFill>
        <p:spPr>
          <a:xfrm>
            <a:off x="0" y="0"/>
            <a:ext cx="12191695" cy="6858000"/>
          </a:xfrm>
          <a:prstGeom prst="rect">
            <a:avLst/>
          </a:prstGeom>
        </p:spPr>
      </p:pic>
      <p:pic>
        <p:nvPicPr>
          <p:cNvPr id="3" name="!!shade" descr="/home/user/mdist-tracker/presentations/malaria/build/shade_L.png">    </p:cNvPr>
          <p:cNvPicPr>
            <a:picLocks noChangeAspect="1"/>
          </p:cNvPicPr>
          <p:nvPr/>
        </p:nvPicPr>
        <p:blipFill>
          <a:blip r:embed="rId2"/>
          <a:stretch>
            <a:fillRect/>
          </a:stretch>
        </p:blipFill>
        <p:spPr>
          <a:xfrm>
            <a:off x="0" y="0"/>
            <a:ext cx="12191695" cy="6858000"/>
          </a:xfrm>
          <a:prstGeom prst="rect">
            <a:avLst/>
          </a:prstGeom>
        </p:spPr>
      </p:pic>
      <p:sp>
        <p:nvSpPr>
          <p:cNvPr id="4" name="!!pill"/>
          <p:cNvSpPr/>
          <p:nvPr/>
        </p:nvSpPr>
        <p:spPr>
          <a:xfrm>
            <a:off x="548640" y="411480"/>
            <a:ext cx="2359152" cy="274320"/>
          </a:xfrm>
          <a:prstGeom prst="roundRect">
            <a:avLst>
              <a:gd name="adj" fmla="val 50000"/>
            </a:avLst>
          </a:prstGeom>
          <a:solidFill>
            <a:srgbClr val="0A0405">
              <a:alpha val="65000"/>
            </a:srgbClr>
          </a:solidFill>
          <a:ln w="9525">
            <a:solidFill>
              <a:srgbClr val="7A3038"/>
            </a:solidFill>
            <a:prstDash val="solid"/>
          </a:ln>
        </p:spPr>
      </p:sp>
      <p:sp>
        <p:nvSpPr>
          <p:cNvPr id="5" name="!!pilltext"/>
          <p:cNvSpPr txBox="1"/>
          <p:nvPr/>
        </p:nvSpPr>
        <p:spPr>
          <a:xfrm>
            <a:off x="548640" y="411480"/>
            <a:ext cx="2359152" cy="274320"/>
          </a:xfrm>
          <a:prstGeom prst="rect">
            <a:avLst/>
          </a:prstGeom>
          <a:noFill/>
          <a:ln/>
        </p:spPr>
        <p:txBody>
          <a:bodyPr wrap="square" lIns="0" tIns="0" rIns="0" bIns="0" rtlCol="0" anchor="ctr"/>
          <a:lstStyle/>
          <a:p>
            <a:pPr algn="ctr" indent="0" marL="0">
              <a:buNone/>
            </a:pPr>
            <a:r>
              <a:rPr lang="en-US" sz="1000" b="1" spc="150" kern="0" dirty="0">
                <a:solidFill>
                  <a:srgbClr val="C9B2AE"/>
                </a:solidFill>
                <a:latin typeface="Arial" pitchFamily="34" charset="0"/>
                <a:ea typeface="Arial" pitchFamily="34" charset="-122"/>
                <a:cs typeface="Arial" pitchFamily="34" charset="-120"/>
              </a:rPr>
              <a:t>01 · WHAT IS MALARIA</a:t>
            </a:r>
            <a:endParaRPr lang="en-US" sz="1000" dirty="0"/>
          </a:p>
        </p:txBody>
      </p:sp>
      <p:pic>
        <p:nvPicPr>
          <p:cNvPr id="6" name="!!title" descr="How deadly is it?">    </p:cNvPr>
          <p:cNvPicPr>
            <a:picLocks noChangeAspect="1"/>
          </p:cNvPicPr>
          <p:nvPr/>
        </p:nvPicPr>
        <p:blipFill>
          <a:blip r:embed="rId3"/>
          <a:stretch>
            <a:fillRect/>
          </a:stretch>
        </p:blipFill>
        <p:spPr>
          <a:xfrm>
            <a:off x="521208" y="822960"/>
            <a:ext cx="5830937" cy="530721"/>
          </a:xfrm>
          <a:prstGeom prst="rect">
            <a:avLst/>
          </a:prstGeom>
        </p:spPr>
      </p:pic>
      <p:pic>
        <p:nvPicPr>
          <p:cNvPr id="7" name="!!crest" descr="MDIS Tashkent crest">    </p:cNvPr>
          <p:cNvPicPr>
            <a:picLocks noChangeAspect="1"/>
          </p:cNvPicPr>
          <p:nvPr/>
        </p:nvPicPr>
        <p:blipFill>
          <a:blip r:embed="rId4"/>
          <a:stretch>
            <a:fillRect/>
          </a:stretch>
        </p:blipFill>
        <p:spPr>
          <a:xfrm>
            <a:off x="11249708" y="384048"/>
            <a:ext cx="393347" cy="384048"/>
          </a:xfrm>
          <a:prstGeom prst="rect">
            <a:avLst/>
          </a:prstGeom>
        </p:spPr>
      </p:pic>
      <p:sp>
        <p:nvSpPr>
          <p:cNvPr id="8" name="Text 2"/>
          <p:cNvSpPr txBox="1"/>
          <p:nvPr/>
        </p:nvSpPr>
        <p:spPr>
          <a:xfrm>
            <a:off x="548640" y="6382512"/>
            <a:ext cx="7863840" cy="256032"/>
          </a:xfrm>
          <a:prstGeom prst="rect">
            <a:avLst/>
          </a:prstGeom>
          <a:noFill/>
          <a:ln/>
        </p:spPr>
        <p:txBody>
          <a:bodyPr wrap="square" lIns="0" tIns="0" rIns="0" bIns="0" rtlCol="0" anchor="ctr"/>
          <a:lstStyle/>
          <a:p>
            <a:pPr indent="0" marL="0">
              <a:buNone/>
            </a:pPr>
            <a:r>
              <a:rPr lang="en-US" sz="1000" dirty="0">
                <a:solidFill>
                  <a:srgbClr val="9C8380"/>
                </a:solidFill>
                <a:latin typeface="Arial" pitchFamily="34" charset="0"/>
                <a:ea typeface="Arial" pitchFamily="34" charset="-122"/>
                <a:cs typeface="Arial" pitchFamily="34" charset="-120"/>
              </a:rPr>
              <a:t>Source: World Health Organization (2025a); World Health Organization (2015)</a:t>
            </a:r>
            <a:endParaRPr lang="en-US" sz="1000" dirty="0"/>
          </a:p>
        </p:txBody>
      </p:sp>
      <p:sp>
        <p:nvSpPr>
          <p:cNvPr id="9" name="Text 3"/>
          <p:cNvSpPr txBox="1"/>
          <p:nvPr/>
        </p:nvSpPr>
        <p:spPr>
          <a:xfrm>
            <a:off x="7802575" y="6382512"/>
            <a:ext cx="3840480" cy="256032"/>
          </a:xfrm>
          <a:prstGeom prst="rect">
            <a:avLst/>
          </a:prstGeom>
          <a:noFill/>
          <a:ln/>
        </p:spPr>
        <p:txBody>
          <a:bodyPr wrap="square" lIns="0" tIns="0" rIns="0" bIns="0" rtlCol="0" anchor="ctr"/>
          <a:lstStyle/>
          <a:p>
            <a:pPr algn="r" indent="0" marL="0">
              <a:buNone/>
            </a:pPr>
            <a:r>
              <a:rPr lang="en-US" sz="1000" b="1" spc="100" kern="0" dirty="0">
                <a:solidFill>
                  <a:srgbClr val="C9B2AE"/>
                </a:solidFill>
                <a:latin typeface="Arial" pitchFamily="34" charset="0"/>
                <a:ea typeface="Arial" pitchFamily="34" charset="-122"/>
                <a:cs typeface="Arial" pitchFamily="34" charset="-120"/>
              </a:rPr>
              <a:t>JAVOHIR AZAMOV   ·   04 / 16</a:t>
            </a:r>
            <a:endParaRPr lang="en-US" sz="1000" dirty="0"/>
          </a:p>
        </p:txBody>
      </p:sp>
      <p:sp>
        <p:nvSpPr>
          <p:cNvPr id="10" name="fx:1:up:r0"/>
          <p:cNvSpPr/>
          <p:nvPr/>
        </p:nvSpPr>
        <p:spPr>
          <a:xfrm>
            <a:off x="548640" y="1783080"/>
            <a:ext cx="6172200" cy="1115568"/>
          </a:xfrm>
          <a:prstGeom prst="roundRect">
            <a:avLst>
              <a:gd name="adj" fmla="val 7377"/>
            </a:avLst>
          </a:prstGeom>
          <a:solidFill>
            <a:srgbClr val="1C080B">
              <a:alpha val="78000"/>
            </a:srgbClr>
          </a:solidFill>
          <a:ln w="9525">
            <a:solidFill>
              <a:srgbClr val="7A3038"/>
            </a:solidFill>
            <a:prstDash val="solid"/>
          </a:ln>
        </p:spPr>
      </p:sp>
      <p:pic>
        <p:nvPicPr>
          <p:cNvPr id="11" name="fx:1:zoom:n0" descr="10–15">    </p:cNvPr>
          <p:cNvPicPr>
            <a:picLocks noChangeAspect="1"/>
          </p:cNvPicPr>
          <p:nvPr/>
        </p:nvPicPr>
        <p:blipFill>
          <a:blip r:embed="rId5"/>
          <a:stretch>
            <a:fillRect/>
          </a:stretch>
        </p:blipFill>
        <p:spPr>
          <a:xfrm>
            <a:off x="777240" y="1911096"/>
            <a:ext cx="1745010" cy="530721"/>
          </a:xfrm>
          <a:prstGeom prst="rect">
            <a:avLst/>
          </a:prstGeom>
        </p:spPr>
      </p:pic>
      <p:sp>
        <p:nvSpPr>
          <p:cNvPr id="12" name="fx:1:up:u0"/>
          <p:cNvSpPr txBox="1"/>
          <p:nvPr/>
        </p:nvSpPr>
        <p:spPr>
          <a:xfrm>
            <a:off x="795528" y="2560320"/>
            <a:ext cx="2011680" cy="219456"/>
          </a:xfrm>
          <a:prstGeom prst="rect">
            <a:avLst/>
          </a:prstGeom>
          <a:noFill/>
          <a:ln/>
        </p:spPr>
        <p:txBody>
          <a:bodyPr wrap="square" lIns="0" tIns="0" rIns="0" bIns="0" rtlCol="0" anchor="t"/>
          <a:lstStyle/>
          <a:p>
            <a:pPr indent="0" marL="0">
              <a:buNone/>
            </a:pPr>
            <a:r>
              <a:rPr lang="en-US" sz="1000" b="1" spc="200" kern="0" dirty="0">
                <a:solidFill>
                  <a:srgbClr val="C9B2AE"/>
                </a:solidFill>
                <a:latin typeface="Arial" pitchFamily="34" charset="0"/>
                <a:ea typeface="Arial" pitchFamily="34" charset="-122"/>
                <a:cs typeface="Arial" pitchFamily="34" charset="-120"/>
              </a:rPr>
              <a:t>DAYS</a:t>
            </a:r>
            <a:endParaRPr lang="en-US" sz="1000" dirty="0"/>
          </a:p>
        </p:txBody>
      </p:sp>
      <p:sp>
        <p:nvSpPr>
          <p:cNvPr id="13" name="fx:1:up:t0"/>
          <p:cNvSpPr txBox="1"/>
          <p:nvPr/>
        </p:nvSpPr>
        <p:spPr>
          <a:xfrm>
            <a:off x="3063240" y="1965960"/>
            <a:ext cx="3474720" cy="777240"/>
          </a:xfrm>
          <a:prstGeom prst="rect">
            <a:avLst/>
          </a:prstGeom>
          <a:noFill/>
          <a:ln/>
        </p:spPr>
        <p:txBody>
          <a:bodyPr wrap="square" lIns="0" tIns="0" rIns="0" bIns="0" rtlCol="0" anchor="ctr"/>
          <a:lstStyle/>
          <a:p>
            <a:pPr indent="0" marL="0">
              <a:buNone/>
            </a:pPr>
            <a:r>
              <a:rPr lang="en-US" sz="1300" dirty="0">
                <a:solidFill>
                  <a:srgbClr val="F4ECE8"/>
                </a:solidFill>
                <a:latin typeface="Arial" pitchFamily="34" charset="0"/>
                <a:ea typeface="Arial" pitchFamily="34" charset="-122"/>
                <a:cs typeface="Arial" pitchFamily="34" charset="-120"/>
              </a:rPr>
              <a:t>until the first symptoms: fever, chills and headache. It looks like the flu.</a:t>
            </a:r>
            <a:endParaRPr lang="en-US" sz="1300" dirty="0"/>
          </a:p>
        </p:txBody>
      </p:sp>
      <p:sp>
        <p:nvSpPr>
          <p:cNvPr id="14" name="fx:2:up:r1"/>
          <p:cNvSpPr/>
          <p:nvPr/>
        </p:nvSpPr>
        <p:spPr>
          <a:xfrm>
            <a:off x="548640" y="3044952"/>
            <a:ext cx="6172200" cy="1115568"/>
          </a:xfrm>
          <a:prstGeom prst="roundRect">
            <a:avLst>
              <a:gd name="adj" fmla="val 7377"/>
            </a:avLst>
          </a:prstGeom>
          <a:solidFill>
            <a:srgbClr val="1C080B">
              <a:alpha val="78000"/>
            </a:srgbClr>
          </a:solidFill>
          <a:ln w="9525">
            <a:solidFill>
              <a:srgbClr val="7A3038"/>
            </a:solidFill>
            <a:prstDash val="solid"/>
          </a:ln>
        </p:spPr>
      </p:sp>
      <p:pic>
        <p:nvPicPr>
          <p:cNvPr id="15" name="fx:2:zoom:n1" descr="24">    </p:cNvPr>
          <p:cNvPicPr>
            <a:picLocks noChangeAspect="1"/>
          </p:cNvPicPr>
          <p:nvPr/>
        </p:nvPicPr>
        <p:blipFill>
          <a:blip r:embed="rId6"/>
          <a:stretch>
            <a:fillRect/>
          </a:stretch>
        </p:blipFill>
        <p:spPr>
          <a:xfrm>
            <a:off x="777240" y="3172968"/>
            <a:ext cx="752029" cy="530721"/>
          </a:xfrm>
          <a:prstGeom prst="rect">
            <a:avLst/>
          </a:prstGeom>
        </p:spPr>
      </p:pic>
      <p:sp>
        <p:nvSpPr>
          <p:cNvPr id="16" name="fx:2:up:u1"/>
          <p:cNvSpPr txBox="1"/>
          <p:nvPr/>
        </p:nvSpPr>
        <p:spPr>
          <a:xfrm>
            <a:off x="795528" y="3822192"/>
            <a:ext cx="2011680" cy="219456"/>
          </a:xfrm>
          <a:prstGeom prst="rect">
            <a:avLst/>
          </a:prstGeom>
          <a:noFill/>
          <a:ln/>
        </p:spPr>
        <p:txBody>
          <a:bodyPr wrap="square" lIns="0" tIns="0" rIns="0" bIns="0" rtlCol="0" anchor="t"/>
          <a:lstStyle/>
          <a:p>
            <a:pPr indent="0" marL="0">
              <a:buNone/>
            </a:pPr>
            <a:r>
              <a:rPr lang="en-US" sz="1000" b="1" spc="200" kern="0" dirty="0">
                <a:solidFill>
                  <a:srgbClr val="C9B2AE"/>
                </a:solidFill>
                <a:latin typeface="Arial" pitchFamily="34" charset="0"/>
                <a:ea typeface="Arial" pitchFamily="34" charset="-122"/>
                <a:cs typeface="Arial" pitchFamily="34" charset="-120"/>
              </a:rPr>
              <a:t>HOURS</a:t>
            </a:r>
            <a:endParaRPr lang="en-US" sz="1000" dirty="0"/>
          </a:p>
        </p:txBody>
      </p:sp>
      <p:sp>
        <p:nvSpPr>
          <p:cNvPr id="17" name="fx:2:up:t1"/>
          <p:cNvSpPr txBox="1"/>
          <p:nvPr/>
        </p:nvSpPr>
        <p:spPr>
          <a:xfrm>
            <a:off x="3063240" y="3227832"/>
            <a:ext cx="3474720" cy="777240"/>
          </a:xfrm>
          <a:prstGeom prst="rect">
            <a:avLst/>
          </a:prstGeom>
          <a:noFill/>
          <a:ln/>
        </p:spPr>
        <p:txBody>
          <a:bodyPr wrap="square" lIns="0" tIns="0" rIns="0" bIns="0" rtlCol="0" anchor="ctr"/>
          <a:lstStyle/>
          <a:p>
            <a:pPr indent="0" marL="0">
              <a:buNone/>
            </a:pPr>
            <a:r>
              <a:rPr lang="en-US" sz="1300" dirty="0">
                <a:solidFill>
                  <a:srgbClr val="F4ECE8"/>
                </a:solidFill>
                <a:latin typeface="Arial" pitchFamily="34" charset="0"/>
                <a:ea typeface="Arial" pitchFamily="34" charset="-122"/>
                <a:cs typeface="Arial" pitchFamily="34" charset="-120"/>
              </a:rPr>
              <a:t>Left untreated, P. falciparum malaria can progress to severe illness and death.</a:t>
            </a:r>
            <a:endParaRPr lang="en-US" sz="1300" dirty="0"/>
          </a:p>
        </p:txBody>
      </p:sp>
      <p:sp>
        <p:nvSpPr>
          <p:cNvPr id="18" name="fx:3:up:r2"/>
          <p:cNvSpPr/>
          <p:nvPr/>
        </p:nvSpPr>
        <p:spPr>
          <a:xfrm>
            <a:off x="548640" y="4306824"/>
            <a:ext cx="6172200" cy="1115568"/>
          </a:xfrm>
          <a:prstGeom prst="roundRect">
            <a:avLst>
              <a:gd name="adj" fmla="val 7377"/>
            </a:avLst>
          </a:prstGeom>
          <a:solidFill>
            <a:srgbClr val="1C080B">
              <a:alpha val="78000"/>
            </a:srgbClr>
          </a:solidFill>
          <a:ln w="9525">
            <a:solidFill>
              <a:srgbClr val="7A3038"/>
            </a:solidFill>
            <a:prstDash val="solid"/>
          </a:ln>
        </p:spPr>
      </p:sp>
      <p:pic>
        <p:nvPicPr>
          <p:cNvPr id="19" name="fx:3:zoom:n2" descr="≈100%">    </p:cNvPr>
          <p:cNvPicPr>
            <a:picLocks noChangeAspect="1"/>
          </p:cNvPicPr>
          <p:nvPr/>
        </p:nvPicPr>
        <p:blipFill>
          <a:blip r:embed="rId7"/>
          <a:stretch>
            <a:fillRect/>
          </a:stretch>
        </p:blipFill>
        <p:spPr>
          <a:xfrm>
            <a:off x="777240" y="4434840"/>
            <a:ext cx="1871365" cy="530721"/>
          </a:xfrm>
          <a:prstGeom prst="rect">
            <a:avLst/>
          </a:prstGeom>
        </p:spPr>
      </p:pic>
      <p:sp>
        <p:nvSpPr>
          <p:cNvPr id="20" name="fx:3:up:u2"/>
          <p:cNvSpPr txBox="1"/>
          <p:nvPr/>
        </p:nvSpPr>
        <p:spPr>
          <a:xfrm>
            <a:off x="795528" y="5084064"/>
            <a:ext cx="2011680" cy="219456"/>
          </a:xfrm>
          <a:prstGeom prst="rect">
            <a:avLst/>
          </a:prstGeom>
          <a:noFill/>
          <a:ln/>
        </p:spPr>
        <p:txBody>
          <a:bodyPr wrap="square" lIns="0" tIns="0" rIns="0" bIns="0" rtlCol="0" anchor="t"/>
          <a:lstStyle/>
          <a:p>
            <a:pPr indent="0" marL="0">
              <a:buNone/>
            </a:pPr>
            <a:r>
              <a:rPr lang="en-US" sz="1000" b="1" spc="200" kern="0" dirty="0">
                <a:solidFill>
                  <a:srgbClr val="C9B2AE"/>
                </a:solidFill>
                <a:latin typeface="Arial" pitchFamily="34" charset="0"/>
                <a:ea typeface="Arial" pitchFamily="34" charset="-122"/>
                <a:cs typeface="Arial" pitchFamily="34" charset="-120"/>
              </a:rPr>
              <a:t>UNTREATED</a:t>
            </a:r>
            <a:endParaRPr lang="en-US" sz="1000" dirty="0"/>
          </a:p>
        </p:txBody>
      </p:sp>
      <p:sp>
        <p:nvSpPr>
          <p:cNvPr id="21" name="fx:3:up:t2"/>
          <p:cNvSpPr txBox="1"/>
          <p:nvPr/>
        </p:nvSpPr>
        <p:spPr>
          <a:xfrm>
            <a:off x="3063240" y="4489704"/>
            <a:ext cx="3474720" cy="777240"/>
          </a:xfrm>
          <a:prstGeom prst="rect">
            <a:avLst/>
          </a:prstGeom>
          <a:noFill/>
          <a:ln/>
        </p:spPr>
        <p:txBody>
          <a:bodyPr wrap="square" lIns="0" tIns="0" rIns="0" bIns="0" rtlCol="0" anchor="ctr"/>
          <a:lstStyle/>
          <a:p>
            <a:pPr indent="0" marL="0">
              <a:buNone/>
            </a:pPr>
            <a:r>
              <a:rPr lang="en-US" sz="1300" dirty="0">
                <a:solidFill>
                  <a:srgbClr val="F4ECE8"/>
                </a:solidFill>
                <a:latin typeface="Arial" pitchFamily="34" charset="0"/>
                <a:ea typeface="Arial" pitchFamily="34" charset="-122"/>
                <a:cs typeface="Arial" pitchFamily="34" charset="-120"/>
              </a:rPr>
              <a:t>Severe malaria without treatment: deaths approach 100%. With treatment: 10–20%.</a:t>
            </a:r>
            <a:endParaRPr lang="en-US" sz="1300" dirty="0"/>
          </a:p>
        </p:txBody>
      </p:sp>
      <p:sp>
        <p:nvSpPr>
          <p:cNvPr id="22" name="fx:4:fade:key"/>
          <p:cNvSpPr txBox="1"/>
          <p:nvPr/>
        </p:nvSpPr>
        <p:spPr>
          <a:xfrm>
            <a:off x="548640" y="5650992"/>
            <a:ext cx="6172200" cy="310896"/>
          </a:xfrm>
          <a:prstGeom prst="rect">
            <a:avLst/>
          </a:prstGeom>
          <a:noFill/>
          <a:ln/>
        </p:spPr>
        <p:txBody>
          <a:bodyPr wrap="square" lIns="0" tIns="0" rIns="0" bIns="0" rtlCol="0" anchor="t"/>
          <a:lstStyle/>
          <a:p>
            <a:pPr indent="0" marL="0">
              <a:buNone/>
            </a:pPr>
            <a:r>
              <a:rPr lang="en-US" sz="1500" i="1" dirty="0">
                <a:solidFill>
                  <a:srgbClr val="C9B2AE"/>
                </a:solidFill>
                <a:latin typeface="Arial" pitchFamily="34" charset="0"/>
                <a:ea typeface="Arial" pitchFamily="34" charset="-122"/>
                <a:cs typeface="Arial" pitchFamily="34" charset="-120"/>
              </a:rPr>
              <a:t>The key word is </a:t>
            </a:r>
            <a:pPr indent="0" marL="0">
              <a:buNone/>
            </a:pPr>
            <a:r>
              <a:rPr lang="en-US" sz="1500" b="1" i="1" dirty="0">
                <a:solidFill>
                  <a:srgbClr val="E5333D"/>
                </a:solidFill>
                <a:latin typeface="Arial" pitchFamily="34" charset="0"/>
                <a:ea typeface="Arial" pitchFamily="34" charset="-122"/>
                <a:cs typeface="Arial" pitchFamily="34" charset="-120"/>
              </a:rPr>
              <a:t>TIME</a:t>
            </a:r>
            <a:pPr indent="0" marL="0">
              <a:buNone/>
            </a:pPr>
            <a:r>
              <a:rPr lang="en-US" sz="1500" i="1" dirty="0">
                <a:solidFill>
                  <a:srgbClr val="C9B2AE"/>
                </a:solidFill>
                <a:latin typeface="Arial" pitchFamily="34" charset="0"/>
                <a:ea typeface="Arial" pitchFamily="34" charset="-122"/>
                <a:cs typeface="Arial" pitchFamily="34" charset="-120"/>
              </a:rPr>
              <a:t>: fast diagnosis saves lives.</a:t>
            </a:r>
            <a:endParaRPr lang="en-US" sz="1500" dirty="0"/>
          </a:p>
        </p:txBody>
      </p:sp>
      <p:pic>
        <p:nvPicPr>
          <p:cNvPr id="23" name="!!disc" descr="Red blood cell">    </p:cNvPr>
          <p:cNvPicPr>
            <a:picLocks noChangeAspect="1"/>
          </p:cNvPicPr>
          <p:nvPr/>
        </p:nvPicPr>
        <p:blipFill>
          <a:blip r:embed="rId8"/>
          <a:stretch>
            <a:fillRect/>
          </a:stretch>
        </p:blipFill>
        <p:spPr>
          <a:xfrm>
            <a:off x="9144000" y="3840480"/>
            <a:ext cx="2240280" cy="2240280"/>
          </a:xfrm>
          <a:prstGeom prst="rect">
            <a:avLst/>
          </a:prstGeom>
        </p:spPr>
      </p:pic>
      <p:pic>
        <p:nvPicPr>
          <p:cNvPr id="24" name="fx:5:zoom:disctext" descr="Time saves lives">    </p:cNvPr>
          <p:cNvPicPr>
            <a:picLocks noChangeAspect="1"/>
          </p:cNvPicPr>
          <p:nvPr/>
        </p:nvPicPr>
        <p:blipFill>
          <a:blip r:embed="rId9"/>
          <a:stretch>
            <a:fillRect/>
          </a:stretch>
        </p:blipFill>
        <p:spPr>
          <a:xfrm>
            <a:off x="9741530" y="4566225"/>
            <a:ext cx="1045220" cy="78878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42" presetClass="entr" presetSubtype="0" fill="hold" grpId="0" nodeType="afterEffect">
                                  <p:stCondLst>
                                    <p:cond delay="15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550"/>
                                        <p:tgtEl>
                                          <p:spTgt spid="10"/>
                                        </p:tgtEl>
                                      </p:cBhvr>
                                    </p:animEffect>
                                    <p:anim calcmode="lin" valueType="num">
                                      <p:cBhvr>
                                        <p:cTn id="8" dur="550" decel="100000" fill="hold"/>
                                        <p:tgtEl>
                                          <p:spTgt spid="10"/>
                                        </p:tgtEl>
                                        <p:attrNameLst>
                                          <p:attrName>ppt_x</p:attrName>
                                        </p:attrNameLst>
                                      </p:cBhvr>
                                      <p:tavLst>
                                        <p:tav tm="0">
                                          <p:val>
                                            <p:strVal val="#ppt_x"/>
                                          </p:val>
                                        </p:tav>
                                        <p:tav tm="100000">
                                          <p:val>
                                            <p:strVal val="#ppt_x"/>
                                          </p:val>
                                        </p:tav>
                                      </p:tavLst>
                                    </p:anim>
                                    <p:anim calcmode="lin" valueType="num">
                                      <p:cBhvr>
                                        <p:cTn id="9" dur="550" decel="100000" fill="hold"/>
                                        <p:tgtEl>
                                          <p:spTgt spid="10"/>
                                        </p:tgtEl>
                                        <p:attrNameLst>
                                          <p:attrName>ppt_y</p:attrName>
                                        </p:attrNameLst>
                                      </p:cBhvr>
                                      <p:tavLst>
                                        <p:tav tm="0">
                                          <p:val>
                                            <p:strVal val="#ppt_y+0.04"/>
                                          </p:val>
                                        </p:tav>
                                        <p:tav tm="100000">
                                          <p:val>
                                            <p:strVal val="#ppt_y"/>
                                          </p:val>
                                        </p:tav>
                                      </p:tavLst>
                                    </p:anim>
                                  </p:childTnLst>
                                </p:cTn>
                              </p:par>
                              <p:par>
                                <p:cTn id="12" presetID="53" presetClass="entr" presetSubtype="16" fill="hold" grpId="0" nodeType="withEffect">
                                  <p:stCondLst>
                                    <p:cond delay="150"/>
                                  </p:stCondLst>
                                  <p:childTnLst>
                                    <p:set>
                                      <p:cBhvr>
                                        <p:cTn id="10" dur="1" fill="hold">
                                          <p:stCondLst>
                                            <p:cond delay="0"/>
                                          </p:stCondLst>
                                        </p:cTn>
                                        <p:tgtEl>
                                          <p:spTgt spid="11"/>
                                        </p:tgtEl>
                                        <p:attrNameLst>
                                          <p:attrName>style.visibility</p:attrName>
                                        </p:attrNameLst>
                                      </p:cBhvr>
                                      <p:to>
                                        <p:strVal val="visible"/>
                                      </p:to>
                                    </p:set>
                                    <p:anim calcmode="lin" valueType="num">
                                      <p:cBhvr>
                                        <p:cTn id="13" dur="600" decel="100000" fill="hold"/>
                                        <p:tgtEl>
                                          <p:spTgt spid="11"/>
                                        </p:tgtEl>
                                        <p:attrNameLst>
                                          <p:attrName>ppt_w</p:attrName>
                                        </p:attrNameLst>
                                      </p:cBhvr>
                                      <p:tavLst>
                                        <p:tav tm="0">
                                          <p:val>
                                            <p:strVal val="#ppt_w*0.7"/>
                                          </p:val>
                                        </p:tav>
                                        <p:tav tm="100000">
                                          <p:val>
                                            <p:strVal val="#ppt_w"/>
                                          </p:val>
                                        </p:tav>
                                      </p:tavLst>
                                    </p:anim>
                                    <p:anim calcmode="lin" valueType="num">
                                      <p:cBhvr>
                                        <p:cTn id="14" dur="600" decel="100000" fill="hold"/>
                                        <p:tgtEl>
                                          <p:spTgt spid="11"/>
                                        </p:tgtEl>
                                        <p:attrNameLst>
                                          <p:attrName>ppt_h</p:attrName>
                                        </p:attrNameLst>
                                      </p:cBhvr>
                                      <p:tavLst>
                                        <p:tav tm="0">
                                          <p:val>
                                            <p:strVal val="#ppt_h*0.7"/>
                                          </p:val>
                                        </p:tav>
                                        <p:tav tm="100000">
                                          <p:val>
                                            <p:strVal val="#ppt_h"/>
                                          </p:val>
                                        </p:tav>
                                      </p:tavLst>
                                    </p:anim>
                                    <p:animEffect transition="in" filter="fade">
                                      <p:cBhvr>
                                        <p:cTn id="11" dur="600"/>
                                        <p:tgtEl>
                                          <p:spTgt spid="11"/>
                                        </p:tgtEl>
                                      </p:cBhvr>
                                    </p:animEffect>
                                  </p:childTnLst>
                                </p:cTn>
                              </p:par>
                              <p:par>
                                <p:cTn id="17" presetID="42" presetClass="entr" presetSubtype="0" fill="hold" grpId="0" nodeType="withEffect">
                                  <p:stCondLst>
                                    <p:cond delay="15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50"/>
                                        <p:tgtEl>
                                          <p:spTgt spid="12"/>
                                        </p:tgtEl>
                                      </p:cBhvr>
                                    </p:animEffect>
                                    <p:anim calcmode="lin" valueType="num">
                                      <p:cBhvr>
                                        <p:cTn id="18" dur="550" decel="100000" fill="hold"/>
                                        <p:tgtEl>
                                          <p:spTgt spid="12"/>
                                        </p:tgtEl>
                                        <p:attrNameLst>
                                          <p:attrName>ppt_x</p:attrName>
                                        </p:attrNameLst>
                                      </p:cBhvr>
                                      <p:tavLst>
                                        <p:tav tm="0">
                                          <p:val>
                                            <p:strVal val="#ppt_x"/>
                                          </p:val>
                                        </p:tav>
                                        <p:tav tm="100000">
                                          <p:val>
                                            <p:strVal val="#ppt_x"/>
                                          </p:val>
                                        </p:tav>
                                      </p:tavLst>
                                    </p:anim>
                                    <p:anim calcmode="lin" valueType="num">
                                      <p:cBhvr>
                                        <p:cTn id="19" dur="550" decel="100000" fill="hold"/>
                                        <p:tgtEl>
                                          <p:spTgt spid="12"/>
                                        </p:tgtEl>
                                        <p:attrNameLst>
                                          <p:attrName>ppt_y</p:attrName>
                                        </p:attrNameLst>
                                      </p:cBhvr>
                                      <p:tavLst>
                                        <p:tav tm="0">
                                          <p:val>
                                            <p:strVal val="#ppt_y+0.04"/>
                                          </p:val>
                                        </p:tav>
                                        <p:tav tm="100000">
                                          <p:val>
                                            <p:strVal val="#ppt_y"/>
                                          </p:val>
                                        </p:tav>
                                      </p:tavLst>
                                    </p:anim>
                                  </p:childTnLst>
                                </p:cTn>
                              </p:par>
                              <p:par>
                                <p:cTn id="22" presetID="42" presetClass="entr" presetSubtype="0" fill="hold" grpId="0" nodeType="withEffect">
                                  <p:stCondLst>
                                    <p:cond delay="15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50"/>
                                        <p:tgtEl>
                                          <p:spTgt spid="13"/>
                                        </p:tgtEl>
                                      </p:cBhvr>
                                    </p:animEffect>
                                    <p:anim calcmode="lin" valueType="num">
                                      <p:cBhvr>
                                        <p:cTn id="23" dur="550" decel="100000" fill="hold"/>
                                        <p:tgtEl>
                                          <p:spTgt spid="13"/>
                                        </p:tgtEl>
                                        <p:attrNameLst>
                                          <p:attrName>ppt_x</p:attrName>
                                        </p:attrNameLst>
                                      </p:cBhvr>
                                      <p:tavLst>
                                        <p:tav tm="0">
                                          <p:val>
                                            <p:strVal val="#ppt_x"/>
                                          </p:val>
                                        </p:tav>
                                        <p:tav tm="100000">
                                          <p:val>
                                            <p:strVal val="#ppt_x"/>
                                          </p:val>
                                        </p:tav>
                                      </p:tavLst>
                                    </p:anim>
                                    <p:anim calcmode="lin" valueType="num">
                                      <p:cBhvr>
                                        <p:cTn id="24" dur="550" decel="100000" fill="hold"/>
                                        <p:tgtEl>
                                          <p:spTgt spid="13"/>
                                        </p:tgtEl>
                                        <p:attrNameLst>
                                          <p:attrName>ppt_y</p:attrName>
                                        </p:attrNameLst>
                                      </p:cBhvr>
                                      <p:tavLst>
                                        <p:tav tm="0">
                                          <p:val>
                                            <p:strVal val="#ppt_y+0.04"/>
                                          </p:val>
                                        </p:tav>
                                        <p:tav tm="100000">
                                          <p:val>
                                            <p:strVal val="#ppt_y"/>
                                          </p:val>
                                        </p:tav>
                                      </p:tavLst>
                                    </p:anim>
                                  </p:childTnLst>
                                </p:cTn>
                              </p:par>
                              <p:par>
                                <p:cTn id="27" presetID="42" presetClass="entr" presetSubtype="0" fill="hold" grpId="0" nodeType="withEffect">
                                  <p:stCondLst>
                                    <p:cond delay="28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50"/>
                                        <p:tgtEl>
                                          <p:spTgt spid="14"/>
                                        </p:tgtEl>
                                      </p:cBhvr>
                                    </p:animEffect>
                                    <p:anim calcmode="lin" valueType="num">
                                      <p:cBhvr>
                                        <p:cTn id="28" dur="550" decel="100000" fill="hold"/>
                                        <p:tgtEl>
                                          <p:spTgt spid="14"/>
                                        </p:tgtEl>
                                        <p:attrNameLst>
                                          <p:attrName>ppt_x</p:attrName>
                                        </p:attrNameLst>
                                      </p:cBhvr>
                                      <p:tavLst>
                                        <p:tav tm="0">
                                          <p:val>
                                            <p:strVal val="#ppt_x"/>
                                          </p:val>
                                        </p:tav>
                                        <p:tav tm="100000">
                                          <p:val>
                                            <p:strVal val="#ppt_x"/>
                                          </p:val>
                                        </p:tav>
                                      </p:tavLst>
                                    </p:anim>
                                    <p:anim calcmode="lin" valueType="num">
                                      <p:cBhvr>
                                        <p:cTn id="29" dur="550" decel="100000" fill="hold"/>
                                        <p:tgtEl>
                                          <p:spTgt spid="14"/>
                                        </p:tgtEl>
                                        <p:attrNameLst>
                                          <p:attrName>ppt_y</p:attrName>
                                        </p:attrNameLst>
                                      </p:cBhvr>
                                      <p:tavLst>
                                        <p:tav tm="0">
                                          <p:val>
                                            <p:strVal val="#ppt_y+0.04"/>
                                          </p:val>
                                        </p:tav>
                                        <p:tav tm="100000">
                                          <p:val>
                                            <p:strVal val="#ppt_y"/>
                                          </p:val>
                                        </p:tav>
                                      </p:tavLst>
                                    </p:anim>
                                  </p:childTnLst>
                                </p:cTn>
                              </p:par>
                              <p:par>
                                <p:cTn id="32" presetID="53" presetClass="entr" presetSubtype="16" fill="hold" grpId="0" nodeType="withEffect">
                                  <p:stCondLst>
                                    <p:cond delay="280"/>
                                  </p:stCondLst>
                                  <p:childTnLst>
                                    <p:set>
                                      <p:cBhvr>
                                        <p:cTn id="30" dur="1" fill="hold">
                                          <p:stCondLst>
                                            <p:cond delay="0"/>
                                          </p:stCondLst>
                                        </p:cTn>
                                        <p:tgtEl>
                                          <p:spTgt spid="15"/>
                                        </p:tgtEl>
                                        <p:attrNameLst>
                                          <p:attrName>style.visibility</p:attrName>
                                        </p:attrNameLst>
                                      </p:cBhvr>
                                      <p:to>
                                        <p:strVal val="visible"/>
                                      </p:to>
                                    </p:set>
                                    <p:anim calcmode="lin" valueType="num">
                                      <p:cBhvr>
                                        <p:cTn id="33" dur="600" decel="100000" fill="hold"/>
                                        <p:tgtEl>
                                          <p:spTgt spid="15"/>
                                        </p:tgtEl>
                                        <p:attrNameLst>
                                          <p:attrName>ppt_w</p:attrName>
                                        </p:attrNameLst>
                                      </p:cBhvr>
                                      <p:tavLst>
                                        <p:tav tm="0">
                                          <p:val>
                                            <p:strVal val="#ppt_w*0.7"/>
                                          </p:val>
                                        </p:tav>
                                        <p:tav tm="100000">
                                          <p:val>
                                            <p:strVal val="#ppt_w"/>
                                          </p:val>
                                        </p:tav>
                                      </p:tavLst>
                                    </p:anim>
                                    <p:anim calcmode="lin" valueType="num">
                                      <p:cBhvr>
                                        <p:cTn id="34" dur="600" decel="100000" fill="hold"/>
                                        <p:tgtEl>
                                          <p:spTgt spid="15"/>
                                        </p:tgtEl>
                                        <p:attrNameLst>
                                          <p:attrName>ppt_h</p:attrName>
                                        </p:attrNameLst>
                                      </p:cBhvr>
                                      <p:tavLst>
                                        <p:tav tm="0">
                                          <p:val>
                                            <p:strVal val="#ppt_h*0.7"/>
                                          </p:val>
                                        </p:tav>
                                        <p:tav tm="100000">
                                          <p:val>
                                            <p:strVal val="#ppt_h"/>
                                          </p:val>
                                        </p:tav>
                                      </p:tavLst>
                                    </p:anim>
                                    <p:animEffect transition="in" filter="fade">
                                      <p:cBhvr>
                                        <p:cTn id="31" dur="600"/>
                                        <p:tgtEl>
                                          <p:spTgt spid="15"/>
                                        </p:tgtEl>
                                      </p:cBhvr>
                                    </p:animEffect>
                                  </p:childTnLst>
                                </p:cTn>
                              </p:par>
                              <p:par>
                                <p:cTn id="37" presetID="42" presetClass="entr" presetSubtype="0" fill="hold" grpId="0" nodeType="withEffect">
                                  <p:stCondLst>
                                    <p:cond delay="28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50"/>
                                        <p:tgtEl>
                                          <p:spTgt spid="16"/>
                                        </p:tgtEl>
                                      </p:cBhvr>
                                    </p:animEffect>
                                    <p:anim calcmode="lin" valueType="num">
                                      <p:cBhvr>
                                        <p:cTn id="38" dur="550" decel="100000" fill="hold"/>
                                        <p:tgtEl>
                                          <p:spTgt spid="16"/>
                                        </p:tgtEl>
                                        <p:attrNameLst>
                                          <p:attrName>ppt_x</p:attrName>
                                        </p:attrNameLst>
                                      </p:cBhvr>
                                      <p:tavLst>
                                        <p:tav tm="0">
                                          <p:val>
                                            <p:strVal val="#ppt_x"/>
                                          </p:val>
                                        </p:tav>
                                        <p:tav tm="100000">
                                          <p:val>
                                            <p:strVal val="#ppt_x"/>
                                          </p:val>
                                        </p:tav>
                                      </p:tavLst>
                                    </p:anim>
                                    <p:anim calcmode="lin" valueType="num">
                                      <p:cBhvr>
                                        <p:cTn id="39" dur="550" decel="100000" fill="hold"/>
                                        <p:tgtEl>
                                          <p:spTgt spid="16"/>
                                        </p:tgtEl>
                                        <p:attrNameLst>
                                          <p:attrName>ppt_y</p:attrName>
                                        </p:attrNameLst>
                                      </p:cBhvr>
                                      <p:tavLst>
                                        <p:tav tm="0">
                                          <p:val>
                                            <p:strVal val="#ppt_y+0.04"/>
                                          </p:val>
                                        </p:tav>
                                        <p:tav tm="100000">
                                          <p:val>
                                            <p:strVal val="#ppt_y"/>
                                          </p:val>
                                        </p:tav>
                                      </p:tavLst>
                                    </p:anim>
                                  </p:childTnLst>
                                </p:cTn>
                              </p:par>
                              <p:par>
                                <p:cTn id="42" presetID="42" presetClass="entr" presetSubtype="0" fill="hold" grpId="0" nodeType="withEffect">
                                  <p:stCondLst>
                                    <p:cond delay="28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50"/>
                                        <p:tgtEl>
                                          <p:spTgt spid="17"/>
                                        </p:tgtEl>
                                      </p:cBhvr>
                                    </p:animEffect>
                                    <p:anim calcmode="lin" valueType="num">
                                      <p:cBhvr>
                                        <p:cTn id="43" dur="550" decel="100000" fill="hold"/>
                                        <p:tgtEl>
                                          <p:spTgt spid="17"/>
                                        </p:tgtEl>
                                        <p:attrNameLst>
                                          <p:attrName>ppt_x</p:attrName>
                                        </p:attrNameLst>
                                      </p:cBhvr>
                                      <p:tavLst>
                                        <p:tav tm="0">
                                          <p:val>
                                            <p:strVal val="#ppt_x"/>
                                          </p:val>
                                        </p:tav>
                                        <p:tav tm="100000">
                                          <p:val>
                                            <p:strVal val="#ppt_x"/>
                                          </p:val>
                                        </p:tav>
                                      </p:tavLst>
                                    </p:anim>
                                    <p:anim calcmode="lin" valueType="num">
                                      <p:cBhvr>
                                        <p:cTn id="44" dur="550" decel="100000" fill="hold"/>
                                        <p:tgtEl>
                                          <p:spTgt spid="17"/>
                                        </p:tgtEl>
                                        <p:attrNameLst>
                                          <p:attrName>ppt_y</p:attrName>
                                        </p:attrNameLst>
                                      </p:cBhvr>
                                      <p:tavLst>
                                        <p:tav tm="0">
                                          <p:val>
                                            <p:strVal val="#ppt_y+0.04"/>
                                          </p:val>
                                        </p:tav>
                                        <p:tav tm="100000">
                                          <p:val>
                                            <p:strVal val="#ppt_y"/>
                                          </p:val>
                                        </p:tav>
                                      </p:tavLst>
                                    </p:anim>
                                  </p:childTnLst>
                                </p:cTn>
                              </p:par>
                              <p:par>
                                <p:cTn id="47" presetID="42" presetClass="entr" presetSubtype="0" fill="hold" grpId="0" nodeType="withEffect">
                                  <p:stCondLst>
                                    <p:cond delay="41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50"/>
                                        <p:tgtEl>
                                          <p:spTgt spid="18"/>
                                        </p:tgtEl>
                                      </p:cBhvr>
                                    </p:animEffect>
                                    <p:anim calcmode="lin" valueType="num">
                                      <p:cBhvr>
                                        <p:cTn id="48" dur="550" decel="100000" fill="hold"/>
                                        <p:tgtEl>
                                          <p:spTgt spid="18"/>
                                        </p:tgtEl>
                                        <p:attrNameLst>
                                          <p:attrName>ppt_x</p:attrName>
                                        </p:attrNameLst>
                                      </p:cBhvr>
                                      <p:tavLst>
                                        <p:tav tm="0">
                                          <p:val>
                                            <p:strVal val="#ppt_x"/>
                                          </p:val>
                                        </p:tav>
                                        <p:tav tm="100000">
                                          <p:val>
                                            <p:strVal val="#ppt_x"/>
                                          </p:val>
                                        </p:tav>
                                      </p:tavLst>
                                    </p:anim>
                                    <p:anim calcmode="lin" valueType="num">
                                      <p:cBhvr>
                                        <p:cTn id="49" dur="550" decel="100000" fill="hold"/>
                                        <p:tgtEl>
                                          <p:spTgt spid="18"/>
                                        </p:tgtEl>
                                        <p:attrNameLst>
                                          <p:attrName>ppt_y</p:attrName>
                                        </p:attrNameLst>
                                      </p:cBhvr>
                                      <p:tavLst>
                                        <p:tav tm="0">
                                          <p:val>
                                            <p:strVal val="#ppt_y+0.04"/>
                                          </p:val>
                                        </p:tav>
                                        <p:tav tm="100000">
                                          <p:val>
                                            <p:strVal val="#ppt_y"/>
                                          </p:val>
                                        </p:tav>
                                      </p:tavLst>
                                    </p:anim>
                                  </p:childTnLst>
                                </p:cTn>
                              </p:par>
                              <p:par>
                                <p:cTn id="52" presetID="53" presetClass="entr" presetSubtype="16" fill="hold" grpId="0" nodeType="withEffect">
                                  <p:stCondLst>
                                    <p:cond delay="410"/>
                                  </p:stCondLst>
                                  <p:childTnLst>
                                    <p:set>
                                      <p:cBhvr>
                                        <p:cTn id="50" dur="1" fill="hold">
                                          <p:stCondLst>
                                            <p:cond delay="0"/>
                                          </p:stCondLst>
                                        </p:cTn>
                                        <p:tgtEl>
                                          <p:spTgt spid="19"/>
                                        </p:tgtEl>
                                        <p:attrNameLst>
                                          <p:attrName>style.visibility</p:attrName>
                                        </p:attrNameLst>
                                      </p:cBhvr>
                                      <p:to>
                                        <p:strVal val="visible"/>
                                      </p:to>
                                    </p:set>
                                    <p:anim calcmode="lin" valueType="num">
                                      <p:cBhvr>
                                        <p:cTn id="53" dur="600" decel="100000" fill="hold"/>
                                        <p:tgtEl>
                                          <p:spTgt spid="19"/>
                                        </p:tgtEl>
                                        <p:attrNameLst>
                                          <p:attrName>ppt_w</p:attrName>
                                        </p:attrNameLst>
                                      </p:cBhvr>
                                      <p:tavLst>
                                        <p:tav tm="0">
                                          <p:val>
                                            <p:strVal val="#ppt_w*0.7"/>
                                          </p:val>
                                        </p:tav>
                                        <p:tav tm="100000">
                                          <p:val>
                                            <p:strVal val="#ppt_w"/>
                                          </p:val>
                                        </p:tav>
                                      </p:tavLst>
                                    </p:anim>
                                    <p:anim calcmode="lin" valueType="num">
                                      <p:cBhvr>
                                        <p:cTn id="54" dur="600" decel="100000" fill="hold"/>
                                        <p:tgtEl>
                                          <p:spTgt spid="19"/>
                                        </p:tgtEl>
                                        <p:attrNameLst>
                                          <p:attrName>ppt_h</p:attrName>
                                        </p:attrNameLst>
                                      </p:cBhvr>
                                      <p:tavLst>
                                        <p:tav tm="0">
                                          <p:val>
                                            <p:strVal val="#ppt_h*0.7"/>
                                          </p:val>
                                        </p:tav>
                                        <p:tav tm="100000">
                                          <p:val>
                                            <p:strVal val="#ppt_h"/>
                                          </p:val>
                                        </p:tav>
                                      </p:tavLst>
                                    </p:anim>
                                    <p:animEffect transition="in" filter="fade">
                                      <p:cBhvr>
                                        <p:cTn id="51" dur="600"/>
                                        <p:tgtEl>
                                          <p:spTgt spid="19"/>
                                        </p:tgtEl>
                                      </p:cBhvr>
                                    </p:animEffect>
                                  </p:childTnLst>
                                </p:cTn>
                              </p:par>
                              <p:par>
                                <p:cTn id="57" presetID="42" presetClass="entr" presetSubtype="0" fill="hold" grpId="0" nodeType="withEffect">
                                  <p:stCondLst>
                                    <p:cond delay="41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50"/>
                                        <p:tgtEl>
                                          <p:spTgt spid="20"/>
                                        </p:tgtEl>
                                      </p:cBhvr>
                                    </p:animEffect>
                                    <p:anim calcmode="lin" valueType="num">
                                      <p:cBhvr>
                                        <p:cTn id="58" dur="550" decel="100000" fill="hold"/>
                                        <p:tgtEl>
                                          <p:spTgt spid="20"/>
                                        </p:tgtEl>
                                        <p:attrNameLst>
                                          <p:attrName>ppt_x</p:attrName>
                                        </p:attrNameLst>
                                      </p:cBhvr>
                                      <p:tavLst>
                                        <p:tav tm="0">
                                          <p:val>
                                            <p:strVal val="#ppt_x"/>
                                          </p:val>
                                        </p:tav>
                                        <p:tav tm="100000">
                                          <p:val>
                                            <p:strVal val="#ppt_x"/>
                                          </p:val>
                                        </p:tav>
                                      </p:tavLst>
                                    </p:anim>
                                    <p:anim calcmode="lin" valueType="num">
                                      <p:cBhvr>
                                        <p:cTn id="59" dur="550" decel="100000" fill="hold"/>
                                        <p:tgtEl>
                                          <p:spTgt spid="20"/>
                                        </p:tgtEl>
                                        <p:attrNameLst>
                                          <p:attrName>ppt_y</p:attrName>
                                        </p:attrNameLst>
                                      </p:cBhvr>
                                      <p:tavLst>
                                        <p:tav tm="0">
                                          <p:val>
                                            <p:strVal val="#ppt_y+0.04"/>
                                          </p:val>
                                        </p:tav>
                                        <p:tav tm="100000">
                                          <p:val>
                                            <p:strVal val="#ppt_y"/>
                                          </p:val>
                                        </p:tav>
                                      </p:tavLst>
                                    </p:anim>
                                  </p:childTnLst>
                                </p:cTn>
                              </p:par>
                              <p:par>
                                <p:cTn id="62" presetID="42" presetClass="entr" presetSubtype="0" fill="hold" grpId="0" nodeType="withEffect">
                                  <p:stCondLst>
                                    <p:cond delay="41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50"/>
                                        <p:tgtEl>
                                          <p:spTgt spid="21"/>
                                        </p:tgtEl>
                                      </p:cBhvr>
                                    </p:animEffect>
                                    <p:anim calcmode="lin" valueType="num">
                                      <p:cBhvr>
                                        <p:cTn id="63" dur="550" decel="100000" fill="hold"/>
                                        <p:tgtEl>
                                          <p:spTgt spid="21"/>
                                        </p:tgtEl>
                                        <p:attrNameLst>
                                          <p:attrName>ppt_x</p:attrName>
                                        </p:attrNameLst>
                                      </p:cBhvr>
                                      <p:tavLst>
                                        <p:tav tm="0">
                                          <p:val>
                                            <p:strVal val="#ppt_x"/>
                                          </p:val>
                                        </p:tav>
                                        <p:tav tm="100000">
                                          <p:val>
                                            <p:strVal val="#ppt_x"/>
                                          </p:val>
                                        </p:tav>
                                      </p:tavLst>
                                    </p:anim>
                                    <p:anim calcmode="lin" valueType="num">
                                      <p:cBhvr>
                                        <p:cTn id="64" dur="550" decel="100000" fill="hold"/>
                                        <p:tgtEl>
                                          <p:spTgt spid="21"/>
                                        </p:tgtEl>
                                        <p:attrNameLst>
                                          <p:attrName>ppt_y</p:attrName>
                                        </p:attrNameLst>
                                      </p:cBhvr>
                                      <p:tavLst>
                                        <p:tav tm="0">
                                          <p:val>
                                            <p:strVal val="#ppt_y+0.04"/>
                                          </p:val>
                                        </p:tav>
                                        <p:tav tm="100000">
                                          <p:val>
                                            <p:strVal val="#ppt_y"/>
                                          </p:val>
                                        </p:tav>
                                      </p:tavLst>
                                    </p:anim>
                                  </p:childTnLst>
                                </p:cTn>
                              </p:par>
                              <p:par>
                                <p:cTn id="67" presetID="10" presetClass="entr" presetSubtype="0" fill="hold" grpId="0" nodeType="withEffect">
                                  <p:stCondLst>
                                    <p:cond delay="54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50"/>
                                        <p:tgtEl>
                                          <p:spTgt spid="22"/>
                                        </p:tgtEl>
                                      </p:cBhvr>
                                    </p:animEffect>
                                  </p:childTnLst>
                                </p:cTn>
                              </p:par>
                              <p:par>
                                <p:cTn id="70" presetID="53" presetClass="entr" presetSubtype="16" fill="hold" grpId="0" nodeType="withEffect">
                                  <p:stCondLst>
                                    <p:cond delay="670"/>
                                  </p:stCondLst>
                                  <p:childTnLst>
                                    <p:set>
                                      <p:cBhvr>
                                        <p:cTn id="68" dur="1" fill="hold">
                                          <p:stCondLst>
                                            <p:cond delay="0"/>
                                          </p:stCondLst>
                                        </p:cTn>
                                        <p:tgtEl>
                                          <p:spTgt spid="24"/>
                                        </p:tgtEl>
                                        <p:attrNameLst>
                                          <p:attrName>style.visibility</p:attrName>
                                        </p:attrNameLst>
                                      </p:cBhvr>
                                      <p:to>
                                        <p:strVal val="visible"/>
                                      </p:to>
                                    </p:set>
                                    <p:anim calcmode="lin" valueType="num">
                                      <p:cBhvr>
                                        <p:cTn id="71" dur="600" decel="100000" fill="hold"/>
                                        <p:tgtEl>
                                          <p:spTgt spid="24"/>
                                        </p:tgtEl>
                                        <p:attrNameLst>
                                          <p:attrName>ppt_w</p:attrName>
                                        </p:attrNameLst>
                                      </p:cBhvr>
                                      <p:tavLst>
                                        <p:tav tm="0">
                                          <p:val>
                                            <p:strVal val="#ppt_w*0.7"/>
                                          </p:val>
                                        </p:tav>
                                        <p:tav tm="100000">
                                          <p:val>
                                            <p:strVal val="#ppt_w"/>
                                          </p:val>
                                        </p:tav>
                                      </p:tavLst>
                                    </p:anim>
                                    <p:anim calcmode="lin" valueType="num">
                                      <p:cBhvr>
                                        <p:cTn id="72" dur="600" decel="100000" fill="hold"/>
                                        <p:tgtEl>
                                          <p:spTgt spid="24"/>
                                        </p:tgtEl>
                                        <p:attrNameLst>
                                          <p:attrName>ppt_h</p:attrName>
                                        </p:attrNameLst>
                                      </p:cBhvr>
                                      <p:tavLst>
                                        <p:tav tm="0">
                                          <p:val>
                                            <p:strVal val="#ppt_h*0.7"/>
                                          </p:val>
                                        </p:tav>
                                        <p:tav tm="100000">
                                          <p:val>
                                            <p:strVal val="#ppt_h"/>
                                          </p:val>
                                        </p:tav>
                                      </p:tavLst>
                                    </p:anim>
                                    <p:animEffect transition="in" filter="fade">
                                      <p:cBhvr>
                                        <p:cTn id="69" dur="6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6" grpId="0" animBg="1"/>
      <p:bldP spid="17" grpId="0" animBg="1"/>
      <p:bldP spid="18" grpId="0" animBg="1"/>
      <p:bldP spid="20" grpId="0" animBg="1"/>
      <p:bldP spid="21" grpId="0" animBg="1"/>
      <p:bldP spid="22" grpId="0" animBg="1"/>
    </p:bldLst>
  </p:timing>
</p:sld>
</file>

<file path=ppt/slides/slide5.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5">
    <p:bg>
      <p:bgPr>
        <a:solidFill>
          <a:srgbClr val="0A0405"/>
        </a:solidFill>
      </p:bgPr>
    </p:bg>
    <p:spTree>
      <p:nvGrpSpPr>
        <p:cNvPr id="1" name=""/>
        <p:cNvGrpSpPr/>
        <p:nvPr/>
      </p:nvGrpSpPr>
      <p:grpSpPr>
        <a:xfrm>
          <a:off x="0" y="0"/>
          <a:ext cx="0" cy="0"/>
          <a:chOff x="0" y="0"/>
          <a:chExt cx="0" cy="0"/>
        </a:xfrm>
      </p:grpSpPr>
      <p:pic>
        <p:nvPicPr>
          <p:cNvPr id="2" name="!!bg" descr="Ancient Chinese scroll and Egyptian papyrus lit by an oil lamp">    </p:cNvPr>
          <p:cNvPicPr>
            <a:picLocks noChangeAspect="1"/>
          </p:cNvPicPr>
          <p:nvPr/>
        </p:nvPicPr>
        <p:blipFill>
          <a:blip r:embed="rId1"/>
          <a:stretch>
            <a:fillRect/>
          </a:stretch>
        </p:blipFill>
        <p:spPr>
          <a:xfrm>
            <a:off x="0" y="0"/>
            <a:ext cx="12191695" cy="6858000"/>
          </a:xfrm>
          <a:prstGeom prst="rect">
            <a:avLst/>
          </a:prstGeom>
        </p:spPr>
      </p:pic>
      <p:pic>
        <p:nvPicPr>
          <p:cNvPr id="3" name="!!shade" descr="/home/user/mdist-tracker/presentations/malaria/build/shade_L.png">    </p:cNvPr>
          <p:cNvPicPr>
            <a:picLocks noChangeAspect="1"/>
          </p:cNvPicPr>
          <p:nvPr/>
        </p:nvPicPr>
        <p:blipFill>
          <a:blip r:embed="rId2"/>
          <a:stretch>
            <a:fillRect/>
          </a:stretch>
        </p:blipFill>
        <p:spPr>
          <a:xfrm>
            <a:off x="0" y="0"/>
            <a:ext cx="12191695" cy="6858000"/>
          </a:xfrm>
          <a:prstGeom prst="rect">
            <a:avLst/>
          </a:prstGeom>
        </p:spPr>
      </p:pic>
      <p:sp>
        <p:nvSpPr>
          <p:cNvPr id="4" name="!!pill"/>
          <p:cNvSpPr/>
          <p:nvPr/>
        </p:nvSpPr>
        <p:spPr>
          <a:xfrm>
            <a:off x="548640" y="411480"/>
            <a:ext cx="1598371" cy="274320"/>
          </a:xfrm>
          <a:prstGeom prst="roundRect">
            <a:avLst>
              <a:gd name="adj" fmla="val 50000"/>
            </a:avLst>
          </a:prstGeom>
          <a:solidFill>
            <a:srgbClr val="0A0405">
              <a:alpha val="65000"/>
            </a:srgbClr>
          </a:solidFill>
          <a:ln w="9525">
            <a:solidFill>
              <a:srgbClr val="7A3038"/>
            </a:solidFill>
            <a:prstDash val="solid"/>
          </a:ln>
        </p:spPr>
      </p:sp>
      <p:sp>
        <p:nvSpPr>
          <p:cNvPr id="5" name="!!pilltext"/>
          <p:cNvSpPr txBox="1"/>
          <p:nvPr/>
        </p:nvSpPr>
        <p:spPr>
          <a:xfrm>
            <a:off x="548640" y="411480"/>
            <a:ext cx="1598371" cy="274320"/>
          </a:xfrm>
          <a:prstGeom prst="rect">
            <a:avLst/>
          </a:prstGeom>
          <a:noFill/>
          <a:ln/>
        </p:spPr>
        <p:txBody>
          <a:bodyPr wrap="square" lIns="0" tIns="0" rIns="0" bIns="0" rtlCol="0" anchor="ctr"/>
          <a:lstStyle/>
          <a:p>
            <a:pPr algn="ctr" indent="0" marL="0">
              <a:buNone/>
            </a:pPr>
            <a:r>
              <a:rPr lang="en-US" sz="1000" b="1" spc="150" kern="0" dirty="0">
                <a:solidFill>
                  <a:srgbClr val="C9B2AE"/>
                </a:solidFill>
                <a:latin typeface="Arial" pitchFamily="34" charset="0"/>
                <a:ea typeface="Arial" pitchFamily="34" charset="-122"/>
                <a:cs typeface="Arial" pitchFamily="34" charset="-120"/>
              </a:rPr>
              <a:t>02 · HISTORY</a:t>
            </a:r>
            <a:endParaRPr lang="en-US" sz="1000" dirty="0"/>
          </a:p>
        </p:txBody>
      </p:sp>
      <p:pic>
        <p:nvPicPr>
          <p:cNvPr id="6" name="!!title" descr="First records">    </p:cNvPr>
          <p:cNvPicPr>
            <a:picLocks noChangeAspect="1"/>
          </p:cNvPicPr>
          <p:nvPr/>
        </p:nvPicPr>
        <p:blipFill>
          <a:blip r:embed="rId3"/>
          <a:stretch>
            <a:fillRect/>
          </a:stretch>
        </p:blipFill>
        <p:spPr>
          <a:xfrm>
            <a:off x="521208" y="822960"/>
            <a:ext cx="5069979" cy="530721"/>
          </a:xfrm>
          <a:prstGeom prst="rect">
            <a:avLst/>
          </a:prstGeom>
        </p:spPr>
      </p:pic>
      <p:pic>
        <p:nvPicPr>
          <p:cNvPr id="7" name="!!crest" descr="MDIS Tashkent crest">    </p:cNvPr>
          <p:cNvPicPr>
            <a:picLocks noChangeAspect="1"/>
          </p:cNvPicPr>
          <p:nvPr/>
        </p:nvPicPr>
        <p:blipFill>
          <a:blip r:embed="rId4"/>
          <a:stretch>
            <a:fillRect/>
          </a:stretch>
        </p:blipFill>
        <p:spPr>
          <a:xfrm>
            <a:off x="11249708" y="384048"/>
            <a:ext cx="393347" cy="384048"/>
          </a:xfrm>
          <a:prstGeom prst="rect">
            <a:avLst/>
          </a:prstGeom>
        </p:spPr>
      </p:pic>
      <p:sp>
        <p:nvSpPr>
          <p:cNvPr id="8" name="Text 2"/>
          <p:cNvSpPr txBox="1"/>
          <p:nvPr/>
        </p:nvSpPr>
        <p:spPr>
          <a:xfrm>
            <a:off x="548640" y="6382512"/>
            <a:ext cx="7863840" cy="256032"/>
          </a:xfrm>
          <a:prstGeom prst="rect">
            <a:avLst/>
          </a:prstGeom>
          <a:noFill/>
          <a:ln/>
        </p:spPr>
        <p:txBody>
          <a:bodyPr wrap="square" lIns="0" tIns="0" rIns="0" bIns="0" rtlCol="0" anchor="ctr"/>
          <a:lstStyle/>
          <a:p>
            <a:pPr indent="0" marL="0">
              <a:buNone/>
            </a:pPr>
            <a:r>
              <a:rPr lang="en-US" sz="1000" dirty="0">
                <a:solidFill>
                  <a:srgbClr val="9C8380"/>
                </a:solidFill>
                <a:latin typeface="Arial" pitchFamily="34" charset="0"/>
                <a:ea typeface="Arial" pitchFamily="34" charset="-122"/>
                <a:cs typeface="Arial" pitchFamily="34" charset="-120"/>
              </a:rPr>
              <a:t>Source: Cox (2010); Hawass et al. (2010)</a:t>
            </a:r>
            <a:endParaRPr lang="en-US" sz="1000" dirty="0"/>
          </a:p>
        </p:txBody>
      </p:sp>
      <p:sp>
        <p:nvSpPr>
          <p:cNvPr id="9" name="Text 3"/>
          <p:cNvSpPr txBox="1"/>
          <p:nvPr/>
        </p:nvSpPr>
        <p:spPr>
          <a:xfrm>
            <a:off x="7802575" y="6382512"/>
            <a:ext cx="3840480" cy="256032"/>
          </a:xfrm>
          <a:prstGeom prst="rect">
            <a:avLst/>
          </a:prstGeom>
          <a:noFill/>
          <a:ln/>
        </p:spPr>
        <p:txBody>
          <a:bodyPr wrap="square" lIns="0" tIns="0" rIns="0" bIns="0" rtlCol="0" anchor="ctr"/>
          <a:lstStyle/>
          <a:p>
            <a:pPr algn="r" indent="0" marL="0">
              <a:buNone/>
            </a:pPr>
            <a:r>
              <a:rPr lang="en-US" sz="1000" b="1" spc="100" kern="0" dirty="0">
                <a:solidFill>
                  <a:srgbClr val="C9B2AE"/>
                </a:solidFill>
                <a:latin typeface="Arial" pitchFamily="34" charset="0"/>
                <a:ea typeface="Arial" pitchFamily="34" charset="-122"/>
                <a:cs typeface="Arial" pitchFamily="34" charset="-120"/>
              </a:rPr>
              <a:t>MUHAMMADRIZO ASATULLAYEV   ·   05 / 16</a:t>
            </a:r>
            <a:endParaRPr lang="en-US" sz="1000" dirty="0"/>
          </a:p>
        </p:txBody>
      </p:sp>
      <p:sp>
        <p:nvSpPr>
          <p:cNvPr id="10" name="fx:1:wipe:line"/>
          <p:cNvSpPr/>
          <p:nvPr/>
        </p:nvSpPr>
        <p:spPr>
          <a:xfrm>
            <a:off x="548640" y="2816352"/>
            <a:ext cx="11094415" cy="0"/>
          </a:xfrm>
          <a:prstGeom prst="line">
            <a:avLst/>
          </a:prstGeom>
          <a:noFill/>
          <a:ln w="12700">
            <a:solidFill>
              <a:srgbClr val="7A3038"/>
            </a:solidFill>
            <a:prstDash val="solid"/>
          </a:ln>
        </p:spPr>
      </p:sp>
      <p:pic>
        <p:nvPicPr>
          <p:cNvPr id="11" name="fx:2:up:place0" descr="China">    </p:cNvPr>
          <p:cNvPicPr>
            <a:picLocks noChangeAspect="1"/>
          </p:cNvPicPr>
          <p:nvPr/>
        </p:nvPicPr>
        <p:blipFill>
          <a:blip r:embed="rId5"/>
          <a:stretch>
            <a:fillRect/>
          </a:stretch>
        </p:blipFill>
        <p:spPr>
          <a:xfrm>
            <a:off x="548640" y="2084832"/>
            <a:ext cx="1275457" cy="335012"/>
          </a:xfrm>
          <a:prstGeom prst="rect">
            <a:avLst/>
          </a:prstGeom>
        </p:spPr>
      </p:pic>
      <p:sp>
        <p:nvSpPr>
          <p:cNvPr id="12" name="fx:2:zoom:node0"/>
          <p:cNvSpPr/>
          <p:nvPr/>
        </p:nvSpPr>
        <p:spPr>
          <a:xfrm>
            <a:off x="566928" y="2743200"/>
            <a:ext cx="146304" cy="146304"/>
          </a:xfrm>
          <a:prstGeom prst="diamond">
            <a:avLst/>
          </a:prstGeom>
          <a:solidFill>
            <a:srgbClr val="E5333D"/>
          </a:solidFill>
          <a:ln w="12700">
            <a:solidFill>
              <a:srgbClr val="E5333D"/>
            </a:solidFill>
            <a:prstDash val="solid"/>
          </a:ln>
        </p:spPr>
      </p:sp>
      <p:sp>
        <p:nvSpPr>
          <p:cNvPr id="13" name="fx:2:up:card0"/>
          <p:cNvSpPr/>
          <p:nvPr/>
        </p:nvSpPr>
        <p:spPr>
          <a:xfrm>
            <a:off x="548640" y="3090672"/>
            <a:ext cx="2651760" cy="2697480"/>
          </a:xfrm>
          <a:prstGeom prst="roundRect">
            <a:avLst>
              <a:gd name="adj" fmla="val 3103"/>
            </a:avLst>
          </a:prstGeom>
          <a:solidFill>
            <a:srgbClr val="1C080B">
              <a:alpha val="78000"/>
            </a:srgbClr>
          </a:solidFill>
          <a:ln w="9525">
            <a:solidFill>
              <a:srgbClr val="7A3038"/>
            </a:solidFill>
            <a:prstDash val="solid"/>
          </a:ln>
        </p:spPr>
      </p:sp>
      <p:sp>
        <p:nvSpPr>
          <p:cNvPr id="14" name="fx:2:up:date0"/>
          <p:cNvSpPr txBox="1"/>
          <p:nvPr/>
        </p:nvSpPr>
        <p:spPr>
          <a:xfrm>
            <a:off x="749808" y="3291840"/>
            <a:ext cx="2249424" cy="219456"/>
          </a:xfrm>
          <a:prstGeom prst="rect">
            <a:avLst/>
          </a:prstGeom>
          <a:noFill/>
          <a:ln/>
        </p:spPr>
        <p:txBody>
          <a:bodyPr wrap="square" lIns="0" tIns="0" rIns="0" bIns="0" rtlCol="0" anchor="t"/>
          <a:lstStyle/>
          <a:p>
            <a:pPr indent="0" marL="0">
              <a:buNone/>
            </a:pPr>
            <a:r>
              <a:rPr lang="en-US" sz="1000" b="1" spc="200" kern="0" dirty="0">
                <a:solidFill>
                  <a:srgbClr val="E5333D"/>
                </a:solidFill>
                <a:latin typeface="Arial" pitchFamily="34" charset="0"/>
                <a:ea typeface="Arial" pitchFamily="34" charset="-122"/>
                <a:cs typeface="Arial" pitchFamily="34" charset="-120"/>
              </a:rPr>
              <a:t>c. 2700 BC</a:t>
            </a:r>
            <a:endParaRPr lang="en-US" sz="1000" dirty="0"/>
          </a:p>
        </p:txBody>
      </p:sp>
      <p:sp>
        <p:nvSpPr>
          <p:cNvPr id="15" name="fx:2:up:hd0"/>
          <p:cNvSpPr txBox="1"/>
          <p:nvPr/>
        </p:nvSpPr>
        <p:spPr>
          <a:xfrm>
            <a:off x="749808" y="3566160"/>
            <a:ext cx="2249424" cy="658368"/>
          </a:xfrm>
          <a:prstGeom prst="rect">
            <a:avLst/>
          </a:prstGeom>
          <a:noFill/>
          <a:ln/>
        </p:spPr>
        <p:txBody>
          <a:bodyPr wrap="square" lIns="0" tIns="0" rIns="0" bIns="0" rtlCol="0" anchor="t"/>
          <a:lstStyle/>
          <a:p>
            <a:pPr indent="0" marL="0">
              <a:buNone/>
            </a:pPr>
            <a:r>
              <a:rPr lang="en-US" sz="1600" b="1" dirty="0">
                <a:solidFill>
                  <a:srgbClr val="F4ECE8"/>
                </a:solidFill>
                <a:latin typeface="Arial" pitchFamily="34" charset="0"/>
                <a:ea typeface="Arial" pitchFamily="34" charset="-122"/>
                <a:cs typeface="Arial" pitchFamily="34" charset="-120"/>
              </a:rPr>
              <a:t>Fevers that keep coming back</a:t>
            </a:r>
            <a:endParaRPr lang="en-US" sz="1600" dirty="0"/>
          </a:p>
        </p:txBody>
      </p:sp>
      <p:sp>
        <p:nvSpPr>
          <p:cNvPr id="16" name="fx:2:up:b0"/>
          <p:cNvSpPr txBox="1"/>
          <p:nvPr/>
        </p:nvSpPr>
        <p:spPr>
          <a:xfrm>
            <a:off x="749808" y="4279392"/>
            <a:ext cx="2249424" cy="1371600"/>
          </a:xfrm>
          <a:prstGeom prst="rect">
            <a:avLst/>
          </a:prstGeom>
          <a:noFill/>
          <a:ln/>
        </p:spPr>
        <p:txBody>
          <a:bodyPr wrap="square" lIns="0" tIns="0" rIns="0" bIns="0" rtlCol="0" anchor="t"/>
          <a:lstStyle/>
          <a:p>
            <a:pPr indent="0" marL="0">
              <a:buNone/>
            </a:pPr>
            <a:r>
              <a:rPr lang="en-US" sz="1200" dirty="0">
                <a:solidFill>
                  <a:srgbClr val="C9B2AE"/>
                </a:solidFill>
                <a:latin typeface="Arial" pitchFamily="34" charset="0"/>
                <a:ea typeface="Arial" pitchFamily="34" charset="-122"/>
                <a:cs typeface="Arial" pitchFamily="34" charset="-120"/>
              </a:rPr>
              <a:t>A Chinese medical text describes repeating fevers and an enlarged spleen.</a:t>
            </a:r>
            <a:endParaRPr lang="en-US" sz="1200" dirty="0"/>
          </a:p>
        </p:txBody>
      </p:sp>
      <p:pic>
        <p:nvPicPr>
          <p:cNvPr id="17" name="fx:3:up:place1" descr="Egypt">    </p:cNvPr>
          <p:cNvPicPr>
            <a:picLocks noChangeAspect="1"/>
          </p:cNvPicPr>
          <p:nvPr/>
        </p:nvPicPr>
        <p:blipFill>
          <a:blip r:embed="rId6"/>
          <a:stretch>
            <a:fillRect/>
          </a:stretch>
        </p:blipFill>
        <p:spPr>
          <a:xfrm>
            <a:off x="3331159" y="2084832"/>
            <a:ext cx="1354634" cy="335012"/>
          </a:xfrm>
          <a:prstGeom prst="rect">
            <a:avLst/>
          </a:prstGeom>
        </p:spPr>
      </p:pic>
      <p:sp>
        <p:nvSpPr>
          <p:cNvPr id="18" name="fx:3:zoom:node1"/>
          <p:cNvSpPr/>
          <p:nvPr/>
        </p:nvSpPr>
        <p:spPr>
          <a:xfrm>
            <a:off x="3349447" y="2743200"/>
            <a:ext cx="146304" cy="146304"/>
          </a:xfrm>
          <a:prstGeom prst="diamond">
            <a:avLst/>
          </a:prstGeom>
          <a:solidFill>
            <a:srgbClr val="E5333D"/>
          </a:solidFill>
          <a:ln w="12700">
            <a:solidFill>
              <a:srgbClr val="E5333D"/>
            </a:solidFill>
            <a:prstDash val="solid"/>
          </a:ln>
        </p:spPr>
      </p:sp>
      <p:sp>
        <p:nvSpPr>
          <p:cNvPr id="19" name="fx:3:up:card1"/>
          <p:cNvSpPr/>
          <p:nvPr/>
        </p:nvSpPr>
        <p:spPr>
          <a:xfrm>
            <a:off x="3331159" y="3090672"/>
            <a:ext cx="2651760" cy="2697480"/>
          </a:xfrm>
          <a:prstGeom prst="roundRect">
            <a:avLst>
              <a:gd name="adj" fmla="val 3103"/>
            </a:avLst>
          </a:prstGeom>
          <a:solidFill>
            <a:srgbClr val="1C080B">
              <a:alpha val="78000"/>
            </a:srgbClr>
          </a:solidFill>
          <a:ln w="9525">
            <a:solidFill>
              <a:srgbClr val="7A3038"/>
            </a:solidFill>
            <a:prstDash val="solid"/>
          </a:ln>
        </p:spPr>
      </p:sp>
      <p:sp>
        <p:nvSpPr>
          <p:cNvPr id="20" name="fx:3:up:date1"/>
          <p:cNvSpPr txBox="1"/>
          <p:nvPr/>
        </p:nvSpPr>
        <p:spPr>
          <a:xfrm>
            <a:off x="3532327" y="3291840"/>
            <a:ext cx="2249424" cy="219456"/>
          </a:xfrm>
          <a:prstGeom prst="rect">
            <a:avLst/>
          </a:prstGeom>
          <a:noFill/>
          <a:ln/>
        </p:spPr>
        <p:txBody>
          <a:bodyPr wrap="square" lIns="0" tIns="0" rIns="0" bIns="0" rtlCol="0" anchor="t"/>
          <a:lstStyle/>
          <a:p>
            <a:pPr indent="0" marL="0">
              <a:buNone/>
            </a:pPr>
            <a:r>
              <a:rPr lang="en-US" sz="1000" b="1" spc="200" kern="0" dirty="0">
                <a:solidFill>
                  <a:srgbClr val="E5333D"/>
                </a:solidFill>
                <a:latin typeface="Arial" pitchFamily="34" charset="0"/>
                <a:ea typeface="Arial" pitchFamily="34" charset="-122"/>
                <a:cs typeface="Arial" pitchFamily="34" charset="-120"/>
              </a:rPr>
              <a:t>1570 BC</a:t>
            </a:r>
            <a:endParaRPr lang="en-US" sz="1000" dirty="0"/>
          </a:p>
        </p:txBody>
      </p:sp>
      <p:sp>
        <p:nvSpPr>
          <p:cNvPr id="21" name="fx:3:up:hd1"/>
          <p:cNvSpPr txBox="1"/>
          <p:nvPr/>
        </p:nvSpPr>
        <p:spPr>
          <a:xfrm>
            <a:off x="3532327" y="3566160"/>
            <a:ext cx="2249424" cy="658368"/>
          </a:xfrm>
          <a:prstGeom prst="rect">
            <a:avLst/>
          </a:prstGeom>
          <a:noFill/>
          <a:ln/>
        </p:spPr>
        <p:txBody>
          <a:bodyPr wrap="square" lIns="0" tIns="0" rIns="0" bIns="0" rtlCol="0" anchor="t"/>
          <a:lstStyle/>
          <a:p>
            <a:pPr indent="0" marL="0">
              <a:buNone/>
            </a:pPr>
            <a:r>
              <a:rPr lang="en-US" sz="1600" b="1" dirty="0">
                <a:solidFill>
                  <a:srgbClr val="F4ECE8"/>
                </a:solidFill>
                <a:latin typeface="Arial" pitchFamily="34" charset="0"/>
                <a:ea typeface="Arial" pitchFamily="34" charset="-122"/>
                <a:cs typeface="Arial" pitchFamily="34" charset="-120"/>
              </a:rPr>
              <a:t>Papyri and a pharaoh</a:t>
            </a:r>
            <a:endParaRPr lang="en-US" sz="1600" dirty="0"/>
          </a:p>
        </p:txBody>
      </p:sp>
      <p:sp>
        <p:nvSpPr>
          <p:cNvPr id="22" name="fx:3:up:b1"/>
          <p:cNvSpPr txBox="1"/>
          <p:nvPr/>
        </p:nvSpPr>
        <p:spPr>
          <a:xfrm>
            <a:off x="3532327" y="4279392"/>
            <a:ext cx="2249424" cy="1371600"/>
          </a:xfrm>
          <a:prstGeom prst="rect">
            <a:avLst/>
          </a:prstGeom>
          <a:noFill/>
          <a:ln/>
        </p:spPr>
        <p:txBody>
          <a:bodyPr wrap="square" lIns="0" tIns="0" rIns="0" bIns="0" rtlCol="0" anchor="t"/>
          <a:lstStyle/>
          <a:p>
            <a:pPr indent="0" marL="0">
              <a:buNone/>
            </a:pPr>
            <a:r>
              <a:rPr lang="en-US" sz="1200" dirty="0">
                <a:solidFill>
                  <a:srgbClr val="C9B2AE"/>
                </a:solidFill>
                <a:latin typeface="Arial" pitchFamily="34" charset="0"/>
                <a:ea typeface="Arial" pitchFamily="34" charset="-122"/>
                <a:cs typeface="Arial" pitchFamily="34" charset="-120"/>
              </a:rPr>
              <a:t>Egyptian papyri describe fevers. In 2010, parasite DNA was found in Tutankhamun’s mummy.</a:t>
            </a:r>
            <a:endParaRPr lang="en-US" sz="1200" dirty="0"/>
          </a:p>
        </p:txBody>
      </p:sp>
      <p:pic>
        <p:nvPicPr>
          <p:cNvPr id="23" name="fx:4:up:place2" descr="Greece">    </p:cNvPr>
          <p:cNvPicPr>
            <a:picLocks noChangeAspect="1"/>
          </p:cNvPicPr>
          <p:nvPr/>
        </p:nvPicPr>
        <p:blipFill>
          <a:blip r:embed="rId7"/>
          <a:stretch>
            <a:fillRect/>
          </a:stretch>
        </p:blipFill>
        <p:spPr>
          <a:xfrm>
            <a:off x="6113678" y="2084832"/>
            <a:ext cx="1684437" cy="335012"/>
          </a:xfrm>
          <a:prstGeom prst="rect">
            <a:avLst/>
          </a:prstGeom>
        </p:spPr>
      </p:pic>
      <p:sp>
        <p:nvSpPr>
          <p:cNvPr id="24" name="fx:4:zoom:node2"/>
          <p:cNvSpPr/>
          <p:nvPr/>
        </p:nvSpPr>
        <p:spPr>
          <a:xfrm>
            <a:off x="6131966" y="2743200"/>
            <a:ext cx="146304" cy="146304"/>
          </a:xfrm>
          <a:prstGeom prst="diamond">
            <a:avLst/>
          </a:prstGeom>
          <a:solidFill>
            <a:srgbClr val="E5333D"/>
          </a:solidFill>
          <a:ln w="12700">
            <a:solidFill>
              <a:srgbClr val="E5333D"/>
            </a:solidFill>
            <a:prstDash val="solid"/>
          </a:ln>
        </p:spPr>
      </p:sp>
      <p:sp>
        <p:nvSpPr>
          <p:cNvPr id="25" name="fx:4:up:card2"/>
          <p:cNvSpPr/>
          <p:nvPr/>
        </p:nvSpPr>
        <p:spPr>
          <a:xfrm>
            <a:off x="6113678" y="3090672"/>
            <a:ext cx="2651760" cy="2697480"/>
          </a:xfrm>
          <a:prstGeom prst="roundRect">
            <a:avLst>
              <a:gd name="adj" fmla="val 3103"/>
            </a:avLst>
          </a:prstGeom>
          <a:solidFill>
            <a:srgbClr val="1C080B">
              <a:alpha val="78000"/>
            </a:srgbClr>
          </a:solidFill>
          <a:ln w="9525">
            <a:solidFill>
              <a:srgbClr val="7A3038"/>
            </a:solidFill>
            <a:prstDash val="solid"/>
          </a:ln>
        </p:spPr>
      </p:sp>
      <p:sp>
        <p:nvSpPr>
          <p:cNvPr id="26" name="fx:4:up:date2"/>
          <p:cNvSpPr txBox="1"/>
          <p:nvPr/>
        </p:nvSpPr>
        <p:spPr>
          <a:xfrm>
            <a:off x="6314846" y="3291840"/>
            <a:ext cx="2249424" cy="219456"/>
          </a:xfrm>
          <a:prstGeom prst="rect">
            <a:avLst/>
          </a:prstGeom>
          <a:noFill/>
          <a:ln/>
        </p:spPr>
        <p:txBody>
          <a:bodyPr wrap="square" lIns="0" tIns="0" rIns="0" bIns="0" rtlCol="0" anchor="t"/>
          <a:lstStyle/>
          <a:p>
            <a:pPr indent="0" marL="0">
              <a:buNone/>
            </a:pPr>
            <a:r>
              <a:rPr lang="en-US" sz="1000" b="1" spc="200" kern="0" dirty="0">
                <a:solidFill>
                  <a:srgbClr val="E5333D"/>
                </a:solidFill>
                <a:latin typeface="Arial" pitchFamily="34" charset="0"/>
                <a:ea typeface="Arial" pitchFamily="34" charset="-122"/>
                <a:cs typeface="Arial" pitchFamily="34" charset="-120"/>
              </a:rPr>
              <a:t>c. 400 BC</a:t>
            </a:r>
            <a:endParaRPr lang="en-US" sz="1000" dirty="0"/>
          </a:p>
        </p:txBody>
      </p:sp>
      <p:sp>
        <p:nvSpPr>
          <p:cNvPr id="27" name="fx:4:up:hd2"/>
          <p:cNvSpPr txBox="1"/>
          <p:nvPr/>
        </p:nvSpPr>
        <p:spPr>
          <a:xfrm>
            <a:off x="6314846" y="3566160"/>
            <a:ext cx="2249424" cy="658368"/>
          </a:xfrm>
          <a:prstGeom prst="rect">
            <a:avLst/>
          </a:prstGeom>
          <a:noFill/>
          <a:ln/>
        </p:spPr>
        <p:txBody>
          <a:bodyPr wrap="square" lIns="0" tIns="0" rIns="0" bIns="0" rtlCol="0" anchor="t"/>
          <a:lstStyle/>
          <a:p>
            <a:pPr indent="0" marL="0">
              <a:buNone/>
            </a:pPr>
            <a:r>
              <a:rPr lang="en-US" sz="1600" b="1" dirty="0">
                <a:solidFill>
                  <a:srgbClr val="F4ECE8"/>
                </a:solidFill>
                <a:latin typeface="Arial" pitchFamily="34" charset="0"/>
                <a:ea typeface="Arial" pitchFamily="34" charset="-122"/>
                <a:cs typeface="Arial" pitchFamily="34" charset="-120"/>
              </a:rPr>
              <a:t>Hippocrates and the marshes</a:t>
            </a:r>
            <a:endParaRPr lang="en-US" sz="1600" dirty="0"/>
          </a:p>
        </p:txBody>
      </p:sp>
      <p:sp>
        <p:nvSpPr>
          <p:cNvPr id="28" name="fx:4:up:b2"/>
          <p:cNvSpPr txBox="1"/>
          <p:nvPr/>
        </p:nvSpPr>
        <p:spPr>
          <a:xfrm>
            <a:off x="6314846" y="4279392"/>
            <a:ext cx="2249424" cy="1371600"/>
          </a:xfrm>
          <a:prstGeom prst="rect">
            <a:avLst/>
          </a:prstGeom>
          <a:noFill/>
          <a:ln/>
        </p:spPr>
        <p:txBody>
          <a:bodyPr wrap="square" lIns="0" tIns="0" rIns="0" bIns="0" rtlCol="0" anchor="t"/>
          <a:lstStyle/>
          <a:p>
            <a:pPr indent="0" marL="0">
              <a:buNone/>
            </a:pPr>
            <a:r>
              <a:rPr lang="en-US" sz="1200" dirty="0">
                <a:solidFill>
                  <a:srgbClr val="C9B2AE"/>
                </a:solidFill>
                <a:latin typeface="Arial" pitchFamily="34" charset="0"/>
                <a:ea typeface="Arial" pitchFamily="34" charset="-122"/>
                <a:cs typeface="Arial" pitchFamily="34" charset="-120"/>
              </a:rPr>
              <a:t>He links the fevers to life near marshes and stagnant water.</a:t>
            </a:r>
            <a:endParaRPr lang="en-US" sz="1200" dirty="0"/>
          </a:p>
        </p:txBody>
      </p:sp>
      <p:pic>
        <p:nvPicPr>
          <p:cNvPr id="29" name="fx:5:up:place3" descr="Italy">    </p:cNvPr>
          <p:cNvPicPr>
            <a:picLocks noChangeAspect="1"/>
          </p:cNvPicPr>
          <p:nvPr/>
        </p:nvPicPr>
        <p:blipFill>
          <a:blip r:embed="rId8"/>
          <a:stretch>
            <a:fillRect/>
          </a:stretch>
        </p:blipFill>
        <p:spPr>
          <a:xfrm>
            <a:off x="8896198" y="2084832"/>
            <a:ext cx="1031230" cy="335012"/>
          </a:xfrm>
          <a:prstGeom prst="rect">
            <a:avLst/>
          </a:prstGeom>
        </p:spPr>
      </p:pic>
      <p:sp>
        <p:nvSpPr>
          <p:cNvPr id="30" name="fx:5:zoom:node3"/>
          <p:cNvSpPr/>
          <p:nvPr/>
        </p:nvSpPr>
        <p:spPr>
          <a:xfrm>
            <a:off x="8914486" y="2743200"/>
            <a:ext cx="146304" cy="146304"/>
          </a:xfrm>
          <a:prstGeom prst="diamond">
            <a:avLst/>
          </a:prstGeom>
          <a:solidFill>
            <a:srgbClr val="E5333D"/>
          </a:solidFill>
          <a:ln w="12700">
            <a:solidFill>
              <a:srgbClr val="E5333D"/>
            </a:solidFill>
            <a:prstDash val="solid"/>
          </a:ln>
        </p:spPr>
      </p:sp>
      <p:sp>
        <p:nvSpPr>
          <p:cNvPr id="31" name="fx:5:up:card3"/>
          <p:cNvSpPr/>
          <p:nvPr/>
        </p:nvSpPr>
        <p:spPr>
          <a:xfrm>
            <a:off x="8896198" y="3090672"/>
            <a:ext cx="2651760" cy="2697480"/>
          </a:xfrm>
          <a:prstGeom prst="roundRect">
            <a:avLst>
              <a:gd name="adj" fmla="val 3103"/>
            </a:avLst>
          </a:prstGeom>
          <a:solidFill>
            <a:srgbClr val="1C080B">
              <a:alpha val="78000"/>
            </a:srgbClr>
          </a:solidFill>
          <a:ln w="9525">
            <a:solidFill>
              <a:srgbClr val="7A3038"/>
            </a:solidFill>
            <a:prstDash val="solid"/>
          </a:ln>
        </p:spPr>
      </p:sp>
      <p:sp>
        <p:nvSpPr>
          <p:cNvPr id="32" name="fx:5:up:date3"/>
          <p:cNvSpPr txBox="1"/>
          <p:nvPr/>
        </p:nvSpPr>
        <p:spPr>
          <a:xfrm>
            <a:off x="9097366" y="3291840"/>
            <a:ext cx="2249424" cy="219456"/>
          </a:xfrm>
          <a:prstGeom prst="rect">
            <a:avLst/>
          </a:prstGeom>
          <a:noFill/>
          <a:ln/>
        </p:spPr>
        <p:txBody>
          <a:bodyPr wrap="square" lIns="0" tIns="0" rIns="0" bIns="0" rtlCol="0" anchor="t"/>
          <a:lstStyle/>
          <a:p>
            <a:pPr indent="0" marL="0">
              <a:buNone/>
            </a:pPr>
            <a:r>
              <a:rPr lang="en-US" sz="1000" b="1" spc="200" kern="0" dirty="0">
                <a:solidFill>
                  <a:srgbClr val="E5333D"/>
                </a:solidFill>
                <a:latin typeface="Arial" pitchFamily="34" charset="0"/>
                <a:ea typeface="Arial" pitchFamily="34" charset="-122"/>
                <a:cs typeface="Arial" pitchFamily="34" charset="-120"/>
              </a:rPr>
              <a:t>THE NAME</a:t>
            </a:r>
            <a:endParaRPr lang="en-US" sz="1000" dirty="0"/>
          </a:p>
        </p:txBody>
      </p:sp>
      <p:sp>
        <p:nvSpPr>
          <p:cNvPr id="33" name="fx:5:up:hd3"/>
          <p:cNvSpPr txBox="1"/>
          <p:nvPr/>
        </p:nvSpPr>
        <p:spPr>
          <a:xfrm>
            <a:off x="9097366" y="3566160"/>
            <a:ext cx="2249424" cy="658368"/>
          </a:xfrm>
          <a:prstGeom prst="rect">
            <a:avLst/>
          </a:prstGeom>
          <a:noFill/>
          <a:ln/>
        </p:spPr>
        <p:txBody>
          <a:bodyPr wrap="square" lIns="0" tIns="0" rIns="0" bIns="0" rtlCol="0" anchor="t"/>
          <a:lstStyle/>
          <a:p>
            <a:pPr indent="0" marL="0">
              <a:buNone/>
            </a:pPr>
            <a:r>
              <a:rPr lang="en-US" sz="1600" b="1" dirty="0">
                <a:solidFill>
                  <a:srgbClr val="F4ECE8"/>
                </a:solidFill>
                <a:latin typeface="Arial" pitchFamily="34" charset="0"/>
                <a:ea typeface="Arial" pitchFamily="34" charset="-122"/>
                <a:cs typeface="Arial" pitchFamily="34" charset="-120"/>
              </a:rPr>
              <a:t>Mal aria = “bad air”</a:t>
            </a:r>
            <a:endParaRPr lang="en-US" sz="1600" dirty="0"/>
          </a:p>
        </p:txBody>
      </p:sp>
      <p:sp>
        <p:nvSpPr>
          <p:cNvPr id="34" name="fx:5:up:b3"/>
          <p:cNvSpPr txBox="1"/>
          <p:nvPr/>
        </p:nvSpPr>
        <p:spPr>
          <a:xfrm>
            <a:off x="9097366" y="4279392"/>
            <a:ext cx="2249424" cy="1371600"/>
          </a:xfrm>
          <a:prstGeom prst="rect">
            <a:avLst/>
          </a:prstGeom>
          <a:noFill/>
          <a:ln/>
        </p:spPr>
        <p:txBody>
          <a:bodyPr wrap="square" lIns="0" tIns="0" rIns="0" bIns="0" rtlCol="0" anchor="t"/>
          <a:lstStyle/>
          <a:p>
            <a:pPr indent="0" marL="0">
              <a:buNone/>
            </a:pPr>
            <a:r>
              <a:rPr lang="en-US" sz="1200" dirty="0">
                <a:solidFill>
                  <a:srgbClr val="C9B2AE"/>
                </a:solidFill>
                <a:latin typeface="Arial" pitchFamily="34" charset="0"/>
                <a:ea typeface="Arial" pitchFamily="34" charset="-122"/>
                <a:cs typeface="Arial" pitchFamily="34" charset="-120"/>
              </a:rPr>
              <a:t>People blamed the air of the swamps, and the disease got its name.</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grpId="0" nodeType="afterEffect">
                                  <p:stCondLst>
                                    <p:cond delay="15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8" dur="900"/>
                                        <p:tgtEl>
                                          <p:spTgt spid="10"/>
                                        </p:tgtEl>
                                      </p:cBhvr>
                                    </p:animEffect>
                                  </p:childTnLst>
                                </p:cTn>
                              </p:par>
                              <p:par>
                                <p:cTn id="11" presetID="42" presetClass="entr" presetSubtype="0" fill="hold" grpId="0" nodeType="withEffect">
                                  <p:stCondLst>
                                    <p:cond delay="28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50"/>
                                        <p:tgtEl>
                                          <p:spTgt spid="11"/>
                                        </p:tgtEl>
                                      </p:cBhvr>
                                    </p:animEffect>
                                    <p:anim calcmode="lin" valueType="num">
                                      <p:cBhvr>
                                        <p:cTn id="12" dur="550" decel="100000" fill="hold"/>
                                        <p:tgtEl>
                                          <p:spTgt spid="11"/>
                                        </p:tgtEl>
                                        <p:attrNameLst>
                                          <p:attrName>ppt_x</p:attrName>
                                        </p:attrNameLst>
                                      </p:cBhvr>
                                      <p:tavLst>
                                        <p:tav tm="0">
                                          <p:val>
                                            <p:strVal val="#ppt_x"/>
                                          </p:val>
                                        </p:tav>
                                        <p:tav tm="100000">
                                          <p:val>
                                            <p:strVal val="#ppt_x"/>
                                          </p:val>
                                        </p:tav>
                                      </p:tavLst>
                                    </p:anim>
                                    <p:anim calcmode="lin" valueType="num">
                                      <p:cBhvr>
                                        <p:cTn id="13" dur="550" decel="100000" fill="hold"/>
                                        <p:tgtEl>
                                          <p:spTgt spid="11"/>
                                        </p:tgtEl>
                                        <p:attrNameLst>
                                          <p:attrName>ppt_y</p:attrName>
                                        </p:attrNameLst>
                                      </p:cBhvr>
                                      <p:tavLst>
                                        <p:tav tm="0">
                                          <p:val>
                                            <p:strVal val="#ppt_y+0.04"/>
                                          </p:val>
                                        </p:tav>
                                        <p:tav tm="100000">
                                          <p:val>
                                            <p:strVal val="#ppt_y"/>
                                          </p:val>
                                        </p:tav>
                                      </p:tavLst>
                                    </p:anim>
                                  </p:childTnLst>
                                </p:cTn>
                              </p:par>
                              <p:par>
                                <p:cTn id="16" presetID="53" presetClass="entr" presetSubtype="16" fill="hold" grpId="0" nodeType="withEffect">
                                  <p:stCondLst>
                                    <p:cond delay="280"/>
                                  </p:stCondLst>
                                  <p:childTnLst>
                                    <p:set>
                                      <p:cBhvr>
                                        <p:cTn id="14" dur="1" fill="hold">
                                          <p:stCondLst>
                                            <p:cond delay="0"/>
                                          </p:stCondLst>
                                        </p:cTn>
                                        <p:tgtEl>
                                          <p:spTgt spid="12"/>
                                        </p:tgtEl>
                                        <p:attrNameLst>
                                          <p:attrName>style.visibility</p:attrName>
                                        </p:attrNameLst>
                                      </p:cBhvr>
                                      <p:to>
                                        <p:strVal val="visible"/>
                                      </p:to>
                                    </p:set>
                                    <p:anim calcmode="lin" valueType="num">
                                      <p:cBhvr>
                                        <p:cTn id="17" dur="600" decel="100000" fill="hold"/>
                                        <p:tgtEl>
                                          <p:spTgt spid="12"/>
                                        </p:tgtEl>
                                        <p:attrNameLst>
                                          <p:attrName>ppt_w</p:attrName>
                                        </p:attrNameLst>
                                      </p:cBhvr>
                                      <p:tavLst>
                                        <p:tav tm="0">
                                          <p:val>
                                            <p:strVal val="#ppt_w*0.7"/>
                                          </p:val>
                                        </p:tav>
                                        <p:tav tm="100000">
                                          <p:val>
                                            <p:strVal val="#ppt_w"/>
                                          </p:val>
                                        </p:tav>
                                      </p:tavLst>
                                    </p:anim>
                                    <p:anim calcmode="lin" valueType="num">
                                      <p:cBhvr>
                                        <p:cTn id="18" dur="600" decel="100000" fill="hold"/>
                                        <p:tgtEl>
                                          <p:spTgt spid="12"/>
                                        </p:tgtEl>
                                        <p:attrNameLst>
                                          <p:attrName>ppt_h</p:attrName>
                                        </p:attrNameLst>
                                      </p:cBhvr>
                                      <p:tavLst>
                                        <p:tav tm="0">
                                          <p:val>
                                            <p:strVal val="#ppt_h*0.7"/>
                                          </p:val>
                                        </p:tav>
                                        <p:tav tm="100000">
                                          <p:val>
                                            <p:strVal val="#ppt_h"/>
                                          </p:val>
                                        </p:tav>
                                      </p:tavLst>
                                    </p:anim>
                                    <p:animEffect transition="in" filter="fade">
                                      <p:cBhvr>
                                        <p:cTn id="15" dur="600"/>
                                        <p:tgtEl>
                                          <p:spTgt spid="12"/>
                                        </p:tgtEl>
                                      </p:cBhvr>
                                    </p:animEffect>
                                  </p:childTnLst>
                                </p:cTn>
                              </p:par>
                              <p:par>
                                <p:cTn id="21" presetID="42" presetClass="entr" presetSubtype="0" fill="hold" grpId="0" nodeType="withEffect">
                                  <p:stCondLst>
                                    <p:cond delay="28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50"/>
                                        <p:tgtEl>
                                          <p:spTgt spid="13"/>
                                        </p:tgtEl>
                                      </p:cBhvr>
                                    </p:animEffect>
                                    <p:anim calcmode="lin" valueType="num">
                                      <p:cBhvr>
                                        <p:cTn id="22" dur="550" decel="100000" fill="hold"/>
                                        <p:tgtEl>
                                          <p:spTgt spid="13"/>
                                        </p:tgtEl>
                                        <p:attrNameLst>
                                          <p:attrName>ppt_x</p:attrName>
                                        </p:attrNameLst>
                                      </p:cBhvr>
                                      <p:tavLst>
                                        <p:tav tm="0">
                                          <p:val>
                                            <p:strVal val="#ppt_x"/>
                                          </p:val>
                                        </p:tav>
                                        <p:tav tm="100000">
                                          <p:val>
                                            <p:strVal val="#ppt_x"/>
                                          </p:val>
                                        </p:tav>
                                      </p:tavLst>
                                    </p:anim>
                                    <p:anim calcmode="lin" valueType="num">
                                      <p:cBhvr>
                                        <p:cTn id="23" dur="550" decel="100000" fill="hold"/>
                                        <p:tgtEl>
                                          <p:spTgt spid="13"/>
                                        </p:tgtEl>
                                        <p:attrNameLst>
                                          <p:attrName>ppt_y</p:attrName>
                                        </p:attrNameLst>
                                      </p:cBhvr>
                                      <p:tavLst>
                                        <p:tav tm="0">
                                          <p:val>
                                            <p:strVal val="#ppt_y+0.04"/>
                                          </p:val>
                                        </p:tav>
                                        <p:tav tm="100000">
                                          <p:val>
                                            <p:strVal val="#ppt_y"/>
                                          </p:val>
                                        </p:tav>
                                      </p:tavLst>
                                    </p:anim>
                                  </p:childTnLst>
                                </p:cTn>
                              </p:par>
                              <p:par>
                                <p:cTn id="26" presetID="42" presetClass="entr" presetSubtype="0" fill="hold" grpId="0" nodeType="withEffect">
                                  <p:stCondLst>
                                    <p:cond delay="28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50"/>
                                        <p:tgtEl>
                                          <p:spTgt spid="14"/>
                                        </p:tgtEl>
                                      </p:cBhvr>
                                    </p:animEffect>
                                    <p:anim calcmode="lin" valueType="num">
                                      <p:cBhvr>
                                        <p:cTn id="27" dur="550" decel="100000" fill="hold"/>
                                        <p:tgtEl>
                                          <p:spTgt spid="14"/>
                                        </p:tgtEl>
                                        <p:attrNameLst>
                                          <p:attrName>ppt_x</p:attrName>
                                        </p:attrNameLst>
                                      </p:cBhvr>
                                      <p:tavLst>
                                        <p:tav tm="0">
                                          <p:val>
                                            <p:strVal val="#ppt_x"/>
                                          </p:val>
                                        </p:tav>
                                        <p:tav tm="100000">
                                          <p:val>
                                            <p:strVal val="#ppt_x"/>
                                          </p:val>
                                        </p:tav>
                                      </p:tavLst>
                                    </p:anim>
                                    <p:anim calcmode="lin" valueType="num">
                                      <p:cBhvr>
                                        <p:cTn id="28" dur="550" decel="100000" fill="hold"/>
                                        <p:tgtEl>
                                          <p:spTgt spid="14"/>
                                        </p:tgtEl>
                                        <p:attrNameLst>
                                          <p:attrName>ppt_y</p:attrName>
                                        </p:attrNameLst>
                                      </p:cBhvr>
                                      <p:tavLst>
                                        <p:tav tm="0">
                                          <p:val>
                                            <p:strVal val="#ppt_y+0.04"/>
                                          </p:val>
                                        </p:tav>
                                        <p:tav tm="100000">
                                          <p:val>
                                            <p:strVal val="#ppt_y"/>
                                          </p:val>
                                        </p:tav>
                                      </p:tavLst>
                                    </p:anim>
                                  </p:childTnLst>
                                </p:cTn>
                              </p:par>
                              <p:par>
                                <p:cTn id="31" presetID="42" presetClass="entr" presetSubtype="0" fill="hold" grpId="0" nodeType="withEffect">
                                  <p:stCondLst>
                                    <p:cond delay="28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50"/>
                                        <p:tgtEl>
                                          <p:spTgt spid="15"/>
                                        </p:tgtEl>
                                      </p:cBhvr>
                                    </p:animEffect>
                                    <p:anim calcmode="lin" valueType="num">
                                      <p:cBhvr>
                                        <p:cTn id="32" dur="550" decel="100000" fill="hold"/>
                                        <p:tgtEl>
                                          <p:spTgt spid="15"/>
                                        </p:tgtEl>
                                        <p:attrNameLst>
                                          <p:attrName>ppt_x</p:attrName>
                                        </p:attrNameLst>
                                      </p:cBhvr>
                                      <p:tavLst>
                                        <p:tav tm="0">
                                          <p:val>
                                            <p:strVal val="#ppt_x"/>
                                          </p:val>
                                        </p:tav>
                                        <p:tav tm="100000">
                                          <p:val>
                                            <p:strVal val="#ppt_x"/>
                                          </p:val>
                                        </p:tav>
                                      </p:tavLst>
                                    </p:anim>
                                    <p:anim calcmode="lin" valueType="num">
                                      <p:cBhvr>
                                        <p:cTn id="33" dur="550" decel="100000" fill="hold"/>
                                        <p:tgtEl>
                                          <p:spTgt spid="15"/>
                                        </p:tgtEl>
                                        <p:attrNameLst>
                                          <p:attrName>ppt_y</p:attrName>
                                        </p:attrNameLst>
                                      </p:cBhvr>
                                      <p:tavLst>
                                        <p:tav tm="0">
                                          <p:val>
                                            <p:strVal val="#ppt_y+0.04"/>
                                          </p:val>
                                        </p:tav>
                                        <p:tav tm="100000">
                                          <p:val>
                                            <p:strVal val="#ppt_y"/>
                                          </p:val>
                                        </p:tav>
                                      </p:tavLst>
                                    </p:anim>
                                  </p:childTnLst>
                                </p:cTn>
                              </p:par>
                              <p:par>
                                <p:cTn id="36" presetID="42" presetClass="entr" presetSubtype="0" fill="hold" grpId="0" nodeType="withEffect">
                                  <p:stCondLst>
                                    <p:cond delay="28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50"/>
                                        <p:tgtEl>
                                          <p:spTgt spid="16"/>
                                        </p:tgtEl>
                                      </p:cBhvr>
                                    </p:animEffect>
                                    <p:anim calcmode="lin" valueType="num">
                                      <p:cBhvr>
                                        <p:cTn id="37" dur="550" decel="100000" fill="hold"/>
                                        <p:tgtEl>
                                          <p:spTgt spid="16"/>
                                        </p:tgtEl>
                                        <p:attrNameLst>
                                          <p:attrName>ppt_x</p:attrName>
                                        </p:attrNameLst>
                                      </p:cBhvr>
                                      <p:tavLst>
                                        <p:tav tm="0">
                                          <p:val>
                                            <p:strVal val="#ppt_x"/>
                                          </p:val>
                                        </p:tav>
                                        <p:tav tm="100000">
                                          <p:val>
                                            <p:strVal val="#ppt_x"/>
                                          </p:val>
                                        </p:tav>
                                      </p:tavLst>
                                    </p:anim>
                                    <p:anim calcmode="lin" valueType="num">
                                      <p:cBhvr>
                                        <p:cTn id="38" dur="550" decel="100000" fill="hold"/>
                                        <p:tgtEl>
                                          <p:spTgt spid="16"/>
                                        </p:tgtEl>
                                        <p:attrNameLst>
                                          <p:attrName>ppt_y</p:attrName>
                                        </p:attrNameLst>
                                      </p:cBhvr>
                                      <p:tavLst>
                                        <p:tav tm="0">
                                          <p:val>
                                            <p:strVal val="#ppt_y+0.04"/>
                                          </p:val>
                                        </p:tav>
                                        <p:tav tm="100000">
                                          <p:val>
                                            <p:strVal val="#ppt_y"/>
                                          </p:val>
                                        </p:tav>
                                      </p:tavLst>
                                    </p:anim>
                                  </p:childTnLst>
                                </p:cTn>
                              </p:par>
                              <p:par>
                                <p:cTn id="41" presetID="42" presetClass="entr" presetSubtype="0" fill="hold" grpId="0" nodeType="withEffect">
                                  <p:stCondLst>
                                    <p:cond delay="41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50"/>
                                        <p:tgtEl>
                                          <p:spTgt spid="17"/>
                                        </p:tgtEl>
                                      </p:cBhvr>
                                    </p:animEffect>
                                    <p:anim calcmode="lin" valueType="num">
                                      <p:cBhvr>
                                        <p:cTn id="42" dur="550" decel="100000" fill="hold"/>
                                        <p:tgtEl>
                                          <p:spTgt spid="17"/>
                                        </p:tgtEl>
                                        <p:attrNameLst>
                                          <p:attrName>ppt_x</p:attrName>
                                        </p:attrNameLst>
                                      </p:cBhvr>
                                      <p:tavLst>
                                        <p:tav tm="0">
                                          <p:val>
                                            <p:strVal val="#ppt_x"/>
                                          </p:val>
                                        </p:tav>
                                        <p:tav tm="100000">
                                          <p:val>
                                            <p:strVal val="#ppt_x"/>
                                          </p:val>
                                        </p:tav>
                                      </p:tavLst>
                                    </p:anim>
                                    <p:anim calcmode="lin" valueType="num">
                                      <p:cBhvr>
                                        <p:cTn id="43" dur="550" decel="100000" fill="hold"/>
                                        <p:tgtEl>
                                          <p:spTgt spid="17"/>
                                        </p:tgtEl>
                                        <p:attrNameLst>
                                          <p:attrName>ppt_y</p:attrName>
                                        </p:attrNameLst>
                                      </p:cBhvr>
                                      <p:tavLst>
                                        <p:tav tm="0">
                                          <p:val>
                                            <p:strVal val="#ppt_y+0.04"/>
                                          </p:val>
                                        </p:tav>
                                        <p:tav tm="100000">
                                          <p:val>
                                            <p:strVal val="#ppt_y"/>
                                          </p:val>
                                        </p:tav>
                                      </p:tavLst>
                                    </p:anim>
                                  </p:childTnLst>
                                </p:cTn>
                              </p:par>
                              <p:par>
                                <p:cTn id="46" presetID="53" presetClass="entr" presetSubtype="16" fill="hold" grpId="0" nodeType="withEffect">
                                  <p:stCondLst>
                                    <p:cond delay="410"/>
                                  </p:stCondLst>
                                  <p:childTnLst>
                                    <p:set>
                                      <p:cBhvr>
                                        <p:cTn id="44" dur="1" fill="hold">
                                          <p:stCondLst>
                                            <p:cond delay="0"/>
                                          </p:stCondLst>
                                        </p:cTn>
                                        <p:tgtEl>
                                          <p:spTgt spid="18"/>
                                        </p:tgtEl>
                                        <p:attrNameLst>
                                          <p:attrName>style.visibility</p:attrName>
                                        </p:attrNameLst>
                                      </p:cBhvr>
                                      <p:to>
                                        <p:strVal val="visible"/>
                                      </p:to>
                                    </p:set>
                                    <p:anim calcmode="lin" valueType="num">
                                      <p:cBhvr>
                                        <p:cTn id="47" dur="600" decel="100000" fill="hold"/>
                                        <p:tgtEl>
                                          <p:spTgt spid="18"/>
                                        </p:tgtEl>
                                        <p:attrNameLst>
                                          <p:attrName>ppt_w</p:attrName>
                                        </p:attrNameLst>
                                      </p:cBhvr>
                                      <p:tavLst>
                                        <p:tav tm="0">
                                          <p:val>
                                            <p:strVal val="#ppt_w*0.7"/>
                                          </p:val>
                                        </p:tav>
                                        <p:tav tm="100000">
                                          <p:val>
                                            <p:strVal val="#ppt_w"/>
                                          </p:val>
                                        </p:tav>
                                      </p:tavLst>
                                    </p:anim>
                                    <p:anim calcmode="lin" valueType="num">
                                      <p:cBhvr>
                                        <p:cTn id="48" dur="600" decel="100000" fill="hold"/>
                                        <p:tgtEl>
                                          <p:spTgt spid="18"/>
                                        </p:tgtEl>
                                        <p:attrNameLst>
                                          <p:attrName>ppt_h</p:attrName>
                                        </p:attrNameLst>
                                      </p:cBhvr>
                                      <p:tavLst>
                                        <p:tav tm="0">
                                          <p:val>
                                            <p:strVal val="#ppt_h*0.7"/>
                                          </p:val>
                                        </p:tav>
                                        <p:tav tm="100000">
                                          <p:val>
                                            <p:strVal val="#ppt_h"/>
                                          </p:val>
                                        </p:tav>
                                      </p:tavLst>
                                    </p:anim>
                                    <p:animEffect transition="in" filter="fade">
                                      <p:cBhvr>
                                        <p:cTn id="45" dur="600"/>
                                        <p:tgtEl>
                                          <p:spTgt spid="18"/>
                                        </p:tgtEl>
                                      </p:cBhvr>
                                    </p:animEffect>
                                  </p:childTnLst>
                                </p:cTn>
                              </p:par>
                              <p:par>
                                <p:cTn id="51" presetID="42" presetClass="entr" presetSubtype="0" fill="hold" grpId="0" nodeType="withEffect">
                                  <p:stCondLst>
                                    <p:cond delay="41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50"/>
                                        <p:tgtEl>
                                          <p:spTgt spid="19"/>
                                        </p:tgtEl>
                                      </p:cBhvr>
                                    </p:animEffect>
                                    <p:anim calcmode="lin" valueType="num">
                                      <p:cBhvr>
                                        <p:cTn id="52" dur="550" decel="100000" fill="hold"/>
                                        <p:tgtEl>
                                          <p:spTgt spid="19"/>
                                        </p:tgtEl>
                                        <p:attrNameLst>
                                          <p:attrName>ppt_x</p:attrName>
                                        </p:attrNameLst>
                                      </p:cBhvr>
                                      <p:tavLst>
                                        <p:tav tm="0">
                                          <p:val>
                                            <p:strVal val="#ppt_x"/>
                                          </p:val>
                                        </p:tav>
                                        <p:tav tm="100000">
                                          <p:val>
                                            <p:strVal val="#ppt_x"/>
                                          </p:val>
                                        </p:tav>
                                      </p:tavLst>
                                    </p:anim>
                                    <p:anim calcmode="lin" valueType="num">
                                      <p:cBhvr>
                                        <p:cTn id="53" dur="550" decel="100000" fill="hold"/>
                                        <p:tgtEl>
                                          <p:spTgt spid="19"/>
                                        </p:tgtEl>
                                        <p:attrNameLst>
                                          <p:attrName>ppt_y</p:attrName>
                                        </p:attrNameLst>
                                      </p:cBhvr>
                                      <p:tavLst>
                                        <p:tav tm="0">
                                          <p:val>
                                            <p:strVal val="#ppt_y+0.04"/>
                                          </p:val>
                                        </p:tav>
                                        <p:tav tm="100000">
                                          <p:val>
                                            <p:strVal val="#ppt_y"/>
                                          </p:val>
                                        </p:tav>
                                      </p:tavLst>
                                    </p:anim>
                                  </p:childTnLst>
                                </p:cTn>
                              </p:par>
                              <p:par>
                                <p:cTn id="56" presetID="42" presetClass="entr" presetSubtype="0" fill="hold" grpId="0" nodeType="withEffect">
                                  <p:stCondLst>
                                    <p:cond delay="41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50"/>
                                        <p:tgtEl>
                                          <p:spTgt spid="20"/>
                                        </p:tgtEl>
                                      </p:cBhvr>
                                    </p:animEffect>
                                    <p:anim calcmode="lin" valueType="num">
                                      <p:cBhvr>
                                        <p:cTn id="57" dur="550" decel="100000" fill="hold"/>
                                        <p:tgtEl>
                                          <p:spTgt spid="20"/>
                                        </p:tgtEl>
                                        <p:attrNameLst>
                                          <p:attrName>ppt_x</p:attrName>
                                        </p:attrNameLst>
                                      </p:cBhvr>
                                      <p:tavLst>
                                        <p:tav tm="0">
                                          <p:val>
                                            <p:strVal val="#ppt_x"/>
                                          </p:val>
                                        </p:tav>
                                        <p:tav tm="100000">
                                          <p:val>
                                            <p:strVal val="#ppt_x"/>
                                          </p:val>
                                        </p:tav>
                                      </p:tavLst>
                                    </p:anim>
                                    <p:anim calcmode="lin" valueType="num">
                                      <p:cBhvr>
                                        <p:cTn id="58" dur="550" decel="100000" fill="hold"/>
                                        <p:tgtEl>
                                          <p:spTgt spid="20"/>
                                        </p:tgtEl>
                                        <p:attrNameLst>
                                          <p:attrName>ppt_y</p:attrName>
                                        </p:attrNameLst>
                                      </p:cBhvr>
                                      <p:tavLst>
                                        <p:tav tm="0">
                                          <p:val>
                                            <p:strVal val="#ppt_y+0.04"/>
                                          </p:val>
                                        </p:tav>
                                        <p:tav tm="100000">
                                          <p:val>
                                            <p:strVal val="#ppt_y"/>
                                          </p:val>
                                        </p:tav>
                                      </p:tavLst>
                                    </p:anim>
                                  </p:childTnLst>
                                </p:cTn>
                              </p:par>
                              <p:par>
                                <p:cTn id="61" presetID="42" presetClass="entr" presetSubtype="0" fill="hold" grpId="0" nodeType="withEffect">
                                  <p:stCondLst>
                                    <p:cond delay="41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50"/>
                                        <p:tgtEl>
                                          <p:spTgt spid="21"/>
                                        </p:tgtEl>
                                      </p:cBhvr>
                                    </p:animEffect>
                                    <p:anim calcmode="lin" valueType="num">
                                      <p:cBhvr>
                                        <p:cTn id="62" dur="550" decel="100000" fill="hold"/>
                                        <p:tgtEl>
                                          <p:spTgt spid="21"/>
                                        </p:tgtEl>
                                        <p:attrNameLst>
                                          <p:attrName>ppt_x</p:attrName>
                                        </p:attrNameLst>
                                      </p:cBhvr>
                                      <p:tavLst>
                                        <p:tav tm="0">
                                          <p:val>
                                            <p:strVal val="#ppt_x"/>
                                          </p:val>
                                        </p:tav>
                                        <p:tav tm="100000">
                                          <p:val>
                                            <p:strVal val="#ppt_x"/>
                                          </p:val>
                                        </p:tav>
                                      </p:tavLst>
                                    </p:anim>
                                    <p:anim calcmode="lin" valueType="num">
                                      <p:cBhvr>
                                        <p:cTn id="63" dur="550" decel="100000" fill="hold"/>
                                        <p:tgtEl>
                                          <p:spTgt spid="21"/>
                                        </p:tgtEl>
                                        <p:attrNameLst>
                                          <p:attrName>ppt_y</p:attrName>
                                        </p:attrNameLst>
                                      </p:cBhvr>
                                      <p:tavLst>
                                        <p:tav tm="0">
                                          <p:val>
                                            <p:strVal val="#ppt_y+0.04"/>
                                          </p:val>
                                        </p:tav>
                                        <p:tav tm="100000">
                                          <p:val>
                                            <p:strVal val="#ppt_y"/>
                                          </p:val>
                                        </p:tav>
                                      </p:tavLst>
                                    </p:anim>
                                  </p:childTnLst>
                                </p:cTn>
                              </p:par>
                              <p:par>
                                <p:cTn id="66" presetID="42" presetClass="entr" presetSubtype="0" fill="hold" grpId="0" nodeType="withEffect">
                                  <p:stCondLst>
                                    <p:cond delay="41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50"/>
                                        <p:tgtEl>
                                          <p:spTgt spid="22"/>
                                        </p:tgtEl>
                                      </p:cBhvr>
                                    </p:animEffect>
                                    <p:anim calcmode="lin" valueType="num">
                                      <p:cBhvr>
                                        <p:cTn id="67" dur="550" decel="100000" fill="hold"/>
                                        <p:tgtEl>
                                          <p:spTgt spid="22"/>
                                        </p:tgtEl>
                                        <p:attrNameLst>
                                          <p:attrName>ppt_x</p:attrName>
                                        </p:attrNameLst>
                                      </p:cBhvr>
                                      <p:tavLst>
                                        <p:tav tm="0">
                                          <p:val>
                                            <p:strVal val="#ppt_x"/>
                                          </p:val>
                                        </p:tav>
                                        <p:tav tm="100000">
                                          <p:val>
                                            <p:strVal val="#ppt_x"/>
                                          </p:val>
                                        </p:tav>
                                      </p:tavLst>
                                    </p:anim>
                                    <p:anim calcmode="lin" valueType="num">
                                      <p:cBhvr>
                                        <p:cTn id="68" dur="550" decel="100000" fill="hold"/>
                                        <p:tgtEl>
                                          <p:spTgt spid="22"/>
                                        </p:tgtEl>
                                        <p:attrNameLst>
                                          <p:attrName>ppt_y</p:attrName>
                                        </p:attrNameLst>
                                      </p:cBhvr>
                                      <p:tavLst>
                                        <p:tav tm="0">
                                          <p:val>
                                            <p:strVal val="#ppt_y+0.04"/>
                                          </p:val>
                                        </p:tav>
                                        <p:tav tm="100000">
                                          <p:val>
                                            <p:strVal val="#ppt_y"/>
                                          </p:val>
                                        </p:tav>
                                      </p:tavLst>
                                    </p:anim>
                                  </p:childTnLst>
                                </p:cTn>
                              </p:par>
                              <p:par>
                                <p:cTn id="71" presetID="42" presetClass="entr" presetSubtype="0" fill="hold" grpId="0" nodeType="withEffect">
                                  <p:stCondLst>
                                    <p:cond delay="54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50"/>
                                        <p:tgtEl>
                                          <p:spTgt spid="23"/>
                                        </p:tgtEl>
                                      </p:cBhvr>
                                    </p:animEffect>
                                    <p:anim calcmode="lin" valueType="num">
                                      <p:cBhvr>
                                        <p:cTn id="72" dur="550" decel="100000" fill="hold"/>
                                        <p:tgtEl>
                                          <p:spTgt spid="23"/>
                                        </p:tgtEl>
                                        <p:attrNameLst>
                                          <p:attrName>ppt_x</p:attrName>
                                        </p:attrNameLst>
                                      </p:cBhvr>
                                      <p:tavLst>
                                        <p:tav tm="0">
                                          <p:val>
                                            <p:strVal val="#ppt_x"/>
                                          </p:val>
                                        </p:tav>
                                        <p:tav tm="100000">
                                          <p:val>
                                            <p:strVal val="#ppt_x"/>
                                          </p:val>
                                        </p:tav>
                                      </p:tavLst>
                                    </p:anim>
                                    <p:anim calcmode="lin" valueType="num">
                                      <p:cBhvr>
                                        <p:cTn id="73" dur="550" decel="100000" fill="hold"/>
                                        <p:tgtEl>
                                          <p:spTgt spid="23"/>
                                        </p:tgtEl>
                                        <p:attrNameLst>
                                          <p:attrName>ppt_y</p:attrName>
                                        </p:attrNameLst>
                                      </p:cBhvr>
                                      <p:tavLst>
                                        <p:tav tm="0">
                                          <p:val>
                                            <p:strVal val="#ppt_y+0.04"/>
                                          </p:val>
                                        </p:tav>
                                        <p:tav tm="100000">
                                          <p:val>
                                            <p:strVal val="#ppt_y"/>
                                          </p:val>
                                        </p:tav>
                                      </p:tavLst>
                                    </p:anim>
                                  </p:childTnLst>
                                </p:cTn>
                              </p:par>
                              <p:par>
                                <p:cTn id="76" presetID="53" presetClass="entr" presetSubtype="16" fill="hold" grpId="0" nodeType="withEffect">
                                  <p:stCondLst>
                                    <p:cond delay="540"/>
                                  </p:stCondLst>
                                  <p:childTnLst>
                                    <p:set>
                                      <p:cBhvr>
                                        <p:cTn id="74" dur="1" fill="hold">
                                          <p:stCondLst>
                                            <p:cond delay="0"/>
                                          </p:stCondLst>
                                        </p:cTn>
                                        <p:tgtEl>
                                          <p:spTgt spid="24"/>
                                        </p:tgtEl>
                                        <p:attrNameLst>
                                          <p:attrName>style.visibility</p:attrName>
                                        </p:attrNameLst>
                                      </p:cBhvr>
                                      <p:to>
                                        <p:strVal val="visible"/>
                                      </p:to>
                                    </p:set>
                                    <p:anim calcmode="lin" valueType="num">
                                      <p:cBhvr>
                                        <p:cTn id="77" dur="600" decel="100000" fill="hold"/>
                                        <p:tgtEl>
                                          <p:spTgt spid="24"/>
                                        </p:tgtEl>
                                        <p:attrNameLst>
                                          <p:attrName>ppt_w</p:attrName>
                                        </p:attrNameLst>
                                      </p:cBhvr>
                                      <p:tavLst>
                                        <p:tav tm="0">
                                          <p:val>
                                            <p:strVal val="#ppt_w*0.7"/>
                                          </p:val>
                                        </p:tav>
                                        <p:tav tm="100000">
                                          <p:val>
                                            <p:strVal val="#ppt_w"/>
                                          </p:val>
                                        </p:tav>
                                      </p:tavLst>
                                    </p:anim>
                                    <p:anim calcmode="lin" valueType="num">
                                      <p:cBhvr>
                                        <p:cTn id="78" dur="600" decel="100000" fill="hold"/>
                                        <p:tgtEl>
                                          <p:spTgt spid="24"/>
                                        </p:tgtEl>
                                        <p:attrNameLst>
                                          <p:attrName>ppt_h</p:attrName>
                                        </p:attrNameLst>
                                      </p:cBhvr>
                                      <p:tavLst>
                                        <p:tav tm="0">
                                          <p:val>
                                            <p:strVal val="#ppt_h*0.7"/>
                                          </p:val>
                                        </p:tav>
                                        <p:tav tm="100000">
                                          <p:val>
                                            <p:strVal val="#ppt_h"/>
                                          </p:val>
                                        </p:tav>
                                      </p:tavLst>
                                    </p:anim>
                                    <p:animEffect transition="in" filter="fade">
                                      <p:cBhvr>
                                        <p:cTn id="75" dur="600"/>
                                        <p:tgtEl>
                                          <p:spTgt spid="24"/>
                                        </p:tgtEl>
                                      </p:cBhvr>
                                    </p:animEffect>
                                  </p:childTnLst>
                                </p:cTn>
                              </p:par>
                              <p:par>
                                <p:cTn id="81" presetID="42" presetClass="entr" presetSubtype="0" fill="hold" grpId="0" nodeType="withEffect">
                                  <p:stCondLst>
                                    <p:cond delay="54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550"/>
                                        <p:tgtEl>
                                          <p:spTgt spid="25"/>
                                        </p:tgtEl>
                                      </p:cBhvr>
                                    </p:animEffect>
                                    <p:anim calcmode="lin" valueType="num">
                                      <p:cBhvr>
                                        <p:cTn id="82" dur="550" decel="100000" fill="hold"/>
                                        <p:tgtEl>
                                          <p:spTgt spid="25"/>
                                        </p:tgtEl>
                                        <p:attrNameLst>
                                          <p:attrName>ppt_x</p:attrName>
                                        </p:attrNameLst>
                                      </p:cBhvr>
                                      <p:tavLst>
                                        <p:tav tm="0">
                                          <p:val>
                                            <p:strVal val="#ppt_x"/>
                                          </p:val>
                                        </p:tav>
                                        <p:tav tm="100000">
                                          <p:val>
                                            <p:strVal val="#ppt_x"/>
                                          </p:val>
                                        </p:tav>
                                      </p:tavLst>
                                    </p:anim>
                                    <p:anim calcmode="lin" valueType="num">
                                      <p:cBhvr>
                                        <p:cTn id="83" dur="550" decel="100000" fill="hold"/>
                                        <p:tgtEl>
                                          <p:spTgt spid="25"/>
                                        </p:tgtEl>
                                        <p:attrNameLst>
                                          <p:attrName>ppt_y</p:attrName>
                                        </p:attrNameLst>
                                      </p:cBhvr>
                                      <p:tavLst>
                                        <p:tav tm="0">
                                          <p:val>
                                            <p:strVal val="#ppt_y+0.04"/>
                                          </p:val>
                                        </p:tav>
                                        <p:tav tm="100000">
                                          <p:val>
                                            <p:strVal val="#ppt_y"/>
                                          </p:val>
                                        </p:tav>
                                      </p:tavLst>
                                    </p:anim>
                                  </p:childTnLst>
                                </p:cTn>
                              </p:par>
                              <p:par>
                                <p:cTn id="86" presetID="42" presetClass="entr" presetSubtype="0" fill="hold" grpId="0" nodeType="withEffect">
                                  <p:stCondLst>
                                    <p:cond delay="540"/>
                                  </p:stCondLst>
                                  <p:childTnLst>
                                    <p:set>
                                      <p:cBhvr>
                                        <p:cTn id="84" dur="1" fill="hold">
                                          <p:stCondLst>
                                            <p:cond delay="0"/>
                                          </p:stCondLst>
                                        </p:cTn>
                                        <p:tgtEl>
                                          <p:spTgt spid="26"/>
                                        </p:tgtEl>
                                        <p:attrNameLst>
                                          <p:attrName>style.visibility</p:attrName>
                                        </p:attrNameLst>
                                      </p:cBhvr>
                                      <p:to>
                                        <p:strVal val="visible"/>
                                      </p:to>
                                    </p:set>
                                    <p:animEffect transition="in" filter="fade">
                                      <p:cBhvr>
                                        <p:cTn id="85" dur="550"/>
                                        <p:tgtEl>
                                          <p:spTgt spid="26"/>
                                        </p:tgtEl>
                                      </p:cBhvr>
                                    </p:animEffect>
                                    <p:anim calcmode="lin" valueType="num">
                                      <p:cBhvr>
                                        <p:cTn id="87" dur="550" decel="100000" fill="hold"/>
                                        <p:tgtEl>
                                          <p:spTgt spid="26"/>
                                        </p:tgtEl>
                                        <p:attrNameLst>
                                          <p:attrName>ppt_x</p:attrName>
                                        </p:attrNameLst>
                                      </p:cBhvr>
                                      <p:tavLst>
                                        <p:tav tm="0">
                                          <p:val>
                                            <p:strVal val="#ppt_x"/>
                                          </p:val>
                                        </p:tav>
                                        <p:tav tm="100000">
                                          <p:val>
                                            <p:strVal val="#ppt_x"/>
                                          </p:val>
                                        </p:tav>
                                      </p:tavLst>
                                    </p:anim>
                                    <p:anim calcmode="lin" valueType="num">
                                      <p:cBhvr>
                                        <p:cTn id="88" dur="550" decel="100000" fill="hold"/>
                                        <p:tgtEl>
                                          <p:spTgt spid="26"/>
                                        </p:tgtEl>
                                        <p:attrNameLst>
                                          <p:attrName>ppt_y</p:attrName>
                                        </p:attrNameLst>
                                      </p:cBhvr>
                                      <p:tavLst>
                                        <p:tav tm="0">
                                          <p:val>
                                            <p:strVal val="#ppt_y+0.04"/>
                                          </p:val>
                                        </p:tav>
                                        <p:tav tm="100000">
                                          <p:val>
                                            <p:strVal val="#ppt_y"/>
                                          </p:val>
                                        </p:tav>
                                      </p:tavLst>
                                    </p:anim>
                                  </p:childTnLst>
                                </p:cTn>
                              </p:par>
                              <p:par>
                                <p:cTn id="91" presetID="42" presetClass="entr" presetSubtype="0" fill="hold" grpId="0" nodeType="withEffect">
                                  <p:stCondLst>
                                    <p:cond delay="540"/>
                                  </p:stCondLst>
                                  <p:childTnLst>
                                    <p:set>
                                      <p:cBhvr>
                                        <p:cTn id="89" dur="1" fill="hold">
                                          <p:stCondLst>
                                            <p:cond delay="0"/>
                                          </p:stCondLst>
                                        </p:cTn>
                                        <p:tgtEl>
                                          <p:spTgt spid="27"/>
                                        </p:tgtEl>
                                        <p:attrNameLst>
                                          <p:attrName>style.visibility</p:attrName>
                                        </p:attrNameLst>
                                      </p:cBhvr>
                                      <p:to>
                                        <p:strVal val="visible"/>
                                      </p:to>
                                    </p:set>
                                    <p:animEffect transition="in" filter="fade">
                                      <p:cBhvr>
                                        <p:cTn id="90" dur="550"/>
                                        <p:tgtEl>
                                          <p:spTgt spid="27"/>
                                        </p:tgtEl>
                                      </p:cBhvr>
                                    </p:animEffect>
                                    <p:anim calcmode="lin" valueType="num">
                                      <p:cBhvr>
                                        <p:cTn id="92" dur="550" decel="100000" fill="hold"/>
                                        <p:tgtEl>
                                          <p:spTgt spid="27"/>
                                        </p:tgtEl>
                                        <p:attrNameLst>
                                          <p:attrName>ppt_x</p:attrName>
                                        </p:attrNameLst>
                                      </p:cBhvr>
                                      <p:tavLst>
                                        <p:tav tm="0">
                                          <p:val>
                                            <p:strVal val="#ppt_x"/>
                                          </p:val>
                                        </p:tav>
                                        <p:tav tm="100000">
                                          <p:val>
                                            <p:strVal val="#ppt_x"/>
                                          </p:val>
                                        </p:tav>
                                      </p:tavLst>
                                    </p:anim>
                                    <p:anim calcmode="lin" valueType="num">
                                      <p:cBhvr>
                                        <p:cTn id="93" dur="550" decel="100000" fill="hold"/>
                                        <p:tgtEl>
                                          <p:spTgt spid="27"/>
                                        </p:tgtEl>
                                        <p:attrNameLst>
                                          <p:attrName>ppt_y</p:attrName>
                                        </p:attrNameLst>
                                      </p:cBhvr>
                                      <p:tavLst>
                                        <p:tav tm="0">
                                          <p:val>
                                            <p:strVal val="#ppt_y+0.04"/>
                                          </p:val>
                                        </p:tav>
                                        <p:tav tm="100000">
                                          <p:val>
                                            <p:strVal val="#ppt_y"/>
                                          </p:val>
                                        </p:tav>
                                      </p:tavLst>
                                    </p:anim>
                                  </p:childTnLst>
                                </p:cTn>
                              </p:par>
                              <p:par>
                                <p:cTn id="96" presetID="42" presetClass="entr" presetSubtype="0" fill="hold" grpId="0" nodeType="withEffect">
                                  <p:stCondLst>
                                    <p:cond delay="540"/>
                                  </p:stCondLst>
                                  <p:childTnLst>
                                    <p:set>
                                      <p:cBhvr>
                                        <p:cTn id="94" dur="1" fill="hold">
                                          <p:stCondLst>
                                            <p:cond delay="0"/>
                                          </p:stCondLst>
                                        </p:cTn>
                                        <p:tgtEl>
                                          <p:spTgt spid="28"/>
                                        </p:tgtEl>
                                        <p:attrNameLst>
                                          <p:attrName>style.visibility</p:attrName>
                                        </p:attrNameLst>
                                      </p:cBhvr>
                                      <p:to>
                                        <p:strVal val="visible"/>
                                      </p:to>
                                    </p:set>
                                    <p:animEffect transition="in" filter="fade">
                                      <p:cBhvr>
                                        <p:cTn id="95" dur="550"/>
                                        <p:tgtEl>
                                          <p:spTgt spid="28"/>
                                        </p:tgtEl>
                                      </p:cBhvr>
                                    </p:animEffect>
                                    <p:anim calcmode="lin" valueType="num">
                                      <p:cBhvr>
                                        <p:cTn id="97" dur="550" decel="100000" fill="hold"/>
                                        <p:tgtEl>
                                          <p:spTgt spid="28"/>
                                        </p:tgtEl>
                                        <p:attrNameLst>
                                          <p:attrName>ppt_x</p:attrName>
                                        </p:attrNameLst>
                                      </p:cBhvr>
                                      <p:tavLst>
                                        <p:tav tm="0">
                                          <p:val>
                                            <p:strVal val="#ppt_x"/>
                                          </p:val>
                                        </p:tav>
                                        <p:tav tm="100000">
                                          <p:val>
                                            <p:strVal val="#ppt_x"/>
                                          </p:val>
                                        </p:tav>
                                      </p:tavLst>
                                    </p:anim>
                                    <p:anim calcmode="lin" valueType="num">
                                      <p:cBhvr>
                                        <p:cTn id="98" dur="550" decel="100000" fill="hold"/>
                                        <p:tgtEl>
                                          <p:spTgt spid="28"/>
                                        </p:tgtEl>
                                        <p:attrNameLst>
                                          <p:attrName>ppt_y</p:attrName>
                                        </p:attrNameLst>
                                      </p:cBhvr>
                                      <p:tavLst>
                                        <p:tav tm="0">
                                          <p:val>
                                            <p:strVal val="#ppt_y+0.04"/>
                                          </p:val>
                                        </p:tav>
                                        <p:tav tm="100000">
                                          <p:val>
                                            <p:strVal val="#ppt_y"/>
                                          </p:val>
                                        </p:tav>
                                      </p:tavLst>
                                    </p:anim>
                                  </p:childTnLst>
                                </p:cTn>
                              </p:par>
                              <p:par>
                                <p:cTn id="101" presetID="42" presetClass="entr" presetSubtype="0" fill="hold" grpId="0" nodeType="withEffect">
                                  <p:stCondLst>
                                    <p:cond delay="670"/>
                                  </p:stCondLst>
                                  <p:childTnLst>
                                    <p:set>
                                      <p:cBhvr>
                                        <p:cTn id="99" dur="1" fill="hold">
                                          <p:stCondLst>
                                            <p:cond delay="0"/>
                                          </p:stCondLst>
                                        </p:cTn>
                                        <p:tgtEl>
                                          <p:spTgt spid="29"/>
                                        </p:tgtEl>
                                        <p:attrNameLst>
                                          <p:attrName>style.visibility</p:attrName>
                                        </p:attrNameLst>
                                      </p:cBhvr>
                                      <p:to>
                                        <p:strVal val="visible"/>
                                      </p:to>
                                    </p:set>
                                    <p:animEffect transition="in" filter="fade">
                                      <p:cBhvr>
                                        <p:cTn id="100" dur="550"/>
                                        <p:tgtEl>
                                          <p:spTgt spid="29"/>
                                        </p:tgtEl>
                                      </p:cBhvr>
                                    </p:animEffect>
                                    <p:anim calcmode="lin" valueType="num">
                                      <p:cBhvr>
                                        <p:cTn id="102" dur="550" decel="100000" fill="hold"/>
                                        <p:tgtEl>
                                          <p:spTgt spid="29"/>
                                        </p:tgtEl>
                                        <p:attrNameLst>
                                          <p:attrName>ppt_x</p:attrName>
                                        </p:attrNameLst>
                                      </p:cBhvr>
                                      <p:tavLst>
                                        <p:tav tm="0">
                                          <p:val>
                                            <p:strVal val="#ppt_x"/>
                                          </p:val>
                                        </p:tav>
                                        <p:tav tm="100000">
                                          <p:val>
                                            <p:strVal val="#ppt_x"/>
                                          </p:val>
                                        </p:tav>
                                      </p:tavLst>
                                    </p:anim>
                                    <p:anim calcmode="lin" valueType="num">
                                      <p:cBhvr>
                                        <p:cTn id="103" dur="550" decel="100000" fill="hold"/>
                                        <p:tgtEl>
                                          <p:spTgt spid="29"/>
                                        </p:tgtEl>
                                        <p:attrNameLst>
                                          <p:attrName>ppt_y</p:attrName>
                                        </p:attrNameLst>
                                      </p:cBhvr>
                                      <p:tavLst>
                                        <p:tav tm="0">
                                          <p:val>
                                            <p:strVal val="#ppt_y+0.04"/>
                                          </p:val>
                                        </p:tav>
                                        <p:tav tm="100000">
                                          <p:val>
                                            <p:strVal val="#ppt_y"/>
                                          </p:val>
                                        </p:tav>
                                      </p:tavLst>
                                    </p:anim>
                                  </p:childTnLst>
                                </p:cTn>
                              </p:par>
                              <p:par>
                                <p:cTn id="106" presetID="53" presetClass="entr" presetSubtype="16" fill="hold" grpId="0" nodeType="withEffect">
                                  <p:stCondLst>
                                    <p:cond delay="670"/>
                                  </p:stCondLst>
                                  <p:childTnLst>
                                    <p:set>
                                      <p:cBhvr>
                                        <p:cTn id="104" dur="1" fill="hold">
                                          <p:stCondLst>
                                            <p:cond delay="0"/>
                                          </p:stCondLst>
                                        </p:cTn>
                                        <p:tgtEl>
                                          <p:spTgt spid="30"/>
                                        </p:tgtEl>
                                        <p:attrNameLst>
                                          <p:attrName>style.visibility</p:attrName>
                                        </p:attrNameLst>
                                      </p:cBhvr>
                                      <p:to>
                                        <p:strVal val="visible"/>
                                      </p:to>
                                    </p:set>
                                    <p:anim calcmode="lin" valueType="num">
                                      <p:cBhvr>
                                        <p:cTn id="107" dur="600" decel="100000" fill="hold"/>
                                        <p:tgtEl>
                                          <p:spTgt spid="30"/>
                                        </p:tgtEl>
                                        <p:attrNameLst>
                                          <p:attrName>ppt_w</p:attrName>
                                        </p:attrNameLst>
                                      </p:cBhvr>
                                      <p:tavLst>
                                        <p:tav tm="0">
                                          <p:val>
                                            <p:strVal val="#ppt_w*0.7"/>
                                          </p:val>
                                        </p:tav>
                                        <p:tav tm="100000">
                                          <p:val>
                                            <p:strVal val="#ppt_w"/>
                                          </p:val>
                                        </p:tav>
                                      </p:tavLst>
                                    </p:anim>
                                    <p:anim calcmode="lin" valueType="num">
                                      <p:cBhvr>
                                        <p:cTn id="108" dur="600" decel="100000" fill="hold"/>
                                        <p:tgtEl>
                                          <p:spTgt spid="30"/>
                                        </p:tgtEl>
                                        <p:attrNameLst>
                                          <p:attrName>ppt_h</p:attrName>
                                        </p:attrNameLst>
                                      </p:cBhvr>
                                      <p:tavLst>
                                        <p:tav tm="0">
                                          <p:val>
                                            <p:strVal val="#ppt_h*0.7"/>
                                          </p:val>
                                        </p:tav>
                                        <p:tav tm="100000">
                                          <p:val>
                                            <p:strVal val="#ppt_h"/>
                                          </p:val>
                                        </p:tav>
                                      </p:tavLst>
                                    </p:anim>
                                    <p:animEffect transition="in" filter="fade">
                                      <p:cBhvr>
                                        <p:cTn id="105" dur="600"/>
                                        <p:tgtEl>
                                          <p:spTgt spid="30"/>
                                        </p:tgtEl>
                                      </p:cBhvr>
                                    </p:animEffect>
                                  </p:childTnLst>
                                </p:cTn>
                              </p:par>
                              <p:par>
                                <p:cTn id="111" presetID="42" presetClass="entr" presetSubtype="0" fill="hold" grpId="0" nodeType="withEffect">
                                  <p:stCondLst>
                                    <p:cond delay="670"/>
                                  </p:stCondLst>
                                  <p:childTnLst>
                                    <p:set>
                                      <p:cBhvr>
                                        <p:cTn id="109" dur="1" fill="hold">
                                          <p:stCondLst>
                                            <p:cond delay="0"/>
                                          </p:stCondLst>
                                        </p:cTn>
                                        <p:tgtEl>
                                          <p:spTgt spid="31"/>
                                        </p:tgtEl>
                                        <p:attrNameLst>
                                          <p:attrName>style.visibility</p:attrName>
                                        </p:attrNameLst>
                                      </p:cBhvr>
                                      <p:to>
                                        <p:strVal val="visible"/>
                                      </p:to>
                                    </p:set>
                                    <p:animEffect transition="in" filter="fade">
                                      <p:cBhvr>
                                        <p:cTn id="110" dur="550"/>
                                        <p:tgtEl>
                                          <p:spTgt spid="31"/>
                                        </p:tgtEl>
                                      </p:cBhvr>
                                    </p:animEffect>
                                    <p:anim calcmode="lin" valueType="num">
                                      <p:cBhvr>
                                        <p:cTn id="112" dur="550" decel="100000" fill="hold"/>
                                        <p:tgtEl>
                                          <p:spTgt spid="31"/>
                                        </p:tgtEl>
                                        <p:attrNameLst>
                                          <p:attrName>ppt_x</p:attrName>
                                        </p:attrNameLst>
                                      </p:cBhvr>
                                      <p:tavLst>
                                        <p:tav tm="0">
                                          <p:val>
                                            <p:strVal val="#ppt_x"/>
                                          </p:val>
                                        </p:tav>
                                        <p:tav tm="100000">
                                          <p:val>
                                            <p:strVal val="#ppt_x"/>
                                          </p:val>
                                        </p:tav>
                                      </p:tavLst>
                                    </p:anim>
                                    <p:anim calcmode="lin" valueType="num">
                                      <p:cBhvr>
                                        <p:cTn id="113" dur="550" decel="100000" fill="hold"/>
                                        <p:tgtEl>
                                          <p:spTgt spid="31"/>
                                        </p:tgtEl>
                                        <p:attrNameLst>
                                          <p:attrName>ppt_y</p:attrName>
                                        </p:attrNameLst>
                                      </p:cBhvr>
                                      <p:tavLst>
                                        <p:tav tm="0">
                                          <p:val>
                                            <p:strVal val="#ppt_y+0.04"/>
                                          </p:val>
                                        </p:tav>
                                        <p:tav tm="100000">
                                          <p:val>
                                            <p:strVal val="#ppt_y"/>
                                          </p:val>
                                        </p:tav>
                                      </p:tavLst>
                                    </p:anim>
                                  </p:childTnLst>
                                </p:cTn>
                              </p:par>
                              <p:par>
                                <p:cTn id="116" presetID="42" presetClass="entr" presetSubtype="0" fill="hold" grpId="0" nodeType="withEffect">
                                  <p:stCondLst>
                                    <p:cond delay="670"/>
                                  </p:stCondLst>
                                  <p:childTnLst>
                                    <p:set>
                                      <p:cBhvr>
                                        <p:cTn id="114" dur="1" fill="hold">
                                          <p:stCondLst>
                                            <p:cond delay="0"/>
                                          </p:stCondLst>
                                        </p:cTn>
                                        <p:tgtEl>
                                          <p:spTgt spid="32"/>
                                        </p:tgtEl>
                                        <p:attrNameLst>
                                          <p:attrName>style.visibility</p:attrName>
                                        </p:attrNameLst>
                                      </p:cBhvr>
                                      <p:to>
                                        <p:strVal val="visible"/>
                                      </p:to>
                                    </p:set>
                                    <p:animEffect transition="in" filter="fade">
                                      <p:cBhvr>
                                        <p:cTn id="115" dur="550"/>
                                        <p:tgtEl>
                                          <p:spTgt spid="32"/>
                                        </p:tgtEl>
                                      </p:cBhvr>
                                    </p:animEffect>
                                    <p:anim calcmode="lin" valueType="num">
                                      <p:cBhvr>
                                        <p:cTn id="117" dur="550" decel="100000" fill="hold"/>
                                        <p:tgtEl>
                                          <p:spTgt spid="32"/>
                                        </p:tgtEl>
                                        <p:attrNameLst>
                                          <p:attrName>ppt_x</p:attrName>
                                        </p:attrNameLst>
                                      </p:cBhvr>
                                      <p:tavLst>
                                        <p:tav tm="0">
                                          <p:val>
                                            <p:strVal val="#ppt_x"/>
                                          </p:val>
                                        </p:tav>
                                        <p:tav tm="100000">
                                          <p:val>
                                            <p:strVal val="#ppt_x"/>
                                          </p:val>
                                        </p:tav>
                                      </p:tavLst>
                                    </p:anim>
                                    <p:anim calcmode="lin" valueType="num">
                                      <p:cBhvr>
                                        <p:cTn id="118" dur="550" decel="100000" fill="hold"/>
                                        <p:tgtEl>
                                          <p:spTgt spid="32"/>
                                        </p:tgtEl>
                                        <p:attrNameLst>
                                          <p:attrName>ppt_y</p:attrName>
                                        </p:attrNameLst>
                                      </p:cBhvr>
                                      <p:tavLst>
                                        <p:tav tm="0">
                                          <p:val>
                                            <p:strVal val="#ppt_y+0.04"/>
                                          </p:val>
                                        </p:tav>
                                        <p:tav tm="100000">
                                          <p:val>
                                            <p:strVal val="#ppt_y"/>
                                          </p:val>
                                        </p:tav>
                                      </p:tavLst>
                                    </p:anim>
                                  </p:childTnLst>
                                </p:cTn>
                              </p:par>
                              <p:par>
                                <p:cTn id="121" presetID="42" presetClass="entr" presetSubtype="0" fill="hold" grpId="0" nodeType="withEffect">
                                  <p:stCondLst>
                                    <p:cond delay="670"/>
                                  </p:stCondLst>
                                  <p:childTnLst>
                                    <p:set>
                                      <p:cBhvr>
                                        <p:cTn id="119" dur="1" fill="hold">
                                          <p:stCondLst>
                                            <p:cond delay="0"/>
                                          </p:stCondLst>
                                        </p:cTn>
                                        <p:tgtEl>
                                          <p:spTgt spid="33"/>
                                        </p:tgtEl>
                                        <p:attrNameLst>
                                          <p:attrName>style.visibility</p:attrName>
                                        </p:attrNameLst>
                                      </p:cBhvr>
                                      <p:to>
                                        <p:strVal val="visible"/>
                                      </p:to>
                                    </p:set>
                                    <p:animEffect transition="in" filter="fade">
                                      <p:cBhvr>
                                        <p:cTn id="120" dur="550"/>
                                        <p:tgtEl>
                                          <p:spTgt spid="33"/>
                                        </p:tgtEl>
                                      </p:cBhvr>
                                    </p:animEffect>
                                    <p:anim calcmode="lin" valueType="num">
                                      <p:cBhvr>
                                        <p:cTn id="122" dur="550" decel="100000" fill="hold"/>
                                        <p:tgtEl>
                                          <p:spTgt spid="33"/>
                                        </p:tgtEl>
                                        <p:attrNameLst>
                                          <p:attrName>ppt_x</p:attrName>
                                        </p:attrNameLst>
                                      </p:cBhvr>
                                      <p:tavLst>
                                        <p:tav tm="0">
                                          <p:val>
                                            <p:strVal val="#ppt_x"/>
                                          </p:val>
                                        </p:tav>
                                        <p:tav tm="100000">
                                          <p:val>
                                            <p:strVal val="#ppt_x"/>
                                          </p:val>
                                        </p:tav>
                                      </p:tavLst>
                                    </p:anim>
                                    <p:anim calcmode="lin" valueType="num">
                                      <p:cBhvr>
                                        <p:cTn id="123" dur="550" decel="100000" fill="hold"/>
                                        <p:tgtEl>
                                          <p:spTgt spid="33"/>
                                        </p:tgtEl>
                                        <p:attrNameLst>
                                          <p:attrName>ppt_y</p:attrName>
                                        </p:attrNameLst>
                                      </p:cBhvr>
                                      <p:tavLst>
                                        <p:tav tm="0">
                                          <p:val>
                                            <p:strVal val="#ppt_y+0.04"/>
                                          </p:val>
                                        </p:tav>
                                        <p:tav tm="100000">
                                          <p:val>
                                            <p:strVal val="#ppt_y"/>
                                          </p:val>
                                        </p:tav>
                                      </p:tavLst>
                                    </p:anim>
                                  </p:childTnLst>
                                </p:cTn>
                              </p:par>
                              <p:par>
                                <p:cTn id="126" presetID="42" presetClass="entr" presetSubtype="0" fill="hold" grpId="0" nodeType="withEffect">
                                  <p:stCondLst>
                                    <p:cond delay="670"/>
                                  </p:stCondLst>
                                  <p:childTnLst>
                                    <p:set>
                                      <p:cBhvr>
                                        <p:cTn id="124" dur="1" fill="hold">
                                          <p:stCondLst>
                                            <p:cond delay="0"/>
                                          </p:stCondLst>
                                        </p:cTn>
                                        <p:tgtEl>
                                          <p:spTgt spid="34"/>
                                        </p:tgtEl>
                                        <p:attrNameLst>
                                          <p:attrName>style.visibility</p:attrName>
                                        </p:attrNameLst>
                                      </p:cBhvr>
                                      <p:to>
                                        <p:strVal val="visible"/>
                                      </p:to>
                                    </p:set>
                                    <p:animEffect transition="in" filter="fade">
                                      <p:cBhvr>
                                        <p:cTn id="125" dur="550"/>
                                        <p:tgtEl>
                                          <p:spTgt spid="34"/>
                                        </p:tgtEl>
                                      </p:cBhvr>
                                    </p:animEffect>
                                    <p:anim calcmode="lin" valueType="num">
                                      <p:cBhvr>
                                        <p:cTn id="127" dur="550" decel="100000" fill="hold"/>
                                        <p:tgtEl>
                                          <p:spTgt spid="34"/>
                                        </p:tgtEl>
                                        <p:attrNameLst>
                                          <p:attrName>ppt_x</p:attrName>
                                        </p:attrNameLst>
                                      </p:cBhvr>
                                      <p:tavLst>
                                        <p:tav tm="0">
                                          <p:val>
                                            <p:strVal val="#ppt_x"/>
                                          </p:val>
                                        </p:tav>
                                        <p:tav tm="100000">
                                          <p:val>
                                            <p:strVal val="#ppt_x"/>
                                          </p:val>
                                        </p:tav>
                                      </p:tavLst>
                                    </p:anim>
                                    <p:anim calcmode="lin" valueType="num">
                                      <p:cBhvr>
                                        <p:cTn id="128" dur="550" decel="100000" fill="hold"/>
                                        <p:tgtEl>
                                          <p:spTgt spid="34"/>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P spid="30" grpId="0" animBg="1"/>
      <p:bldP spid="31" grpId="0" animBg="1"/>
      <p:bldP spid="32" grpId="0" animBg="1"/>
      <p:bldP spid="33" grpId="0" animBg="1"/>
      <p:bldP spid="34" grpId="0" animBg="1"/>
    </p:bldLst>
  </p:timing>
</p:sld>
</file>

<file path=ppt/slides/slide6.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6">
    <p:bg>
      <p:bgPr>
        <a:solidFill>
          <a:srgbClr val="0A0405"/>
        </a:solidFill>
      </p:bgPr>
    </p:bg>
    <p:spTree>
      <p:nvGrpSpPr>
        <p:cNvPr id="1" name=""/>
        <p:cNvGrpSpPr/>
        <p:nvPr/>
      </p:nvGrpSpPr>
      <p:grpSpPr>
        <a:xfrm>
          <a:off x="0" y="0"/>
          <a:ext cx="0" cy="0"/>
          <a:chOff x="0" y="0"/>
          <a:chExt cx="0" cy="0"/>
        </a:xfrm>
      </p:grpSpPr>
      <p:pic>
        <p:nvPicPr>
          <p:cNvPr id="2" name="!!bg" descr="19th-century brass microscope with blood slides">    </p:cNvPr>
          <p:cNvPicPr>
            <a:picLocks noChangeAspect="1"/>
          </p:cNvPicPr>
          <p:nvPr/>
        </p:nvPicPr>
        <p:blipFill>
          <a:blip r:embed="rId1"/>
          <a:stretch>
            <a:fillRect/>
          </a:stretch>
        </p:blipFill>
        <p:spPr>
          <a:xfrm>
            <a:off x="0" y="0"/>
            <a:ext cx="12191695" cy="6858000"/>
          </a:xfrm>
          <a:prstGeom prst="rect">
            <a:avLst/>
          </a:prstGeom>
        </p:spPr>
      </p:pic>
      <p:pic>
        <p:nvPicPr>
          <p:cNvPr id="3" name="!!shade" descr="/home/user/mdist-tracker/presentations/malaria/build/shade_L.png">    </p:cNvPr>
          <p:cNvPicPr>
            <a:picLocks noChangeAspect="1"/>
          </p:cNvPicPr>
          <p:nvPr/>
        </p:nvPicPr>
        <p:blipFill>
          <a:blip r:embed="rId2"/>
          <a:stretch>
            <a:fillRect/>
          </a:stretch>
        </p:blipFill>
        <p:spPr>
          <a:xfrm>
            <a:off x="0" y="0"/>
            <a:ext cx="12191695" cy="6858000"/>
          </a:xfrm>
          <a:prstGeom prst="rect">
            <a:avLst/>
          </a:prstGeom>
        </p:spPr>
      </p:pic>
      <p:sp>
        <p:nvSpPr>
          <p:cNvPr id="4" name="!!pill"/>
          <p:cNvSpPr/>
          <p:nvPr/>
        </p:nvSpPr>
        <p:spPr>
          <a:xfrm>
            <a:off x="548640" y="411480"/>
            <a:ext cx="1598371" cy="274320"/>
          </a:xfrm>
          <a:prstGeom prst="roundRect">
            <a:avLst>
              <a:gd name="adj" fmla="val 50000"/>
            </a:avLst>
          </a:prstGeom>
          <a:solidFill>
            <a:srgbClr val="0A0405">
              <a:alpha val="65000"/>
            </a:srgbClr>
          </a:solidFill>
          <a:ln w="9525">
            <a:solidFill>
              <a:srgbClr val="7A3038"/>
            </a:solidFill>
            <a:prstDash val="solid"/>
          </a:ln>
        </p:spPr>
      </p:sp>
      <p:sp>
        <p:nvSpPr>
          <p:cNvPr id="5" name="!!pilltext"/>
          <p:cNvSpPr txBox="1"/>
          <p:nvPr/>
        </p:nvSpPr>
        <p:spPr>
          <a:xfrm>
            <a:off x="548640" y="411480"/>
            <a:ext cx="1598371" cy="274320"/>
          </a:xfrm>
          <a:prstGeom prst="rect">
            <a:avLst/>
          </a:prstGeom>
          <a:noFill/>
          <a:ln/>
        </p:spPr>
        <p:txBody>
          <a:bodyPr wrap="square" lIns="0" tIns="0" rIns="0" bIns="0" rtlCol="0" anchor="ctr"/>
          <a:lstStyle/>
          <a:p>
            <a:pPr algn="ctr" indent="0" marL="0">
              <a:buNone/>
            </a:pPr>
            <a:r>
              <a:rPr lang="en-US" sz="1000" b="1" spc="150" kern="0" dirty="0">
                <a:solidFill>
                  <a:srgbClr val="C9B2AE"/>
                </a:solidFill>
                <a:latin typeface="Arial" pitchFamily="34" charset="0"/>
                <a:ea typeface="Arial" pitchFamily="34" charset="-122"/>
                <a:cs typeface="Arial" pitchFamily="34" charset="-120"/>
              </a:rPr>
              <a:t>02 · HISTORY</a:t>
            </a:r>
            <a:endParaRPr lang="en-US" sz="1000" dirty="0"/>
          </a:p>
        </p:txBody>
      </p:sp>
      <p:pic>
        <p:nvPicPr>
          <p:cNvPr id="6" name="!!title" descr="The great discoveries">    </p:cNvPr>
          <p:cNvPicPr>
            <a:picLocks noChangeAspect="1"/>
          </p:cNvPicPr>
          <p:nvPr/>
        </p:nvPicPr>
        <p:blipFill>
          <a:blip r:embed="rId3"/>
          <a:stretch>
            <a:fillRect/>
          </a:stretch>
        </p:blipFill>
        <p:spPr>
          <a:xfrm>
            <a:off x="521208" y="822960"/>
            <a:ext cx="7918698" cy="530721"/>
          </a:xfrm>
          <a:prstGeom prst="rect">
            <a:avLst/>
          </a:prstGeom>
        </p:spPr>
      </p:pic>
      <p:pic>
        <p:nvPicPr>
          <p:cNvPr id="7" name="!!crest" descr="MDIS Tashkent crest">    </p:cNvPr>
          <p:cNvPicPr>
            <a:picLocks noChangeAspect="1"/>
          </p:cNvPicPr>
          <p:nvPr/>
        </p:nvPicPr>
        <p:blipFill>
          <a:blip r:embed="rId4"/>
          <a:stretch>
            <a:fillRect/>
          </a:stretch>
        </p:blipFill>
        <p:spPr>
          <a:xfrm>
            <a:off x="11249708" y="384048"/>
            <a:ext cx="393347" cy="384048"/>
          </a:xfrm>
          <a:prstGeom prst="rect">
            <a:avLst/>
          </a:prstGeom>
        </p:spPr>
      </p:pic>
      <p:sp>
        <p:nvSpPr>
          <p:cNvPr id="8" name="Text 2"/>
          <p:cNvSpPr txBox="1"/>
          <p:nvPr/>
        </p:nvSpPr>
        <p:spPr>
          <a:xfrm>
            <a:off x="548640" y="6382512"/>
            <a:ext cx="7863840" cy="256032"/>
          </a:xfrm>
          <a:prstGeom prst="rect">
            <a:avLst/>
          </a:prstGeom>
          <a:noFill/>
          <a:ln/>
        </p:spPr>
        <p:txBody>
          <a:bodyPr wrap="square" lIns="0" tIns="0" rIns="0" bIns="0" rtlCol="0" anchor="ctr"/>
          <a:lstStyle/>
          <a:p>
            <a:pPr indent="0" marL="0">
              <a:buNone/>
            </a:pPr>
            <a:r>
              <a:rPr lang="en-US" sz="1000" dirty="0">
                <a:solidFill>
                  <a:srgbClr val="9C8380"/>
                </a:solidFill>
                <a:latin typeface="Arial" pitchFamily="34" charset="0"/>
                <a:ea typeface="Arial" pitchFamily="34" charset="-122"/>
                <a:cs typeface="Arial" pitchFamily="34" charset="-120"/>
              </a:rPr>
              <a:t>Source: Cox (2010); Nobel Prize Outreach (2026). Portraits: Wellcome Collection, public domain</a:t>
            </a:r>
            <a:endParaRPr lang="en-US" sz="1000" dirty="0"/>
          </a:p>
        </p:txBody>
      </p:sp>
      <p:sp>
        <p:nvSpPr>
          <p:cNvPr id="9" name="Text 3"/>
          <p:cNvSpPr txBox="1"/>
          <p:nvPr/>
        </p:nvSpPr>
        <p:spPr>
          <a:xfrm>
            <a:off x="7802575" y="6382512"/>
            <a:ext cx="3840480" cy="256032"/>
          </a:xfrm>
          <a:prstGeom prst="rect">
            <a:avLst/>
          </a:prstGeom>
          <a:noFill/>
          <a:ln/>
        </p:spPr>
        <p:txBody>
          <a:bodyPr wrap="square" lIns="0" tIns="0" rIns="0" bIns="0" rtlCol="0" anchor="ctr"/>
          <a:lstStyle/>
          <a:p>
            <a:pPr algn="r" indent="0" marL="0">
              <a:buNone/>
            </a:pPr>
            <a:r>
              <a:rPr lang="en-US" sz="1000" b="1" spc="100" kern="0" dirty="0">
                <a:solidFill>
                  <a:srgbClr val="C9B2AE"/>
                </a:solidFill>
                <a:latin typeface="Arial" pitchFamily="34" charset="0"/>
                <a:ea typeface="Arial" pitchFamily="34" charset="-122"/>
                <a:cs typeface="Arial" pitchFamily="34" charset="-120"/>
              </a:rPr>
              <a:t>MUHAMMADRIZO ASATULLAYEV   ·   06 / 16</a:t>
            </a:r>
            <a:endParaRPr lang="en-US" sz="1000" dirty="0"/>
          </a:p>
        </p:txBody>
      </p:sp>
      <p:sp>
        <p:nvSpPr>
          <p:cNvPr id="10" name="fx:1:up:card0"/>
          <p:cNvSpPr/>
          <p:nvPr/>
        </p:nvSpPr>
        <p:spPr>
          <a:xfrm>
            <a:off x="548640" y="1783080"/>
            <a:ext cx="3502152" cy="4160520"/>
          </a:xfrm>
          <a:prstGeom prst="roundRect">
            <a:avLst>
              <a:gd name="adj" fmla="val 2350"/>
            </a:avLst>
          </a:prstGeom>
          <a:solidFill>
            <a:srgbClr val="1C080B">
              <a:alpha val="82000"/>
            </a:srgbClr>
          </a:solidFill>
          <a:ln w="9525">
            <a:solidFill>
              <a:srgbClr val="7A3038"/>
            </a:solidFill>
            <a:prstDash val="solid"/>
          </a:ln>
        </p:spPr>
      </p:sp>
      <p:pic>
        <p:nvPicPr>
          <p:cNvPr id="11" name="fx:1:zoom:por0" descr="Portrait of Alphonse Laveran">    </p:cNvPr>
          <p:cNvPicPr>
            <a:picLocks noChangeAspect="1"/>
          </p:cNvPicPr>
          <p:nvPr/>
        </p:nvPicPr>
        <p:blipFill>
          <a:blip r:embed="rId5"/>
          <a:stretch>
            <a:fillRect/>
          </a:stretch>
        </p:blipFill>
        <p:spPr>
          <a:xfrm>
            <a:off x="804672" y="2057400"/>
            <a:ext cx="1188720" cy="1188720"/>
          </a:xfrm>
          <a:prstGeom prst="rect">
            <a:avLst/>
          </a:prstGeom>
        </p:spPr>
      </p:pic>
      <p:pic>
        <p:nvPicPr>
          <p:cNvPr id="12" name="fx:1:up:yr0" descr="1880">    </p:cNvPr>
          <p:cNvPicPr>
            <a:picLocks noChangeAspect="1"/>
          </p:cNvPicPr>
          <p:nvPr/>
        </p:nvPicPr>
        <p:blipFill>
          <a:blip r:embed="rId6"/>
          <a:stretch>
            <a:fillRect/>
          </a:stretch>
        </p:blipFill>
        <p:spPr>
          <a:xfrm>
            <a:off x="2212848" y="2286000"/>
            <a:ext cx="1464320" cy="530721"/>
          </a:xfrm>
          <a:prstGeom prst="rect">
            <a:avLst/>
          </a:prstGeom>
        </p:spPr>
      </p:pic>
      <p:sp>
        <p:nvSpPr>
          <p:cNvPr id="13" name="fx:1:up:nm0"/>
          <p:cNvSpPr txBox="1"/>
          <p:nvPr/>
        </p:nvSpPr>
        <p:spPr>
          <a:xfrm>
            <a:off x="804672" y="3474720"/>
            <a:ext cx="2990088" cy="457200"/>
          </a:xfrm>
          <a:prstGeom prst="rect">
            <a:avLst/>
          </a:prstGeom>
          <a:noFill/>
          <a:ln/>
        </p:spPr>
        <p:txBody>
          <a:bodyPr wrap="square" lIns="0" tIns="0" rIns="0" bIns="0" rtlCol="0" anchor="t"/>
          <a:lstStyle/>
          <a:p>
            <a:pPr indent="0" marL="0">
              <a:buNone/>
            </a:pPr>
            <a:r>
              <a:rPr lang="en-US" sz="1400" b="1" spc="50" kern="0" dirty="0">
                <a:solidFill>
                  <a:srgbClr val="F4ECE8"/>
                </a:solidFill>
                <a:latin typeface="Arial" pitchFamily="34" charset="0"/>
                <a:ea typeface="Arial" pitchFamily="34" charset="-122"/>
                <a:cs typeface="Arial" pitchFamily="34" charset="-120"/>
              </a:rPr>
              <a:t>ALPHONSE LAVERAN</a:t>
            </a:r>
            <a:endParaRPr lang="en-US" sz="1400" dirty="0"/>
          </a:p>
        </p:txBody>
      </p:sp>
      <p:sp>
        <p:nvSpPr>
          <p:cNvPr id="14" name="fx:1:up:b0"/>
          <p:cNvSpPr txBox="1"/>
          <p:nvPr/>
        </p:nvSpPr>
        <p:spPr>
          <a:xfrm>
            <a:off x="804672" y="3977640"/>
            <a:ext cx="2990088" cy="1097280"/>
          </a:xfrm>
          <a:prstGeom prst="rect">
            <a:avLst/>
          </a:prstGeom>
          <a:noFill/>
          <a:ln/>
        </p:spPr>
        <p:txBody>
          <a:bodyPr wrap="square" lIns="0" tIns="0" rIns="0" bIns="0" rtlCol="0" anchor="t"/>
          <a:lstStyle/>
          <a:p>
            <a:pPr indent="0" marL="0">
              <a:buNone/>
            </a:pPr>
            <a:r>
              <a:rPr lang="en-US" sz="1300" dirty="0">
                <a:solidFill>
                  <a:srgbClr val="C9B2AE"/>
                </a:solidFill>
                <a:latin typeface="Arial" pitchFamily="34" charset="0"/>
                <a:ea typeface="Arial" pitchFamily="34" charset="-122"/>
                <a:cs typeface="Arial" pitchFamily="34" charset="-120"/>
              </a:rPr>
              <a:t>A French army doctor in Algeria sees the parasite in the blood of a sick soldier.</a:t>
            </a:r>
            <a:endParaRPr lang="en-US" sz="1300" dirty="0"/>
          </a:p>
        </p:txBody>
      </p:sp>
      <p:sp>
        <p:nvSpPr>
          <p:cNvPr id="15" name="fx:1:up:tag0"/>
          <p:cNvSpPr/>
          <p:nvPr/>
        </p:nvSpPr>
        <p:spPr>
          <a:xfrm>
            <a:off x="804672" y="5330952"/>
            <a:ext cx="1978762" cy="274320"/>
          </a:xfrm>
          <a:prstGeom prst="roundRect">
            <a:avLst>
              <a:gd name="adj" fmla="val 50000"/>
            </a:avLst>
          </a:prstGeom>
          <a:solidFill>
            <a:srgbClr val="0A0405">
              <a:alpha val="65000"/>
            </a:srgbClr>
          </a:solidFill>
          <a:ln w="9525">
            <a:solidFill>
              <a:srgbClr val="E5333D"/>
            </a:solidFill>
            <a:prstDash val="solid"/>
          </a:ln>
        </p:spPr>
      </p:sp>
      <p:sp>
        <p:nvSpPr>
          <p:cNvPr id="16" name="fx:1:up:tagt0"/>
          <p:cNvSpPr txBox="1"/>
          <p:nvPr/>
        </p:nvSpPr>
        <p:spPr>
          <a:xfrm>
            <a:off x="804672" y="5330952"/>
            <a:ext cx="1978762" cy="274320"/>
          </a:xfrm>
          <a:prstGeom prst="rect">
            <a:avLst/>
          </a:prstGeom>
          <a:noFill/>
          <a:ln/>
        </p:spPr>
        <p:txBody>
          <a:bodyPr wrap="square" lIns="0" tIns="0" rIns="0" bIns="0" rtlCol="0" anchor="ctr"/>
          <a:lstStyle/>
          <a:p>
            <a:pPr algn="ctr" indent="0" marL="0">
              <a:buNone/>
            </a:pPr>
            <a:r>
              <a:rPr lang="en-US" sz="1000" b="1" spc="150" kern="0" dirty="0">
                <a:solidFill>
                  <a:srgbClr val="F4ECE8"/>
                </a:solidFill>
                <a:latin typeface="Arial" pitchFamily="34" charset="0"/>
                <a:ea typeface="Arial" pitchFamily="34" charset="-122"/>
                <a:cs typeface="Arial" pitchFamily="34" charset="-120"/>
              </a:rPr>
              <a:t>NOBEL PRIZE 1907</a:t>
            </a:r>
            <a:endParaRPr lang="en-US" sz="1000" dirty="0"/>
          </a:p>
        </p:txBody>
      </p:sp>
      <p:sp>
        <p:nvSpPr>
          <p:cNvPr id="17" name="fx:2:up:card1"/>
          <p:cNvSpPr/>
          <p:nvPr/>
        </p:nvSpPr>
        <p:spPr>
          <a:xfrm>
            <a:off x="4343400" y="1783080"/>
            <a:ext cx="3502152" cy="4160520"/>
          </a:xfrm>
          <a:prstGeom prst="roundRect">
            <a:avLst>
              <a:gd name="adj" fmla="val 2350"/>
            </a:avLst>
          </a:prstGeom>
          <a:solidFill>
            <a:srgbClr val="1C080B">
              <a:alpha val="82000"/>
            </a:srgbClr>
          </a:solidFill>
          <a:ln w="9525">
            <a:solidFill>
              <a:srgbClr val="7A3038"/>
            </a:solidFill>
            <a:prstDash val="solid"/>
          </a:ln>
        </p:spPr>
      </p:sp>
      <p:pic>
        <p:nvPicPr>
          <p:cNvPr id="18" name="fx:2:zoom:por1" descr="Portrait of Ronald Ross">    </p:cNvPr>
          <p:cNvPicPr>
            <a:picLocks noChangeAspect="1"/>
          </p:cNvPicPr>
          <p:nvPr/>
        </p:nvPicPr>
        <p:blipFill>
          <a:blip r:embed="rId7"/>
          <a:stretch>
            <a:fillRect/>
          </a:stretch>
        </p:blipFill>
        <p:spPr>
          <a:xfrm>
            <a:off x="4599432" y="2057400"/>
            <a:ext cx="1188720" cy="1188720"/>
          </a:xfrm>
          <a:prstGeom prst="rect">
            <a:avLst/>
          </a:prstGeom>
        </p:spPr>
      </p:pic>
      <p:pic>
        <p:nvPicPr>
          <p:cNvPr id="19" name="fx:2:up:yr1" descr="1897">    </p:cNvPr>
          <p:cNvPicPr>
            <a:picLocks noChangeAspect="1"/>
          </p:cNvPicPr>
          <p:nvPr/>
        </p:nvPicPr>
        <p:blipFill>
          <a:blip r:embed="rId8"/>
          <a:stretch>
            <a:fillRect/>
          </a:stretch>
        </p:blipFill>
        <p:spPr>
          <a:xfrm>
            <a:off x="6007608" y="2286000"/>
            <a:ext cx="1427113" cy="530721"/>
          </a:xfrm>
          <a:prstGeom prst="rect">
            <a:avLst/>
          </a:prstGeom>
        </p:spPr>
      </p:pic>
      <p:sp>
        <p:nvSpPr>
          <p:cNvPr id="20" name="fx:2:up:nm1"/>
          <p:cNvSpPr txBox="1"/>
          <p:nvPr/>
        </p:nvSpPr>
        <p:spPr>
          <a:xfrm>
            <a:off x="4599432" y="3474720"/>
            <a:ext cx="2990088" cy="457200"/>
          </a:xfrm>
          <a:prstGeom prst="rect">
            <a:avLst/>
          </a:prstGeom>
          <a:noFill/>
          <a:ln/>
        </p:spPr>
        <p:txBody>
          <a:bodyPr wrap="square" lIns="0" tIns="0" rIns="0" bIns="0" rtlCol="0" anchor="t"/>
          <a:lstStyle/>
          <a:p>
            <a:pPr indent="0" marL="0">
              <a:buNone/>
            </a:pPr>
            <a:r>
              <a:rPr lang="en-US" sz="1400" b="1" spc="50" kern="0" dirty="0">
                <a:solidFill>
                  <a:srgbClr val="F4ECE8"/>
                </a:solidFill>
                <a:latin typeface="Arial" pitchFamily="34" charset="0"/>
                <a:ea typeface="Arial" pitchFamily="34" charset="-122"/>
                <a:cs typeface="Arial" pitchFamily="34" charset="-120"/>
              </a:rPr>
              <a:t>RONALD ROSS</a:t>
            </a:r>
            <a:endParaRPr lang="en-US" sz="1400" dirty="0"/>
          </a:p>
        </p:txBody>
      </p:sp>
      <p:sp>
        <p:nvSpPr>
          <p:cNvPr id="21" name="fx:2:up:b1"/>
          <p:cNvSpPr txBox="1"/>
          <p:nvPr/>
        </p:nvSpPr>
        <p:spPr>
          <a:xfrm>
            <a:off x="4599432" y="3977640"/>
            <a:ext cx="2990088" cy="1097280"/>
          </a:xfrm>
          <a:prstGeom prst="rect">
            <a:avLst/>
          </a:prstGeom>
          <a:noFill/>
          <a:ln/>
        </p:spPr>
        <p:txBody>
          <a:bodyPr wrap="square" lIns="0" tIns="0" rIns="0" bIns="0" rtlCol="0" anchor="t"/>
          <a:lstStyle/>
          <a:p>
            <a:pPr indent="0" marL="0">
              <a:buNone/>
            </a:pPr>
            <a:r>
              <a:rPr lang="en-US" sz="1300" dirty="0">
                <a:solidFill>
                  <a:srgbClr val="C9B2AE"/>
                </a:solidFill>
                <a:latin typeface="Arial" pitchFamily="34" charset="0"/>
                <a:ea typeface="Arial" pitchFamily="34" charset="-122"/>
                <a:cs typeface="Arial" pitchFamily="34" charset="-120"/>
              </a:rPr>
              <a:t>In India, he finds the parasite inside a mosquito: 20 August, “Mosquito Day”.</a:t>
            </a:r>
            <a:endParaRPr lang="en-US" sz="1300" dirty="0"/>
          </a:p>
        </p:txBody>
      </p:sp>
      <p:sp>
        <p:nvSpPr>
          <p:cNvPr id="22" name="fx:2:up:tag1"/>
          <p:cNvSpPr/>
          <p:nvPr/>
        </p:nvSpPr>
        <p:spPr>
          <a:xfrm>
            <a:off x="4599432" y="5330952"/>
            <a:ext cx="1978762" cy="274320"/>
          </a:xfrm>
          <a:prstGeom prst="roundRect">
            <a:avLst>
              <a:gd name="adj" fmla="val 50000"/>
            </a:avLst>
          </a:prstGeom>
          <a:solidFill>
            <a:srgbClr val="0A0405">
              <a:alpha val="65000"/>
            </a:srgbClr>
          </a:solidFill>
          <a:ln w="9525">
            <a:solidFill>
              <a:srgbClr val="E5333D"/>
            </a:solidFill>
            <a:prstDash val="solid"/>
          </a:ln>
        </p:spPr>
      </p:sp>
      <p:sp>
        <p:nvSpPr>
          <p:cNvPr id="23" name="fx:2:up:tagt1"/>
          <p:cNvSpPr txBox="1"/>
          <p:nvPr/>
        </p:nvSpPr>
        <p:spPr>
          <a:xfrm>
            <a:off x="4599432" y="5330952"/>
            <a:ext cx="1978762" cy="274320"/>
          </a:xfrm>
          <a:prstGeom prst="rect">
            <a:avLst/>
          </a:prstGeom>
          <a:noFill/>
          <a:ln/>
        </p:spPr>
        <p:txBody>
          <a:bodyPr wrap="square" lIns="0" tIns="0" rIns="0" bIns="0" rtlCol="0" anchor="ctr"/>
          <a:lstStyle/>
          <a:p>
            <a:pPr algn="ctr" indent="0" marL="0">
              <a:buNone/>
            </a:pPr>
            <a:r>
              <a:rPr lang="en-US" sz="1000" b="1" spc="150" kern="0" dirty="0">
                <a:solidFill>
                  <a:srgbClr val="F4ECE8"/>
                </a:solidFill>
                <a:latin typeface="Arial" pitchFamily="34" charset="0"/>
                <a:ea typeface="Arial" pitchFamily="34" charset="-122"/>
                <a:cs typeface="Arial" pitchFamily="34" charset="-120"/>
              </a:rPr>
              <a:t>NOBEL PRIZE 1902</a:t>
            </a:r>
            <a:endParaRPr lang="en-US" sz="1000" dirty="0"/>
          </a:p>
        </p:txBody>
      </p:sp>
      <p:sp>
        <p:nvSpPr>
          <p:cNvPr id="24" name="fx:3:up:card2"/>
          <p:cNvSpPr/>
          <p:nvPr/>
        </p:nvSpPr>
        <p:spPr>
          <a:xfrm>
            <a:off x="8138160" y="1783080"/>
            <a:ext cx="3502152" cy="4160520"/>
          </a:xfrm>
          <a:prstGeom prst="roundRect">
            <a:avLst>
              <a:gd name="adj" fmla="val 2350"/>
            </a:avLst>
          </a:prstGeom>
          <a:solidFill>
            <a:srgbClr val="1C080B">
              <a:alpha val="82000"/>
            </a:srgbClr>
          </a:solidFill>
          <a:ln w="9525">
            <a:solidFill>
              <a:srgbClr val="7A3038"/>
            </a:solidFill>
            <a:prstDash val="solid"/>
          </a:ln>
        </p:spPr>
      </p:sp>
      <p:pic>
        <p:nvPicPr>
          <p:cNvPr id="25" name="fx:3:zoom:por2" descr="Portrait of Giovanni Battista Grassi">    </p:cNvPr>
          <p:cNvPicPr>
            <a:picLocks noChangeAspect="1"/>
          </p:cNvPicPr>
          <p:nvPr/>
        </p:nvPicPr>
        <p:blipFill>
          <a:blip r:embed="rId9"/>
          <a:stretch>
            <a:fillRect/>
          </a:stretch>
        </p:blipFill>
        <p:spPr>
          <a:xfrm>
            <a:off x="8394192" y="2057400"/>
            <a:ext cx="1188720" cy="1188720"/>
          </a:xfrm>
          <a:prstGeom prst="rect">
            <a:avLst/>
          </a:prstGeom>
        </p:spPr>
      </p:pic>
      <p:pic>
        <p:nvPicPr>
          <p:cNvPr id="26" name="fx:3:up:yr2" descr="1898">    </p:cNvPr>
          <p:cNvPicPr>
            <a:picLocks noChangeAspect="1"/>
          </p:cNvPicPr>
          <p:nvPr/>
        </p:nvPicPr>
        <p:blipFill>
          <a:blip r:embed="rId10"/>
          <a:stretch>
            <a:fillRect/>
          </a:stretch>
        </p:blipFill>
        <p:spPr>
          <a:xfrm>
            <a:off x="9802368" y="2286000"/>
            <a:ext cx="1467148" cy="530721"/>
          </a:xfrm>
          <a:prstGeom prst="rect">
            <a:avLst/>
          </a:prstGeom>
        </p:spPr>
      </p:pic>
      <p:sp>
        <p:nvSpPr>
          <p:cNvPr id="27" name="fx:3:up:nm2"/>
          <p:cNvSpPr txBox="1"/>
          <p:nvPr/>
        </p:nvSpPr>
        <p:spPr>
          <a:xfrm>
            <a:off x="8394192" y="3474720"/>
            <a:ext cx="2990088" cy="457200"/>
          </a:xfrm>
          <a:prstGeom prst="rect">
            <a:avLst/>
          </a:prstGeom>
          <a:noFill/>
          <a:ln/>
        </p:spPr>
        <p:txBody>
          <a:bodyPr wrap="square" lIns="0" tIns="0" rIns="0" bIns="0" rtlCol="0" anchor="t"/>
          <a:lstStyle/>
          <a:p>
            <a:pPr indent="0" marL="0">
              <a:buNone/>
            </a:pPr>
            <a:r>
              <a:rPr lang="en-US" sz="1400" b="1" spc="50" kern="0" dirty="0">
                <a:solidFill>
                  <a:srgbClr val="F4ECE8"/>
                </a:solidFill>
                <a:latin typeface="Arial" pitchFamily="34" charset="0"/>
                <a:ea typeface="Arial" pitchFamily="34" charset="-122"/>
                <a:cs typeface="Arial" pitchFamily="34" charset="-120"/>
              </a:rPr>
              <a:t>GIOVANNI BATTISTA GRASSI</a:t>
            </a:r>
            <a:endParaRPr lang="en-US" sz="1400" dirty="0"/>
          </a:p>
        </p:txBody>
      </p:sp>
      <p:sp>
        <p:nvSpPr>
          <p:cNvPr id="28" name="fx:3:up:b2"/>
          <p:cNvSpPr txBox="1"/>
          <p:nvPr/>
        </p:nvSpPr>
        <p:spPr>
          <a:xfrm>
            <a:off x="8394192" y="3977640"/>
            <a:ext cx="2990088" cy="1097280"/>
          </a:xfrm>
          <a:prstGeom prst="rect">
            <a:avLst/>
          </a:prstGeom>
          <a:noFill/>
          <a:ln/>
        </p:spPr>
        <p:txBody>
          <a:bodyPr wrap="square" lIns="0" tIns="0" rIns="0" bIns="0" rtlCol="0" anchor="t"/>
          <a:lstStyle/>
          <a:p>
            <a:pPr indent="0" marL="0">
              <a:buNone/>
            </a:pPr>
            <a:r>
              <a:rPr lang="en-US" sz="1300" dirty="0">
                <a:solidFill>
                  <a:srgbClr val="C9B2AE"/>
                </a:solidFill>
                <a:latin typeface="Arial" pitchFamily="34" charset="0"/>
                <a:ea typeface="Arial" pitchFamily="34" charset="-122"/>
                <a:cs typeface="Arial" pitchFamily="34" charset="-120"/>
              </a:rPr>
              <a:t>His Italian team proves that Anopheles mosquitoes carry human malaria.</a:t>
            </a:r>
            <a:endParaRPr lang="en-US" sz="1300" dirty="0"/>
          </a:p>
        </p:txBody>
      </p:sp>
      <p:sp>
        <p:nvSpPr>
          <p:cNvPr id="29" name="fx:3:up:tag2"/>
          <p:cNvSpPr/>
          <p:nvPr/>
        </p:nvSpPr>
        <p:spPr>
          <a:xfrm>
            <a:off x="8394192" y="5330952"/>
            <a:ext cx="1598371" cy="274320"/>
          </a:xfrm>
          <a:prstGeom prst="roundRect">
            <a:avLst>
              <a:gd name="adj" fmla="val 50000"/>
            </a:avLst>
          </a:prstGeom>
          <a:solidFill>
            <a:srgbClr val="0A0405">
              <a:alpha val="65000"/>
            </a:srgbClr>
          </a:solidFill>
          <a:ln w="9525">
            <a:solidFill>
              <a:srgbClr val="7A3038"/>
            </a:solidFill>
            <a:prstDash val="solid"/>
          </a:ln>
        </p:spPr>
      </p:sp>
      <p:sp>
        <p:nvSpPr>
          <p:cNvPr id="30" name="fx:3:up:tagt2"/>
          <p:cNvSpPr txBox="1"/>
          <p:nvPr/>
        </p:nvSpPr>
        <p:spPr>
          <a:xfrm>
            <a:off x="8394192" y="5330952"/>
            <a:ext cx="1598371" cy="274320"/>
          </a:xfrm>
          <a:prstGeom prst="rect">
            <a:avLst/>
          </a:prstGeom>
          <a:noFill/>
          <a:ln/>
        </p:spPr>
        <p:txBody>
          <a:bodyPr wrap="square" lIns="0" tIns="0" rIns="0" bIns="0" rtlCol="0" anchor="ctr"/>
          <a:lstStyle/>
          <a:p>
            <a:pPr algn="ctr" indent="0" marL="0">
              <a:buNone/>
            </a:pPr>
            <a:r>
              <a:rPr lang="en-US" sz="1000" b="1" spc="150" kern="0" dirty="0">
                <a:solidFill>
                  <a:srgbClr val="C9B2AE"/>
                </a:solidFill>
                <a:latin typeface="Arial" pitchFamily="34" charset="0"/>
                <a:ea typeface="Arial" pitchFamily="34" charset="-122"/>
                <a:cs typeface="Arial" pitchFamily="34" charset="-120"/>
              </a:rPr>
              <a:t>ITALY · 1898</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42" presetClass="entr" presetSubtype="0" fill="hold" grpId="0" nodeType="afterEffect">
                                  <p:stCondLst>
                                    <p:cond delay="15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550"/>
                                        <p:tgtEl>
                                          <p:spTgt spid="10"/>
                                        </p:tgtEl>
                                      </p:cBhvr>
                                    </p:animEffect>
                                    <p:anim calcmode="lin" valueType="num">
                                      <p:cBhvr>
                                        <p:cTn id="8" dur="550" decel="100000" fill="hold"/>
                                        <p:tgtEl>
                                          <p:spTgt spid="10"/>
                                        </p:tgtEl>
                                        <p:attrNameLst>
                                          <p:attrName>ppt_x</p:attrName>
                                        </p:attrNameLst>
                                      </p:cBhvr>
                                      <p:tavLst>
                                        <p:tav tm="0">
                                          <p:val>
                                            <p:strVal val="#ppt_x"/>
                                          </p:val>
                                        </p:tav>
                                        <p:tav tm="100000">
                                          <p:val>
                                            <p:strVal val="#ppt_x"/>
                                          </p:val>
                                        </p:tav>
                                      </p:tavLst>
                                    </p:anim>
                                    <p:anim calcmode="lin" valueType="num">
                                      <p:cBhvr>
                                        <p:cTn id="9" dur="550" decel="100000" fill="hold"/>
                                        <p:tgtEl>
                                          <p:spTgt spid="10"/>
                                        </p:tgtEl>
                                        <p:attrNameLst>
                                          <p:attrName>ppt_y</p:attrName>
                                        </p:attrNameLst>
                                      </p:cBhvr>
                                      <p:tavLst>
                                        <p:tav tm="0">
                                          <p:val>
                                            <p:strVal val="#ppt_y+0.04"/>
                                          </p:val>
                                        </p:tav>
                                        <p:tav tm="100000">
                                          <p:val>
                                            <p:strVal val="#ppt_y"/>
                                          </p:val>
                                        </p:tav>
                                      </p:tavLst>
                                    </p:anim>
                                  </p:childTnLst>
                                </p:cTn>
                              </p:par>
                              <p:par>
                                <p:cTn id="12" presetID="53" presetClass="entr" presetSubtype="16" fill="hold" grpId="0" nodeType="withEffect">
                                  <p:stCondLst>
                                    <p:cond delay="150"/>
                                  </p:stCondLst>
                                  <p:childTnLst>
                                    <p:set>
                                      <p:cBhvr>
                                        <p:cTn id="10" dur="1" fill="hold">
                                          <p:stCondLst>
                                            <p:cond delay="0"/>
                                          </p:stCondLst>
                                        </p:cTn>
                                        <p:tgtEl>
                                          <p:spTgt spid="11"/>
                                        </p:tgtEl>
                                        <p:attrNameLst>
                                          <p:attrName>style.visibility</p:attrName>
                                        </p:attrNameLst>
                                      </p:cBhvr>
                                      <p:to>
                                        <p:strVal val="visible"/>
                                      </p:to>
                                    </p:set>
                                    <p:anim calcmode="lin" valueType="num">
                                      <p:cBhvr>
                                        <p:cTn id="13" dur="600" decel="100000" fill="hold"/>
                                        <p:tgtEl>
                                          <p:spTgt spid="11"/>
                                        </p:tgtEl>
                                        <p:attrNameLst>
                                          <p:attrName>ppt_w</p:attrName>
                                        </p:attrNameLst>
                                      </p:cBhvr>
                                      <p:tavLst>
                                        <p:tav tm="0">
                                          <p:val>
                                            <p:strVal val="#ppt_w*0.7"/>
                                          </p:val>
                                        </p:tav>
                                        <p:tav tm="100000">
                                          <p:val>
                                            <p:strVal val="#ppt_w"/>
                                          </p:val>
                                        </p:tav>
                                      </p:tavLst>
                                    </p:anim>
                                    <p:anim calcmode="lin" valueType="num">
                                      <p:cBhvr>
                                        <p:cTn id="14" dur="600" decel="100000" fill="hold"/>
                                        <p:tgtEl>
                                          <p:spTgt spid="11"/>
                                        </p:tgtEl>
                                        <p:attrNameLst>
                                          <p:attrName>ppt_h</p:attrName>
                                        </p:attrNameLst>
                                      </p:cBhvr>
                                      <p:tavLst>
                                        <p:tav tm="0">
                                          <p:val>
                                            <p:strVal val="#ppt_h*0.7"/>
                                          </p:val>
                                        </p:tav>
                                        <p:tav tm="100000">
                                          <p:val>
                                            <p:strVal val="#ppt_h"/>
                                          </p:val>
                                        </p:tav>
                                      </p:tavLst>
                                    </p:anim>
                                    <p:animEffect transition="in" filter="fade">
                                      <p:cBhvr>
                                        <p:cTn id="11" dur="600"/>
                                        <p:tgtEl>
                                          <p:spTgt spid="11"/>
                                        </p:tgtEl>
                                      </p:cBhvr>
                                    </p:animEffect>
                                  </p:childTnLst>
                                </p:cTn>
                              </p:par>
                              <p:par>
                                <p:cTn id="17" presetID="42" presetClass="entr" presetSubtype="0" fill="hold" grpId="0" nodeType="withEffect">
                                  <p:stCondLst>
                                    <p:cond delay="15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50"/>
                                        <p:tgtEl>
                                          <p:spTgt spid="12"/>
                                        </p:tgtEl>
                                      </p:cBhvr>
                                    </p:animEffect>
                                    <p:anim calcmode="lin" valueType="num">
                                      <p:cBhvr>
                                        <p:cTn id="18" dur="550" decel="100000" fill="hold"/>
                                        <p:tgtEl>
                                          <p:spTgt spid="12"/>
                                        </p:tgtEl>
                                        <p:attrNameLst>
                                          <p:attrName>ppt_x</p:attrName>
                                        </p:attrNameLst>
                                      </p:cBhvr>
                                      <p:tavLst>
                                        <p:tav tm="0">
                                          <p:val>
                                            <p:strVal val="#ppt_x"/>
                                          </p:val>
                                        </p:tav>
                                        <p:tav tm="100000">
                                          <p:val>
                                            <p:strVal val="#ppt_x"/>
                                          </p:val>
                                        </p:tav>
                                      </p:tavLst>
                                    </p:anim>
                                    <p:anim calcmode="lin" valueType="num">
                                      <p:cBhvr>
                                        <p:cTn id="19" dur="550" decel="100000" fill="hold"/>
                                        <p:tgtEl>
                                          <p:spTgt spid="12"/>
                                        </p:tgtEl>
                                        <p:attrNameLst>
                                          <p:attrName>ppt_y</p:attrName>
                                        </p:attrNameLst>
                                      </p:cBhvr>
                                      <p:tavLst>
                                        <p:tav tm="0">
                                          <p:val>
                                            <p:strVal val="#ppt_y+0.04"/>
                                          </p:val>
                                        </p:tav>
                                        <p:tav tm="100000">
                                          <p:val>
                                            <p:strVal val="#ppt_y"/>
                                          </p:val>
                                        </p:tav>
                                      </p:tavLst>
                                    </p:anim>
                                  </p:childTnLst>
                                </p:cTn>
                              </p:par>
                              <p:par>
                                <p:cTn id="22" presetID="42" presetClass="entr" presetSubtype="0" fill="hold" grpId="0" nodeType="withEffect">
                                  <p:stCondLst>
                                    <p:cond delay="15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50"/>
                                        <p:tgtEl>
                                          <p:spTgt spid="13"/>
                                        </p:tgtEl>
                                      </p:cBhvr>
                                    </p:animEffect>
                                    <p:anim calcmode="lin" valueType="num">
                                      <p:cBhvr>
                                        <p:cTn id="23" dur="550" decel="100000" fill="hold"/>
                                        <p:tgtEl>
                                          <p:spTgt spid="13"/>
                                        </p:tgtEl>
                                        <p:attrNameLst>
                                          <p:attrName>ppt_x</p:attrName>
                                        </p:attrNameLst>
                                      </p:cBhvr>
                                      <p:tavLst>
                                        <p:tav tm="0">
                                          <p:val>
                                            <p:strVal val="#ppt_x"/>
                                          </p:val>
                                        </p:tav>
                                        <p:tav tm="100000">
                                          <p:val>
                                            <p:strVal val="#ppt_x"/>
                                          </p:val>
                                        </p:tav>
                                      </p:tavLst>
                                    </p:anim>
                                    <p:anim calcmode="lin" valueType="num">
                                      <p:cBhvr>
                                        <p:cTn id="24" dur="550" decel="100000" fill="hold"/>
                                        <p:tgtEl>
                                          <p:spTgt spid="13"/>
                                        </p:tgtEl>
                                        <p:attrNameLst>
                                          <p:attrName>ppt_y</p:attrName>
                                        </p:attrNameLst>
                                      </p:cBhvr>
                                      <p:tavLst>
                                        <p:tav tm="0">
                                          <p:val>
                                            <p:strVal val="#ppt_y+0.04"/>
                                          </p:val>
                                        </p:tav>
                                        <p:tav tm="100000">
                                          <p:val>
                                            <p:strVal val="#ppt_y"/>
                                          </p:val>
                                        </p:tav>
                                      </p:tavLst>
                                    </p:anim>
                                  </p:childTnLst>
                                </p:cTn>
                              </p:par>
                              <p:par>
                                <p:cTn id="27" presetID="42" presetClass="entr" presetSubtype="0" fill="hold" grpId="0" nodeType="withEffect">
                                  <p:stCondLst>
                                    <p:cond delay="15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50"/>
                                        <p:tgtEl>
                                          <p:spTgt spid="14"/>
                                        </p:tgtEl>
                                      </p:cBhvr>
                                    </p:animEffect>
                                    <p:anim calcmode="lin" valueType="num">
                                      <p:cBhvr>
                                        <p:cTn id="28" dur="550" decel="100000" fill="hold"/>
                                        <p:tgtEl>
                                          <p:spTgt spid="14"/>
                                        </p:tgtEl>
                                        <p:attrNameLst>
                                          <p:attrName>ppt_x</p:attrName>
                                        </p:attrNameLst>
                                      </p:cBhvr>
                                      <p:tavLst>
                                        <p:tav tm="0">
                                          <p:val>
                                            <p:strVal val="#ppt_x"/>
                                          </p:val>
                                        </p:tav>
                                        <p:tav tm="100000">
                                          <p:val>
                                            <p:strVal val="#ppt_x"/>
                                          </p:val>
                                        </p:tav>
                                      </p:tavLst>
                                    </p:anim>
                                    <p:anim calcmode="lin" valueType="num">
                                      <p:cBhvr>
                                        <p:cTn id="29" dur="550" decel="100000" fill="hold"/>
                                        <p:tgtEl>
                                          <p:spTgt spid="14"/>
                                        </p:tgtEl>
                                        <p:attrNameLst>
                                          <p:attrName>ppt_y</p:attrName>
                                        </p:attrNameLst>
                                      </p:cBhvr>
                                      <p:tavLst>
                                        <p:tav tm="0">
                                          <p:val>
                                            <p:strVal val="#ppt_y+0.04"/>
                                          </p:val>
                                        </p:tav>
                                        <p:tav tm="100000">
                                          <p:val>
                                            <p:strVal val="#ppt_y"/>
                                          </p:val>
                                        </p:tav>
                                      </p:tavLst>
                                    </p:anim>
                                  </p:childTnLst>
                                </p:cTn>
                              </p:par>
                              <p:par>
                                <p:cTn id="32" presetID="42" presetClass="entr" presetSubtype="0" fill="hold" grpId="0" nodeType="withEffect">
                                  <p:stCondLst>
                                    <p:cond delay="15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50"/>
                                        <p:tgtEl>
                                          <p:spTgt spid="15"/>
                                        </p:tgtEl>
                                      </p:cBhvr>
                                    </p:animEffect>
                                    <p:anim calcmode="lin" valueType="num">
                                      <p:cBhvr>
                                        <p:cTn id="33" dur="550" decel="100000" fill="hold"/>
                                        <p:tgtEl>
                                          <p:spTgt spid="15"/>
                                        </p:tgtEl>
                                        <p:attrNameLst>
                                          <p:attrName>ppt_x</p:attrName>
                                        </p:attrNameLst>
                                      </p:cBhvr>
                                      <p:tavLst>
                                        <p:tav tm="0">
                                          <p:val>
                                            <p:strVal val="#ppt_x"/>
                                          </p:val>
                                        </p:tav>
                                        <p:tav tm="100000">
                                          <p:val>
                                            <p:strVal val="#ppt_x"/>
                                          </p:val>
                                        </p:tav>
                                      </p:tavLst>
                                    </p:anim>
                                    <p:anim calcmode="lin" valueType="num">
                                      <p:cBhvr>
                                        <p:cTn id="34" dur="550" decel="100000" fill="hold"/>
                                        <p:tgtEl>
                                          <p:spTgt spid="15"/>
                                        </p:tgtEl>
                                        <p:attrNameLst>
                                          <p:attrName>ppt_y</p:attrName>
                                        </p:attrNameLst>
                                      </p:cBhvr>
                                      <p:tavLst>
                                        <p:tav tm="0">
                                          <p:val>
                                            <p:strVal val="#ppt_y+0.04"/>
                                          </p:val>
                                        </p:tav>
                                        <p:tav tm="100000">
                                          <p:val>
                                            <p:strVal val="#ppt_y"/>
                                          </p:val>
                                        </p:tav>
                                      </p:tavLst>
                                    </p:anim>
                                  </p:childTnLst>
                                </p:cTn>
                              </p:par>
                              <p:par>
                                <p:cTn id="37" presetID="42" presetClass="entr" presetSubtype="0" fill="hold" grpId="0" nodeType="withEffect">
                                  <p:stCondLst>
                                    <p:cond delay="15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50"/>
                                        <p:tgtEl>
                                          <p:spTgt spid="16"/>
                                        </p:tgtEl>
                                      </p:cBhvr>
                                    </p:animEffect>
                                    <p:anim calcmode="lin" valueType="num">
                                      <p:cBhvr>
                                        <p:cTn id="38" dur="550" decel="100000" fill="hold"/>
                                        <p:tgtEl>
                                          <p:spTgt spid="16"/>
                                        </p:tgtEl>
                                        <p:attrNameLst>
                                          <p:attrName>ppt_x</p:attrName>
                                        </p:attrNameLst>
                                      </p:cBhvr>
                                      <p:tavLst>
                                        <p:tav tm="0">
                                          <p:val>
                                            <p:strVal val="#ppt_x"/>
                                          </p:val>
                                        </p:tav>
                                        <p:tav tm="100000">
                                          <p:val>
                                            <p:strVal val="#ppt_x"/>
                                          </p:val>
                                        </p:tav>
                                      </p:tavLst>
                                    </p:anim>
                                    <p:anim calcmode="lin" valueType="num">
                                      <p:cBhvr>
                                        <p:cTn id="39" dur="550" decel="100000" fill="hold"/>
                                        <p:tgtEl>
                                          <p:spTgt spid="16"/>
                                        </p:tgtEl>
                                        <p:attrNameLst>
                                          <p:attrName>ppt_y</p:attrName>
                                        </p:attrNameLst>
                                      </p:cBhvr>
                                      <p:tavLst>
                                        <p:tav tm="0">
                                          <p:val>
                                            <p:strVal val="#ppt_y+0.04"/>
                                          </p:val>
                                        </p:tav>
                                        <p:tav tm="100000">
                                          <p:val>
                                            <p:strVal val="#ppt_y"/>
                                          </p:val>
                                        </p:tav>
                                      </p:tavLst>
                                    </p:anim>
                                  </p:childTnLst>
                                </p:cTn>
                              </p:par>
                              <p:par>
                                <p:cTn id="42" presetID="42" presetClass="entr" presetSubtype="0" fill="hold" grpId="0" nodeType="withEffect">
                                  <p:stCondLst>
                                    <p:cond delay="28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50"/>
                                        <p:tgtEl>
                                          <p:spTgt spid="17"/>
                                        </p:tgtEl>
                                      </p:cBhvr>
                                    </p:animEffect>
                                    <p:anim calcmode="lin" valueType="num">
                                      <p:cBhvr>
                                        <p:cTn id="43" dur="550" decel="100000" fill="hold"/>
                                        <p:tgtEl>
                                          <p:spTgt spid="17"/>
                                        </p:tgtEl>
                                        <p:attrNameLst>
                                          <p:attrName>ppt_x</p:attrName>
                                        </p:attrNameLst>
                                      </p:cBhvr>
                                      <p:tavLst>
                                        <p:tav tm="0">
                                          <p:val>
                                            <p:strVal val="#ppt_x"/>
                                          </p:val>
                                        </p:tav>
                                        <p:tav tm="100000">
                                          <p:val>
                                            <p:strVal val="#ppt_x"/>
                                          </p:val>
                                        </p:tav>
                                      </p:tavLst>
                                    </p:anim>
                                    <p:anim calcmode="lin" valueType="num">
                                      <p:cBhvr>
                                        <p:cTn id="44" dur="550" decel="100000" fill="hold"/>
                                        <p:tgtEl>
                                          <p:spTgt spid="17"/>
                                        </p:tgtEl>
                                        <p:attrNameLst>
                                          <p:attrName>ppt_y</p:attrName>
                                        </p:attrNameLst>
                                      </p:cBhvr>
                                      <p:tavLst>
                                        <p:tav tm="0">
                                          <p:val>
                                            <p:strVal val="#ppt_y+0.04"/>
                                          </p:val>
                                        </p:tav>
                                        <p:tav tm="100000">
                                          <p:val>
                                            <p:strVal val="#ppt_y"/>
                                          </p:val>
                                        </p:tav>
                                      </p:tavLst>
                                    </p:anim>
                                  </p:childTnLst>
                                </p:cTn>
                              </p:par>
                              <p:par>
                                <p:cTn id="47" presetID="53" presetClass="entr" presetSubtype="16" fill="hold" grpId="0" nodeType="withEffect">
                                  <p:stCondLst>
                                    <p:cond delay="280"/>
                                  </p:stCondLst>
                                  <p:childTnLst>
                                    <p:set>
                                      <p:cBhvr>
                                        <p:cTn id="45" dur="1" fill="hold">
                                          <p:stCondLst>
                                            <p:cond delay="0"/>
                                          </p:stCondLst>
                                        </p:cTn>
                                        <p:tgtEl>
                                          <p:spTgt spid="18"/>
                                        </p:tgtEl>
                                        <p:attrNameLst>
                                          <p:attrName>style.visibility</p:attrName>
                                        </p:attrNameLst>
                                      </p:cBhvr>
                                      <p:to>
                                        <p:strVal val="visible"/>
                                      </p:to>
                                    </p:set>
                                    <p:anim calcmode="lin" valueType="num">
                                      <p:cBhvr>
                                        <p:cTn id="48" dur="600" decel="100000" fill="hold"/>
                                        <p:tgtEl>
                                          <p:spTgt spid="18"/>
                                        </p:tgtEl>
                                        <p:attrNameLst>
                                          <p:attrName>ppt_w</p:attrName>
                                        </p:attrNameLst>
                                      </p:cBhvr>
                                      <p:tavLst>
                                        <p:tav tm="0">
                                          <p:val>
                                            <p:strVal val="#ppt_w*0.7"/>
                                          </p:val>
                                        </p:tav>
                                        <p:tav tm="100000">
                                          <p:val>
                                            <p:strVal val="#ppt_w"/>
                                          </p:val>
                                        </p:tav>
                                      </p:tavLst>
                                    </p:anim>
                                    <p:anim calcmode="lin" valueType="num">
                                      <p:cBhvr>
                                        <p:cTn id="49" dur="600" decel="100000" fill="hold"/>
                                        <p:tgtEl>
                                          <p:spTgt spid="18"/>
                                        </p:tgtEl>
                                        <p:attrNameLst>
                                          <p:attrName>ppt_h</p:attrName>
                                        </p:attrNameLst>
                                      </p:cBhvr>
                                      <p:tavLst>
                                        <p:tav tm="0">
                                          <p:val>
                                            <p:strVal val="#ppt_h*0.7"/>
                                          </p:val>
                                        </p:tav>
                                        <p:tav tm="100000">
                                          <p:val>
                                            <p:strVal val="#ppt_h"/>
                                          </p:val>
                                        </p:tav>
                                      </p:tavLst>
                                    </p:anim>
                                    <p:animEffect transition="in" filter="fade">
                                      <p:cBhvr>
                                        <p:cTn id="46" dur="600"/>
                                        <p:tgtEl>
                                          <p:spTgt spid="18"/>
                                        </p:tgtEl>
                                      </p:cBhvr>
                                    </p:animEffect>
                                  </p:childTnLst>
                                </p:cTn>
                              </p:par>
                              <p:par>
                                <p:cTn id="52" presetID="42" presetClass="entr" presetSubtype="0" fill="hold" grpId="0" nodeType="withEffect">
                                  <p:stCondLst>
                                    <p:cond delay="28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50"/>
                                        <p:tgtEl>
                                          <p:spTgt spid="19"/>
                                        </p:tgtEl>
                                      </p:cBhvr>
                                    </p:animEffect>
                                    <p:anim calcmode="lin" valueType="num">
                                      <p:cBhvr>
                                        <p:cTn id="53" dur="550" decel="100000" fill="hold"/>
                                        <p:tgtEl>
                                          <p:spTgt spid="19"/>
                                        </p:tgtEl>
                                        <p:attrNameLst>
                                          <p:attrName>ppt_x</p:attrName>
                                        </p:attrNameLst>
                                      </p:cBhvr>
                                      <p:tavLst>
                                        <p:tav tm="0">
                                          <p:val>
                                            <p:strVal val="#ppt_x"/>
                                          </p:val>
                                        </p:tav>
                                        <p:tav tm="100000">
                                          <p:val>
                                            <p:strVal val="#ppt_x"/>
                                          </p:val>
                                        </p:tav>
                                      </p:tavLst>
                                    </p:anim>
                                    <p:anim calcmode="lin" valueType="num">
                                      <p:cBhvr>
                                        <p:cTn id="54" dur="550" decel="100000" fill="hold"/>
                                        <p:tgtEl>
                                          <p:spTgt spid="19"/>
                                        </p:tgtEl>
                                        <p:attrNameLst>
                                          <p:attrName>ppt_y</p:attrName>
                                        </p:attrNameLst>
                                      </p:cBhvr>
                                      <p:tavLst>
                                        <p:tav tm="0">
                                          <p:val>
                                            <p:strVal val="#ppt_y+0.04"/>
                                          </p:val>
                                        </p:tav>
                                        <p:tav tm="100000">
                                          <p:val>
                                            <p:strVal val="#ppt_y"/>
                                          </p:val>
                                        </p:tav>
                                      </p:tavLst>
                                    </p:anim>
                                  </p:childTnLst>
                                </p:cTn>
                              </p:par>
                              <p:par>
                                <p:cTn id="57" presetID="42" presetClass="entr" presetSubtype="0" fill="hold" grpId="0" nodeType="withEffect">
                                  <p:stCondLst>
                                    <p:cond delay="28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50"/>
                                        <p:tgtEl>
                                          <p:spTgt spid="20"/>
                                        </p:tgtEl>
                                      </p:cBhvr>
                                    </p:animEffect>
                                    <p:anim calcmode="lin" valueType="num">
                                      <p:cBhvr>
                                        <p:cTn id="58" dur="550" decel="100000" fill="hold"/>
                                        <p:tgtEl>
                                          <p:spTgt spid="20"/>
                                        </p:tgtEl>
                                        <p:attrNameLst>
                                          <p:attrName>ppt_x</p:attrName>
                                        </p:attrNameLst>
                                      </p:cBhvr>
                                      <p:tavLst>
                                        <p:tav tm="0">
                                          <p:val>
                                            <p:strVal val="#ppt_x"/>
                                          </p:val>
                                        </p:tav>
                                        <p:tav tm="100000">
                                          <p:val>
                                            <p:strVal val="#ppt_x"/>
                                          </p:val>
                                        </p:tav>
                                      </p:tavLst>
                                    </p:anim>
                                    <p:anim calcmode="lin" valueType="num">
                                      <p:cBhvr>
                                        <p:cTn id="59" dur="550" decel="100000" fill="hold"/>
                                        <p:tgtEl>
                                          <p:spTgt spid="20"/>
                                        </p:tgtEl>
                                        <p:attrNameLst>
                                          <p:attrName>ppt_y</p:attrName>
                                        </p:attrNameLst>
                                      </p:cBhvr>
                                      <p:tavLst>
                                        <p:tav tm="0">
                                          <p:val>
                                            <p:strVal val="#ppt_y+0.04"/>
                                          </p:val>
                                        </p:tav>
                                        <p:tav tm="100000">
                                          <p:val>
                                            <p:strVal val="#ppt_y"/>
                                          </p:val>
                                        </p:tav>
                                      </p:tavLst>
                                    </p:anim>
                                  </p:childTnLst>
                                </p:cTn>
                              </p:par>
                              <p:par>
                                <p:cTn id="62" presetID="42" presetClass="entr" presetSubtype="0" fill="hold" grpId="0" nodeType="withEffect">
                                  <p:stCondLst>
                                    <p:cond delay="28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50"/>
                                        <p:tgtEl>
                                          <p:spTgt spid="21"/>
                                        </p:tgtEl>
                                      </p:cBhvr>
                                    </p:animEffect>
                                    <p:anim calcmode="lin" valueType="num">
                                      <p:cBhvr>
                                        <p:cTn id="63" dur="550" decel="100000" fill="hold"/>
                                        <p:tgtEl>
                                          <p:spTgt spid="21"/>
                                        </p:tgtEl>
                                        <p:attrNameLst>
                                          <p:attrName>ppt_x</p:attrName>
                                        </p:attrNameLst>
                                      </p:cBhvr>
                                      <p:tavLst>
                                        <p:tav tm="0">
                                          <p:val>
                                            <p:strVal val="#ppt_x"/>
                                          </p:val>
                                        </p:tav>
                                        <p:tav tm="100000">
                                          <p:val>
                                            <p:strVal val="#ppt_x"/>
                                          </p:val>
                                        </p:tav>
                                      </p:tavLst>
                                    </p:anim>
                                    <p:anim calcmode="lin" valueType="num">
                                      <p:cBhvr>
                                        <p:cTn id="64" dur="550" decel="100000" fill="hold"/>
                                        <p:tgtEl>
                                          <p:spTgt spid="21"/>
                                        </p:tgtEl>
                                        <p:attrNameLst>
                                          <p:attrName>ppt_y</p:attrName>
                                        </p:attrNameLst>
                                      </p:cBhvr>
                                      <p:tavLst>
                                        <p:tav tm="0">
                                          <p:val>
                                            <p:strVal val="#ppt_y+0.04"/>
                                          </p:val>
                                        </p:tav>
                                        <p:tav tm="100000">
                                          <p:val>
                                            <p:strVal val="#ppt_y"/>
                                          </p:val>
                                        </p:tav>
                                      </p:tavLst>
                                    </p:anim>
                                  </p:childTnLst>
                                </p:cTn>
                              </p:par>
                              <p:par>
                                <p:cTn id="67" presetID="42" presetClass="entr" presetSubtype="0" fill="hold" grpId="0" nodeType="withEffect">
                                  <p:stCondLst>
                                    <p:cond delay="28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50"/>
                                        <p:tgtEl>
                                          <p:spTgt spid="22"/>
                                        </p:tgtEl>
                                      </p:cBhvr>
                                    </p:animEffect>
                                    <p:anim calcmode="lin" valueType="num">
                                      <p:cBhvr>
                                        <p:cTn id="68" dur="550" decel="100000" fill="hold"/>
                                        <p:tgtEl>
                                          <p:spTgt spid="22"/>
                                        </p:tgtEl>
                                        <p:attrNameLst>
                                          <p:attrName>ppt_x</p:attrName>
                                        </p:attrNameLst>
                                      </p:cBhvr>
                                      <p:tavLst>
                                        <p:tav tm="0">
                                          <p:val>
                                            <p:strVal val="#ppt_x"/>
                                          </p:val>
                                        </p:tav>
                                        <p:tav tm="100000">
                                          <p:val>
                                            <p:strVal val="#ppt_x"/>
                                          </p:val>
                                        </p:tav>
                                      </p:tavLst>
                                    </p:anim>
                                    <p:anim calcmode="lin" valueType="num">
                                      <p:cBhvr>
                                        <p:cTn id="69" dur="550" decel="100000" fill="hold"/>
                                        <p:tgtEl>
                                          <p:spTgt spid="22"/>
                                        </p:tgtEl>
                                        <p:attrNameLst>
                                          <p:attrName>ppt_y</p:attrName>
                                        </p:attrNameLst>
                                      </p:cBhvr>
                                      <p:tavLst>
                                        <p:tav tm="0">
                                          <p:val>
                                            <p:strVal val="#ppt_y+0.04"/>
                                          </p:val>
                                        </p:tav>
                                        <p:tav tm="100000">
                                          <p:val>
                                            <p:strVal val="#ppt_y"/>
                                          </p:val>
                                        </p:tav>
                                      </p:tavLst>
                                    </p:anim>
                                  </p:childTnLst>
                                </p:cTn>
                              </p:par>
                              <p:par>
                                <p:cTn id="72" presetID="42" presetClass="entr" presetSubtype="0" fill="hold" grpId="0" nodeType="withEffect">
                                  <p:stCondLst>
                                    <p:cond delay="28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50"/>
                                        <p:tgtEl>
                                          <p:spTgt spid="23"/>
                                        </p:tgtEl>
                                      </p:cBhvr>
                                    </p:animEffect>
                                    <p:anim calcmode="lin" valueType="num">
                                      <p:cBhvr>
                                        <p:cTn id="73" dur="550" decel="100000" fill="hold"/>
                                        <p:tgtEl>
                                          <p:spTgt spid="23"/>
                                        </p:tgtEl>
                                        <p:attrNameLst>
                                          <p:attrName>ppt_x</p:attrName>
                                        </p:attrNameLst>
                                      </p:cBhvr>
                                      <p:tavLst>
                                        <p:tav tm="0">
                                          <p:val>
                                            <p:strVal val="#ppt_x"/>
                                          </p:val>
                                        </p:tav>
                                        <p:tav tm="100000">
                                          <p:val>
                                            <p:strVal val="#ppt_x"/>
                                          </p:val>
                                        </p:tav>
                                      </p:tavLst>
                                    </p:anim>
                                    <p:anim calcmode="lin" valueType="num">
                                      <p:cBhvr>
                                        <p:cTn id="74" dur="550" decel="100000" fill="hold"/>
                                        <p:tgtEl>
                                          <p:spTgt spid="23"/>
                                        </p:tgtEl>
                                        <p:attrNameLst>
                                          <p:attrName>ppt_y</p:attrName>
                                        </p:attrNameLst>
                                      </p:cBhvr>
                                      <p:tavLst>
                                        <p:tav tm="0">
                                          <p:val>
                                            <p:strVal val="#ppt_y+0.04"/>
                                          </p:val>
                                        </p:tav>
                                        <p:tav tm="100000">
                                          <p:val>
                                            <p:strVal val="#ppt_y"/>
                                          </p:val>
                                        </p:tav>
                                      </p:tavLst>
                                    </p:anim>
                                  </p:childTnLst>
                                </p:cTn>
                              </p:par>
                              <p:par>
                                <p:cTn id="77" presetID="42" presetClass="entr" presetSubtype="0" fill="hold" grpId="0" nodeType="withEffect">
                                  <p:stCondLst>
                                    <p:cond delay="41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550"/>
                                        <p:tgtEl>
                                          <p:spTgt spid="24"/>
                                        </p:tgtEl>
                                      </p:cBhvr>
                                    </p:animEffect>
                                    <p:anim calcmode="lin" valueType="num">
                                      <p:cBhvr>
                                        <p:cTn id="78" dur="550" decel="100000" fill="hold"/>
                                        <p:tgtEl>
                                          <p:spTgt spid="24"/>
                                        </p:tgtEl>
                                        <p:attrNameLst>
                                          <p:attrName>ppt_x</p:attrName>
                                        </p:attrNameLst>
                                      </p:cBhvr>
                                      <p:tavLst>
                                        <p:tav tm="0">
                                          <p:val>
                                            <p:strVal val="#ppt_x"/>
                                          </p:val>
                                        </p:tav>
                                        <p:tav tm="100000">
                                          <p:val>
                                            <p:strVal val="#ppt_x"/>
                                          </p:val>
                                        </p:tav>
                                      </p:tavLst>
                                    </p:anim>
                                    <p:anim calcmode="lin" valueType="num">
                                      <p:cBhvr>
                                        <p:cTn id="79" dur="550" decel="100000" fill="hold"/>
                                        <p:tgtEl>
                                          <p:spTgt spid="24"/>
                                        </p:tgtEl>
                                        <p:attrNameLst>
                                          <p:attrName>ppt_y</p:attrName>
                                        </p:attrNameLst>
                                      </p:cBhvr>
                                      <p:tavLst>
                                        <p:tav tm="0">
                                          <p:val>
                                            <p:strVal val="#ppt_y+0.04"/>
                                          </p:val>
                                        </p:tav>
                                        <p:tav tm="100000">
                                          <p:val>
                                            <p:strVal val="#ppt_y"/>
                                          </p:val>
                                        </p:tav>
                                      </p:tavLst>
                                    </p:anim>
                                  </p:childTnLst>
                                </p:cTn>
                              </p:par>
                              <p:par>
                                <p:cTn id="82" presetID="53" presetClass="entr" presetSubtype="16" fill="hold" grpId="0" nodeType="withEffect">
                                  <p:stCondLst>
                                    <p:cond delay="410"/>
                                  </p:stCondLst>
                                  <p:childTnLst>
                                    <p:set>
                                      <p:cBhvr>
                                        <p:cTn id="80" dur="1" fill="hold">
                                          <p:stCondLst>
                                            <p:cond delay="0"/>
                                          </p:stCondLst>
                                        </p:cTn>
                                        <p:tgtEl>
                                          <p:spTgt spid="25"/>
                                        </p:tgtEl>
                                        <p:attrNameLst>
                                          <p:attrName>style.visibility</p:attrName>
                                        </p:attrNameLst>
                                      </p:cBhvr>
                                      <p:to>
                                        <p:strVal val="visible"/>
                                      </p:to>
                                    </p:set>
                                    <p:anim calcmode="lin" valueType="num">
                                      <p:cBhvr>
                                        <p:cTn id="83" dur="600" decel="100000" fill="hold"/>
                                        <p:tgtEl>
                                          <p:spTgt spid="25"/>
                                        </p:tgtEl>
                                        <p:attrNameLst>
                                          <p:attrName>ppt_w</p:attrName>
                                        </p:attrNameLst>
                                      </p:cBhvr>
                                      <p:tavLst>
                                        <p:tav tm="0">
                                          <p:val>
                                            <p:strVal val="#ppt_w*0.7"/>
                                          </p:val>
                                        </p:tav>
                                        <p:tav tm="100000">
                                          <p:val>
                                            <p:strVal val="#ppt_w"/>
                                          </p:val>
                                        </p:tav>
                                      </p:tavLst>
                                    </p:anim>
                                    <p:anim calcmode="lin" valueType="num">
                                      <p:cBhvr>
                                        <p:cTn id="84" dur="600" decel="100000" fill="hold"/>
                                        <p:tgtEl>
                                          <p:spTgt spid="25"/>
                                        </p:tgtEl>
                                        <p:attrNameLst>
                                          <p:attrName>ppt_h</p:attrName>
                                        </p:attrNameLst>
                                      </p:cBhvr>
                                      <p:tavLst>
                                        <p:tav tm="0">
                                          <p:val>
                                            <p:strVal val="#ppt_h*0.7"/>
                                          </p:val>
                                        </p:tav>
                                        <p:tav tm="100000">
                                          <p:val>
                                            <p:strVal val="#ppt_h"/>
                                          </p:val>
                                        </p:tav>
                                      </p:tavLst>
                                    </p:anim>
                                    <p:animEffect transition="in" filter="fade">
                                      <p:cBhvr>
                                        <p:cTn id="81" dur="600"/>
                                        <p:tgtEl>
                                          <p:spTgt spid="25"/>
                                        </p:tgtEl>
                                      </p:cBhvr>
                                    </p:animEffect>
                                  </p:childTnLst>
                                </p:cTn>
                              </p:par>
                              <p:par>
                                <p:cTn id="87" presetID="42" presetClass="entr" presetSubtype="0" fill="hold" grpId="0" nodeType="withEffect">
                                  <p:stCondLst>
                                    <p:cond delay="410"/>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550"/>
                                        <p:tgtEl>
                                          <p:spTgt spid="26"/>
                                        </p:tgtEl>
                                      </p:cBhvr>
                                    </p:animEffect>
                                    <p:anim calcmode="lin" valueType="num">
                                      <p:cBhvr>
                                        <p:cTn id="88" dur="550" decel="100000" fill="hold"/>
                                        <p:tgtEl>
                                          <p:spTgt spid="26"/>
                                        </p:tgtEl>
                                        <p:attrNameLst>
                                          <p:attrName>ppt_x</p:attrName>
                                        </p:attrNameLst>
                                      </p:cBhvr>
                                      <p:tavLst>
                                        <p:tav tm="0">
                                          <p:val>
                                            <p:strVal val="#ppt_x"/>
                                          </p:val>
                                        </p:tav>
                                        <p:tav tm="100000">
                                          <p:val>
                                            <p:strVal val="#ppt_x"/>
                                          </p:val>
                                        </p:tav>
                                      </p:tavLst>
                                    </p:anim>
                                    <p:anim calcmode="lin" valueType="num">
                                      <p:cBhvr>
                                        <p:cTn id="89" dur="550" decel="100000" fill="hold"/>
                                        <p:tgtEl>
                                          <p:spTgt spid="26"/>
                                        </p:tgtEl>
                                        <p:attrNameLst>
                                          <p:attrName>ppt_y</p:attrName>
                                        </p:attrNameLst>
                                      </p:cBhvr>
                                      <p:tavLst>
                                        <p:tav tm="0">
                                          <p:val>
                                            <p:strVal val="#ppt_y+0.04"/>
                                          </p:val>
                                        </p:tav>
                                        <p:tav tm="100000">
                                          <p:val>
                                            <p:strVal val="#ppt_y"/>
                                          </p:val>
                                        </p:tav>
                                      </p:tavLst>
                                    </p:anim>
                                  </p:childTnLst>
                                </p:cTn>
                              </p:par>
                              <p:par>
                                <p:cTn id="92" presetID="42" presetClass="entr" presetSubtype="0" fill="hold" grpId="0" nodeType="withEffect">
                                  <p:stCondLst>
                                    <p:cond delay="410"/>
                                  </p:stCondLst>
                                  <p:childTnLst>
                                    <p:set>
                                      <p:cBhvr>
                                        <p:cTn id="90" dur="1" fill="hold">
                                          <p:stCondLst>
                                            <p:cond delay="0"/>
                                          </p:stCondLst>
                                        </p:cTn>
                                        <p:tgtEl>
                                          <p:spTgt spid="27"/>
                                        </p:tgtEl>
                                        <p:attrNameLst>
                                          <p:attrName>style.visibility</p:attrName>
                                        </p:attrNameLst>
                                      </p:cBhvr>
                                      <p:to>
                                        <p:strVal val="visible"/>
                                      </p:to>
                                    </p:set>
                                    <p:animEffect transition="in" filter="fade">
                                      <p:cBhvr>
                                        <p:cTn id="91" dur="550"/>
                                        <p:tgtEl>
                                          <p:spTgt spid="27"/>
                                        </p:tgtEl>
                                      </p:cBhvr>
                                    </p:animEffect>
                                    <p:anim calcmode="lin" valueType="num">
                                      <p:cBhvr>
                                        <p:cTn id="93" dur="550" decel="100000" fill="hold"/>
                                        <p:tgtEl>
                                          <p:spTgt spid="27"/>
                                        </p:tgtEl>
                                        <p:attrNameLst>
                                          <p:attrName>ppt_x</p:attrName>
                                        </p:attrNameLst>
                                      </p:cBhvr>
                                      <p:tavLst>
                                        <p:tav tm="0">
                                          <p:val>
                                            <p:strVal val="#ppt_x"/>
                                          </p:val>
                                        </p:tav>
                                        <p:tav tm="100000">
                                          <p:val>
                                            <p:strVal val="#ppt_x"/>
                                          </p:val>
                                        </p:tav>
                                      </p:tavLst>
                                    </p:anim>
                                    <p:anim calcmode="lin" valueType="num">
                                      <p:cBhvr>
                                        <p:cTn id="94" dur="550" decel="100000" fill="hold"/>
                                        <p:tgtEl>
                                          <p:spTgt spid="27"/>
                                        </p:tgtEl>
                                        <p:attrNameLst>
                                          <p:attrName>ppt_y</p:attrName>
                                        </p:attrNameLst>
                                      </p:cBhvr>
                                      <p:tavLst>
                                        <p:tav tm="0">
                                          <p:val>
                                            <p:strVal val="#ppt_y+0.04"/>
                                          </p:val>
                                        </p:tav>
                                        <p:tav tm="100000">
                                          <p:val>
                                            <p:strVal val="#ppt_y"/>
                                          </p:val>
                                        </p:tav>
                                      </p:tavLst>
                                    </p:anim>
                                  </p:childTnLst>
                                </p:cTn>
                              </p:par>
                              <p:par>
                                <p:cTn id="97" presetID="42" presetClass="entr" presetSubtype="0" fill="hold" grpId="0" nodeType="withEffect">
                                  <p:stCondLst>
                                    <p:cond delay="41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550"/>
                                        <p:tgtEl>
                                          <p:spTgt spid="28"/>
                                        </p:tgtEl>
                                      </p:cBhvr>
                                    </p:animEffect>
                                    <p:anim calcmode="lin" valueType="num">
                                      <p:cBhvr>
                                        <p:cTn id="98" dur="550" decel="100000" fill="hold"/>
                                        <p:tgtEl>
                                          <p:spTgt spid="28"/>
                                        </p:tgtEl>
                                        <p:attrNameLst>
                                          <p:attrName>ppt_x</p:attrName>
                                        </p:attrNameLst>
                                      </p:cBhvr>
                                      <p:tavLst>
                                        <p:tav tm="0">
                                          <p:val>
                                            <p:strVal val="#ppt_x"/>
                                          </p:val>
                                        </p:tav>
                                        <p:tav tm="100000">
                                          <p:val>
                                            <p:strVal val="#ppt_x"/>
                                          </p:val>
                                        </p:tav>
                                      </p:tavLst>
                                    </p:anim>
                                    <p:anim calcmode="lin" valueType="num">
                                      <p:cBhvr>
                                        <p:cTn id="99" dur="550" decel="100000" fill="hold"/>
                                        <p:tgtEl>
                                          <p:spTgt spid="28"/>
                                        </p:tgtEl>
                                        <p:attrNameLst>
                                          <p:attrName>ppt_y</p:attrName>
                                        </p:attrNameLst>
                                      </p:cBhvr>
                                      <p:tavLst>
                                        <p:tav tm="0">
                                          <p:val>
                                            <p:strVal val="#ppt_y+0.04"/>
                                          </p:val>
                                        </p:tav>
                                        <p:tav tm="100000">
                                          <p:val>
                                            <p:strVal val="#ppt_y"/>
                                          </p:val>
                                        </p:tav>
                                      </p:tavLst>
                                    </p:anim>
                                  </p:childTnLst>
                                </p:cTn>
                              </p:par>
                              <p:par>
                                <p:cTn id="102" presetID="42" presetClass="entr" presetSubtype="0" fill="hold" grpId="0" nodeType="withEffect">
                                  <p:stCondLst>
                                    <p:cond delay="410"/>
                                  </p:stCondLst>
                                  <p:childTnLst>
                                    <p:set>
                                      <p:cBhvr>
                                        <p:cTn id="100" dur="1" fill="hold">
                                          <p:stCondLst>
                                            <p:cond delay="0"/>
                                          </p:stCondLst>
                                        </p:cTn>
                                        <p:tgtEl>
                                          <p:spTgt spid="29"/>
                                        </p:tgtEl>
                                        <p:attrNameLst>
                                          <p:attrName>style.visibility</p:attrName>
                                        </p:attrNameLst>
                                      </p:cBhvr>
                                      <p:to>
                                        <p:strVal val="visible"/>
                                      </p:to>
                                    </p:set>
                                    <p:animEffect transition="in" filter="fade">
                                      <p:cBhvr>
                                        <p:cTn id="101" dur="550"/>
                                        <p:tgtEl>
                                          <p:spTgt spid="29"/>
                                        </p:tgtEl>
                                      </p:cBhvr>
                                    </p:animEffect>
                                    <p:anim calcmode="lin" valueType="num">
                                      <p:cBhvr>
                                        <p:cTn id="103" dur="550" decel="100000" fill="hold"/>
                                        <p:tgtEl>
                                          <p:spTgt spid="29"/>
                                        </p:tgtEl>
                                        <p:attrNameLst>
                                          <p:attrName>ppt_x</p:attrName>
                                        </p:attrNameLst>
                                      </p:cBhvr>
                                      <p:tavLst>
                                        <p:tav tm="0">
                                          <p:val>
                                            <p:strVal val="#ppt_x"/>
                                          </p:val>
                                        </p:tav>
                                        <p:tav tm="100000">
                                          <p:val>
                                            <p:strVal val="#ppt_x"/>
                                          </p:val>
                                        </p:tav>
                                      </p:tavLst>
                                    </p:anim>
                                    <p:anim calcmode="lin" valueType="num">
                                      <p:cBhvr>
                                        <p:cTn id="104" dur="550" decel="100000" fill="hold"/>
                                        <p:tgtEl>
                                          <p:spTgt spid="29"/>
                                        </p:tgtEl>
                                        <p:attrNameLst>
                                          <p:attrName>ppt_y</p:attrName>
                                        </p:attrNameLst>
                                      </p:cBhvr>
                                      <p:tavLst>
                                        <p:tav tm="0">
                                          <p:val>
                                            <p:strVal val="#ppt_y+0.04"/>
                                          </p:val>
                                        </p:tav>
                                        <p:tav tm="100000">
                                          <p:val>
                                            <p:strVal val="#ppt_y"/>
                                          </p:val>
                                        </p:tav>
                                      </p:tavLst>
                                    </p:anim>
                                  </p:childTnLst>
                                </p:cTn>
                              </p:par>
                              <p:par>
                                <p:cTn id="107" presetID="42" presetClass="entr" presetSubtype="0" fill="hold" grpId="0" nodeType="withEffect">
                                  <p:stCondLst>
                                    <p:cond delay="410"/>
                                  </p:stCondLst>
                                  <p:childTnLst>
                                    <p:set>
                                      <p:cBhvr>
                                        <p:cTn id="105" dur="1" fill="hold">
                                          <p:stCondLst>
                                            <p:cond delay="0"/>
                                          </p:stCondLst>
                                        </p:cTn>
                                        <p:tgtEl>
                                          <p:spTgt spid="30"/>
                                        </p:tgtEl>
                                        <p:attrNameLst>
                                          <p:attrName>style.visibility</p:attrName>
                                        </p:attrNameLst>
                                      </p:cBhvr>
                                      <p:to>
                                        <p:strVal val="visible"/>
                                      </p:to>
                                    </p:set>
                                    <p:animEffect transition="in" filter="fade">
                                      <p:cBhvr>
                                        <p:cTn id="106" dur="550"/>
                                        <p:tgtEl>
                                          <p:spTgt spid="30"/>
                                        </p:tgtEl>
                                      </p:cBhvr>
                                    </p:animEffect>
                                    <p:anim calcmode="lin" valueType="num">
                                      <p:cBhvr>
                                        <p:cTn id="108" dur="550" decel="100000" fill="hold"/>
                                        <p:tgtEl>
                                          <p:spTgt spid="30"/>
                                        </p:tgtEl>
                                        <p:attrNameLst>
                                          <p:attrName>ppt_x</p:attrName>
                                        </p:attrNameLst>
                                      </p:cBhvr>
                                      <p:tavLst>
                                        <p:tav tm="0">
                                          <p:val>
                                            <p:strVal val="#ppt_x"/>
                                          </p:val>
                                        </p:tav>
                                        <p:tav tm="100000">
                                          <p:val>
                                            <p:strVal val="#ppt_x"/>
                                          </p:val>
                                        </p:tav>
                                      </p:tavLst>
                                    </p:anim>
                                    <p:anim calcmode="lin" valueType="num">
                                      <p:cBhvr>
                                        <p:cTn id="109" dur="550" decel="100000" fill="hold"/>
                                        <p:tgtEl>
                                          <p:spTgt spid="30"/>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4" grpId="0" animBg="1"/>
      <p:bldP spid="15" grpId="0" animBg="1"/>
      <p:bldP spid="16" grpId="0" animBg="1"/>
      <p:bldP spid="17" grpId="0" animBg="1"/>
      <p:bldP spid="20" grpId="0" animBg="1"/>
      <p:bldP spid="21" grpId="0" animBg="1"/>
      <p:bldP spid="22" grpId="0" animBg="1"/>
      <p:bldP spid="23" grpId="0" animBg="1"/>
      <p:bldP spid="24" grpId="0" animBg="1"/>
      <p:bldP spid="27" grpId="0" animBg="1"/>
      <p:bldP spid="28" grpId="0" animBg="1"/>
      <p:bldP spid="29" grpId="0" animBg="1"/>
      <p:bldP spid="30" grpId="0" animBg="1"/>
    </p:bldLst>
  </p:timing>
</p:sld>
</file>

<file path=ppt/slides/slide7.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7">
    <p:bg>
      <p:bgPr>
        <a:solidFill>
          <a:srgbClr val="0A0405"/>
        </a:solidFill>
      </p:bgPr>
    </p:bg>
    <p:spTree>
      <p:nvGrpSpPr>
        <p:cNvPr id="1" name=""/>
        <p:cNvGrpSpPr/>
        <p:nvPr/>
      </p:nvGrpSpPr>
      <p:grpSpPr>
        <a:xfrm>
          <a:off x="0" y="0"/>
          <a:ext cx="0" cy="0"/>
          <a:chOff x="0" y="0"/>
          <a:chExt cx="0" cy="0"/>
        </a:xfrm>
      </p:grpSpPr>
      <p:pic>
        <p:nvPicPr>
          <p:cNvPr id="2" name="!!bg" descr="Antique globe with red hotspots over Africa and South Asia">    </p:cNvPr>
          <p:cNvPicPr>
            <a:picLocks noChangeAspect="1"/>
          </p:cNvPicPr>
          <p:nvPr/>
        </p:nvPicPr>
        <p:blipFill>
          <a:blip r:embed="rId1"/>
          <a:stretch>
            <a:fillRect/>
          </a:stretch>
        </p:blipFill>
        <p:spPr>
          <a:xfrm>
            <a:off x="0" y="0"/>
            <a:ext cx="12191695" cy="6858000"/>
          </a:xfrm>
          <a:prstGeom prst="rect">
            <a:avLst/>
          </a:prstGeom>
        </p:spPr>
      </p:pic>
      <p:pic>
        <p:nvPicPr>
          <p:cNvPr id="3" name="!!shade" descr="/home/user/mdist-tracker/presentations/malaria/build/shade_L.png">    </p:cNvPr>
          <p:cNvPicPr>
            <a:picLocks noChangeAspect="1"/>
          </p:cNvPicPr>
          <p:nvPr/>
        </p:nvPicPr>
        <p:blipFill>
          <a:blip r:embed="rId2"/>
          <a:stretch>
            <a:fillRect/>
          </a:stretch>
        </p:blipFill>
        <p:spPr>
          <a:xfrm>
            <a:off x="0" y="0"/>
            <a:ext cx="12191695" cy="6858000"/>
          </a:xfrm>
          <a:prstGeom prst="rect">
            <a:avLst/>
          </a:prstGeom>
        </p:spPr>
      </p:pic>
      <p:sp>
        <p:nvSpPr>
          <p:cNvPr id="4" name="!!pill"/>
          <p:cNvSpPr/>
          <p:nvPr/>
        </p:nvSpPr>
        <p:spPr>
          <a:xfrm>
            <a:off x="548640" y="411480"/>
            <a:ext cx="1598371" cy="274320"/>
          </a:xfrm>
          <a:prstGeom prst="roundRect">
            <a:avLst>
              <a:gd name="adj" fmla="val 50000"/>
            </a:avLst>
          </a:prstGeom>
          <a:solidFill>
            <a:srgbClr val="0A0405">
              <a:alpha val="65000"/>
            </a:srgbClr>
          </a:solidFill>
          <a:ln w="9525">
            <a:solidFill>
              <a:srgbClr val="7A3038"/>
            </a:solidFill>
            <a:prstDash val="solid"/>
          </a:ln>
        </p:spPr>
      </p:sp>
      <p:sp>
        <p:nvSpPr>
          <p:cNvPr id="5" name="!!pilltext"/>
          <p:cNvSpPr txBox="1"/>
          <p:nvPr/>
        </p:nvSpPr>
        <p:spPr>
          <a:xfrm>
            <a:off x="548640" y="411480"/>
            <a:ext cx="1598371" cy="274320"/>
          </a:xfrm>
          <a:prstGeom prst="rect">
            <a:avLst/>
          </a:prstGeom>
          <a:noFill/>
          <a:ln/>
        </p:spPr>
        <p:txBody>
          <a:bodyPr wrap="square" lIns="0" tIns="0" rIns="0" bIns="0" rtlCol="0" anchor="ctr"/>
          <a:lstStyle/>
          <a:p>
            <a:pPr algn="ctr" indent="0" marL="0">
              <a:buNone/>
            </a:pPr>
            <a:r>
              <a:rPr lang="en-US" sz="1000" b="1" spc="150" kern="0" dirty="0">
                <a:solidFill>
                  <a:srgbClr val="C9B2AE"/>
                </a:solidFill>
                <a:latin typeface="Arial" pitchFamily="34" charset="0"/>
                <a:ea typeface="Arial" pitchFamily="34" charset="-122"/>
                <a:cs typeface="Arial" pitchFamily="34" charset="-120"/>
              </a:rPr>
              <a:t>02 · HISTORY</a:t>
            </a:r>
            <a:endParaRPr lang="en-US" sz="1000" dirty="0"/>
          </a:p>
        </p:txBody>
      </p:sp>
      <p:pic>
        <p:nvPicPr>
          <p:cNvPr id="6" name="!!title" descr="Major outbreaks">    </p:cNvPr>
          <p:cNvPicPr>
            <a:picLocks noChangeAspect="1"/>
          </p:cNvPicPr>
          <p:nvPr/>
        </p:nvPicPr>
        <p:blipFill>
          <a:blip r:embed="rId3"/>
          <a:stretch>
            <a:fillRect/>
          </a:stretch>
        </p:blipFill>
        <p:spPr>
          <a:xfrm>
            <a:off x="521208" y="822960"/>
            <a:ext cx="6322516" cy="530721"/>
          </a:xfrm>
          <a:prstGeom prst="rect">
            <a:avLst/>
          </a:prstGeom>
        </p:spPr>
      </p:pic>
      <p:pic>
        <p:nvPicPr>
          <p:cNvPr id="7" name="!!crest" descr="MDIS Tashkent crest">    </p:cNvPr>
          <p:cNvPicPr>
            <a:picLocks noChangeAspect="1"/>
          </p:cNvPicPr>
          <p:nvPr/>
        </p:nvPicPr>
        <p:blipFill>
          <a:blip r:embed="rId4"/>
          <a:stretch>
            <a:fillRect/>
          </a:stretch>
        </p:blipFill>
        <p:spPr>
          <a:xfrm>
            <a:off x="11249708" y="384048"/>
            <a:ext cx="393347" cy="384048"/>
          </a:xfrm>
          <a:prstGeom prst="rect">
            <a:avLst/>
          </a:prstGeom>
        </p:spPr>
      </p:pic>
      <p:sp>
        <p:nvSpPr>
          <p:cNvPr id="8" name="Text 2"/>
          <p:cNvSpPr txBox="1"/>
          <p:nvPr/>
        </p:nvSpPr>
        <p:spPr>
          <a:xfrm>
            <a:off x="548640" y="6382512"/>
            <a:ext cx="7863840" cy="256032"/>
          </a:xfrm>
          <a:prstGeom prst="rect">
            <a:avLst/>
          </a:prstGeom>
          <a:noFill/>
          <a:ln/>
        </p:spPr>
        <p:txBody>
          <a:bodyPr wrap="square" lIns="0" tIns="0" rIns="0" bIns="0" rtlCol="0" anchor="ctr"/>
          <a:lstStyle/>
          <a:p>
            <a:pPr indent="0" marL="0">
              <a:buNone/>
            </a:pPr>
            <a:r>
              <a:rPr lang="en-US" sz="1000" dirty="0">
                <a:solidFill>
                  <a:srgbClr val="9C8380"/>
                </a:solidFill>
                <a:latin typeface="Arial" pitchFamily="34" charset="0"/>
                <a:ea typeface="Arial" pitchFamily="34" charset="-122"/>
                <a:cs typeface="Arial" pitchFamily="34" charset="-120"/>
              </a:rPr>
              <a:t>Source: Gill (1935); Fontaine, Najjar and Prince (1961); World Health Organization (2023a; 2025b)</a:t>
            </a:r>
            <a:endParaRPr lang="en-US" sz="1000" dirty="0"/>
          </a:p>
        </p:txBody>
      </p:sp>
      <p:sp>
        <p:nvSpPr>
          <p:cNvPr id="9" name="Text 3"/>
          <p:cNvSpPr txBox="1"/>
          <p:nvPr/>
        </p:nvSpPr>
        <p:spPr>
          <a:xfrm>
            <a:off x="7802575" y="6382512"/>
            <a:ext cx="3840480" cy="256032"/>
          </a:xfrm>
          <a:prstGeom prst="rect">
            <a:avLst/>
          </a:prstGeom>
          <a:noFill/>
          <a:ln/>
        </p:spPr>
        <p:txBody>
          <a:bodyPr wrap="square" lIns="0" tIns="0" rIns="0" bIns="0" rtlCol="0" anchor="ctr"/>
          <a:lstStyle/>
          <a:p>
            <a:pPr algn="r" indent="0" marL="0">
              <a:buNone/>
            </a:pPr>
            <a:r>
              <a:rPr lang="en-US" sz="1000" b="1" spc="100" kern="0" dirty="0">
                <a:solidFill>
                  <a:srgbClr val="C9B2AE"/>
                </a:solidFill>
                <a:latin typeface="Arial" pitchFamily="34" charset="0"/>
                <a:ea typeface="Arial" pitchFamily="34" charset="-122"/>
                <a:cs typeface="Arial" pitchFamily="34" charset="-120"/>
              </a:rPr>
              <a:t>MUHAMMADRIZO ASATULLAYEV   ·   07 / 16</a:t>
            </a:r>
            <a:endParaRPr lang="en-US" sz="1000" dirty="0"/>
          </a:p>
        </p:txBody>
      </p:sp>
      <p:sp>
        <p:nvSpPr>
          <p:cNvPr id="10" name="fx:1:up:card0"/>
          <p:cNvSpPr/>
          <p:nvPr/>
        </p:nvSpPr>
        <p:spPr>
          <a:xfrm>
            <a:off x="548640" y="1783080"/>
            <a:ext cx="2971800" cy="1965960"/>
          </a:xfrm>
          <a:prstGeom prst="roundRect">
            <a:avLst>
              <a:gd name="adj" fmla="val 4186"/>
            </a:avLst>
          </a:prstGeom>
          <a:solidFill>
            <a:srgbClr val="1C080B">
              <a:alpha val="78000"/>
            </a:srgbClr>
          </a:solidFill>
          <a:ln w="9525">
            <a:solidFill>
              <a:srgbClr val="7A3038"/>
            </a:solidFill>
            <a:prstDash val="solid"/>
          </a:ln>
        </p:spPr>
      </p:sp>
      <p:pic>
        <p:nvPicPr>
          <p:cNvPr id="11" name="fx:1:zoom:n0" descr="80,000">    </p:cNvPr>
          <p:cNvPicPr>
            <a:picLocks noChangeAspect="1"/>
          </p:cNvPicPr>
          <p:nvPr/>
        </p:nvPicPr>
        <p:blipFill>
          <a:blip r:embed="rId5"/>
          <a:stretch>
            <a:fillRect/>
          </a:stretch>
        </p:blipFill>
        <p:spPr>
          <a:xfrm>
            <a:off x="749808" y="1965960"/>
            <a:ext cx="1691878" cy="446782"/>
          </a:xfrm>
          <a:prstGeom prst="rect">
            <a:avLst/>
          </a:prstGeom>
        </p:spPr>
      </p:pic>
      <p:sp>
        <p:nvSpPr>
          <p:cNvPr id="12" name="fx:1:up:u0"/>
          <p:cNvSpPr txBox="1"/>
          <p:nvPr/>
        </p:nvSpPr>
        <p:spPr>
          <a:xfrm>
            <a:off x="749808" y="2496312"/>
            <a:ext cx="1463040" cy="201168"/>
          </a:xfrm>
          <a:prstGeom prst="rect">
            <a:avLst/>
          </a:prstGeom>
          <a:noFill/>
          <a:ln/>
        </p:spPr>
        <p:txBody>
          <a:bodyPr wrap="square" lIns="0" tIns="0" rIns="0" bIns="0" rtlCol="0" anchor="t"/>
          <a:lstStyle/>
          <a:p>
            <a:pPr indent="0" marL="0">
              <a:buNone/>
            </a:pPr>
            <a:r>
              <a:rPr lang="en-US" sz="1000" b="1" spc="200" kern="0" dirty="0">
                <a:solidFill>
                  <a:srgbClr val="E5333D"/>
                </a:solidFill>
                <a:latin typeface="Arial" pitchFamily="34" charset="0"/>
                <a:ea typeface="Arial" pitchFamily="34" charset="-122"/>
                <a:cs typeface="Arial" pitchFamily="34" charset="-120"/>
              </a:rPr>
              <a:t>DEATHS</a:t>
            </a:r>
            <a:endParaRPr lang="en-US" sz="1000" dirty="0"/>
          </a:p>
        </p:txBody>
      </p:sp>
      <p:sp>
        <p:nvSpPr>
          <p:cNvPr id="13" name="fx:1:up:p0"/>
          <p:cNvSpPr txBox="1"/>
          <p:nvPr/>
        </p:nvSpPr>
        <p:spPr>
          <a:xfrm>
            <a:off x="749808" y="2761488"/>
            <a:ext cx="2569464" cy="237744"/>
          </a:xfrm>
          <a:prstGeom prst="rect">
            <a:avLst/>
          </a:prstGeom>
          <a:noFill/>
          <a:ln/>
        </p:spPr>
        <p:txBody>
          <a:bodyPr wrap="square" lIns="0" tIns="0" rIns="0" bIns="0" rtlCol="0" anchor="t"/>
          <a:lstStyle/>
          <a:p>
            <a:pPr indent="0" marL="0">
              <a:buNone/>
            </a:pPr>
            <a:r>
              <a:rPr lang="en-US" sz="1100" b="1" spc="100" kern="0" dirty="0">
                <a:solidFill>
                  <a:srgbClr val="F4ECE8"/>
                </a:solidFill>
                <a:latin typeface="Arial" pitchFamily="34" charset="0"/>
                <a:ea typeface="Arial" pitchFamily="34" charset="-122"/>
                <a:cs typeface="Arial" pitchFamily="34" charset="-120"/>
              </a:rPr>
              <a:t>CEYLON (SRI LANKA) · 1934–35</a:t>
            </a:r>
            <a:endParaRPr lang="en-US" sz="1100" dirty="0"/>
          </a:p>
        </p:txBody>
      </p:sp>
      <p:sp>
        <p:nvSpPr>
          <p:cNvPr id="14" name="fx:1:up:b0"/>
          <p:cNvSpPr txBox="1"/>
          <p:nvPr/>
        </p:nvSpPr>
        <p:spPr>
          <a:xfrm>
            <a:off x="749808" y="3044952"/>
            <a:ext cx="2569464" cy="621792"/>
          </a:xfrm>
          <a:prstGeom prst="rect">
            <a:avLst/>
          </a:prstGeom>
          <a:noFill/>
          <a:ln/>
        </p:spPr>
        <p:txBody>
          <a:bodyPr wrap="square" lIns="0" tIns="0" rIns="0" bIns="0" rtlCol="0" anchor="t"/>
          <a:lstStyle/>
          <a:p>
            <a:pPr indent="0" marL="0">
              <a:buNone/>
            </a:pPr>
            <a:r>
              <a:rPr lang="en-US" sz="1200" dirty="0">
                <a:solidFill>
                  <a:srgbClr val="C9B2AE"/>
                </a:solidFill>
                <a:latin typeface="Arial" pitchFamily="34" charset="0"/>
                <a:ea typeface="Arial" pitchFamily="34" charset="-122"/>
                <a:cs typeface="Arial" pitchFamily="34" charset="-120"/>
              </a:rPr>
              <a:t>After a drought, about 1.5 million people fell ill.</a:t>
            </a:r>
            <a:endParaRPr lang="en-US" sz="1200" dirty="0"/>
          </a:p>
        </p:txBody>
      </p:sp>
      <p:sp>
        <p:nvSpPr>
          <p:cNvPr id="15" name="fx:2:up:card1"/>
          <p:cNvSpPr/>
          <p:nvPr/>
        </p:nvSpPr>
        <p:spPr>
          <a:xfrm>
            <a:off x="3703320" y="1783080"/>
            <a:ext cx="2971800" cy="1965960"/>
          </a:xfrm>
          <a:prstGeom prst="roundRect">
            <a:avLst>
              <a:gd name="adj" fmla="val 4186"/>
            </a:avLst>
          </a:prstGeom>
          <a:solidFill>
            <a:srgbClr val="1C080B">
              <a:alpha val="78000"/>
            </a:srgbClr>
          </a:solidFill>
          <a:ln w="9525">
            <a:solidFill>
              <a:srgbClr val="7A3038"/>
            </a:solidFill>
            <a:prstDash val="solid"/>
          </a:ln>
        </p:spPr>
      </p:sp>
      <p:pic>
        <p:nvPicPr>
          <p:cNvPr id="16" name="fx:2:zoom:n1" descr="150,000">    </p:cNvPr>
          <p:cNvPicPr>
            <a:picLocks noChangeAspect="1"/>
          </p:cNvPicPr>
          <p:nvPr/>
        </p:nvPicPr>
        <p:blipFill>
          <a:blip r:embed="rId6"/>
          <a:stretch>
            <a:fillRect/>
          </a:stretch>
        </p:blipFill>
        <p:spPr>
          <a:xfrm>
            <a:off x="3904488" y="1965960"/>
            <a:ext cx="1956346" cy="446782"/>
          </a:xfrm>
          <a:prstGeom prst="rect">
            <a:avLst/>
          </a:prstGeom>
        </p:spPr>
      </p:pic>
      <p:sp>
        <p:nvSpPr>
          <p:cNvPr id="17" name="fx:2:up:u1"/>
          <p:cNvSpPr txBox="1"/>
          <p:nvPr/>
        </p:nvSpPr>
        <p:spPr>
          <a:xfrm>
            <a:off x="3904488" y="2496312"/>
            <a:ext cx="1463040" cy="201168"/>
          </a:xfrm>
          <a:prstGeom prst="rect">
            <a:avLst/>
          </a:prstGeom>
          <a:noFill/>
          <a:ln/>
        </p:spPr>
        <p:txBody>
          <a:bodyPr wrap="square" lIns="0" tIns="0" rIns="0" bIns="0" rtlCol="0" anchor="t"/>
          <a:lstStyle/>
          <a:p>
            <a:pPr indent="0" marL="0">
              <a:buNone/>
            </a:pPr>
            <a:r>
              <a:rPr lang="en-US" sz="1000" b="1" spc="200" kern="0" dirty="0">
                <a:solidFill>
                  <a:srgbClr val="E5333D"/>
                </a:solidFill>
                <a:latin typeface="Arial" pitchFamily="34" charset="0"/>
                <a:ea typeface="Arial" pitchFamily="34" charset="-122"/>
                <a:cs typeface="Arial" pitchFamily="34" charset="-120"/>
              </a:rPr>
              <a:t>DEATHS</a:t>
            </a:r>
            <a:endParaRPr lang="en-US" sz="1000" dirty="0"/>
          </a:p>
        </p:txBody>
      </p:sp>
      <p:sp>
        <p:nvSpPr>
          <p:cNvPr id="18" name="fx:2:up:p1"/>
          <p:cNvSpPr txBox="1"/>
          <p:nvPr/>
        </p:nvSpPr>
        <p:spPr>
          <a:xfrm>
            <a:off x="3904488" y="2761488"/>
            <a:ext cx="2569464" cy="237744"/>
          </a:xfrm>
          <a:prstGeom prst="rect">
            <a:avLst/>
          </a:prstGeom>
          <a:noFill/>
          <a:ln/>
        </p:spPr>
        <p:txBody>
          <a:bodyPr wrap="square" lIns="0" tIns="0" rIns="0" bIns="0" rtlCol="0" anchor="t"/>
          <a:lstStyle/>
          <a:p>
            <a:pPr indent="0" marL="0">
              <a:buNone/>
            </a:pPr>
            <a:r>
              <a:rPr lang="en-US" sz="1100" b="1" spc="100" kern="0" dirty="0">
                <a:solidFill>
                  <a:srgbClr val="F4ECE8"/>
                </a:solidFill>
                <a:latin typeface="Arial" pitchFamily="34" charset="0"/>
                <a:ea typeface="Arial" pitchFamily="34" charset="-122"/>
                <a:cs typeface="Arial" pitchFamily="34" charset="-120"/>
              </a:rPr>
              <a:t>ETHIOPIA · 1958</a:t>
            </a:r>
            <a:endParaRPr lang="en-US" sz="1100" dirty="0"/>
          </a:p>
        </p:txBody>
      </p:sp>
      <p:sp>
        <p:nvSpPr>
          <p:cNvPr id="19" name="fx:2:up:b1"/>
          <p:cNvSpPr txBox="1"/>
          <p:nvPr/>
        </p:nvSpPr>
        <p:spPr>
          <a:xfrm>
            <a:off x="3904488" y="3044952"/>
            <a:ext cx="2569464" cy="621792"/>
          </a:xfrm>
          <a:prstGeom prst="rect">
            <a:avLst/>
          </a:prstGeom>
          <a:noFill/>
          <a:ln/>
        </p:spPr>
        <p:txBody>
          <a:bodyPr wrap="square" lIns="0" tIns="0" rIns="0" bIns="0" rtlCol="0" anchor="t"/>
          <a:lstStyle/>
          <a:p>
            <a:pPr indent="0" marL="0">
              <a:buNone/>
            </a:pPr>
            <a:r>
              <a:rPr lang="en-US" sz="1200" dirty="0">
                <a:solidFill>
                  <a:srgbClr val="C9B2AE"/>
                </a:solidFill>
                <a:latin typeface="Arial" pitchFamily="34" charset="0"/>
                <a:ea typeface="Arial" pitchFamily="34" charset="-122"/>
                <a:cs typeface="Arial" pitchFamily="34" charset="-120"/>
              </a:rPr>
              <a:t>About 3 million cases in one epidemic.</a:t>
            </a:r>
            <a:endParaRPr lang="en-US" sz="1200" dirty="0"/>
          </a:p>
        </p:txBody>
      </p:sp>
      <p:sp>
        <p:nvSpPr>
          <p:cNvPr id="20" name="fx:3:up:card2"/>
          <p:cNvSpPr/>
          <p:nvPr/>
        </p:nvSpPr>
        <p:spPr>
          <a:xfrm>
            <a:off x="548640" y="3931920"/>
            <a:ext cx="2971800" cy="1965960"/>
          </a:xfrm>
          <a:prstGeom prst="roundRect">
            <a:avLst>
              <a:gd name="adj" fmla="val 4186"/>
            </a:avLst>
          </a:prstGeom>
          <a:solidFill>
            <a:srgbClr val="1C080B">
              <a:alpha val="78000"/>
            </a:srgbClr>
          </a:solidFill>
          <a:ln w="9525">
            <a:solidFill>
              <a:srgbClr val="7A3038"/>
            </a:solidFill>
            <a:prstDash val="solid"/>
          </a:ln>
        </p:spPr>
      </p:sp>
      <p:pic>
        <p:nvPicPr>
          <p:cNvPr id="21" name="fx:3:zoom:n2" descr="×4">    </p:cNvPr>
          <p:cNvPicPr>
            <a:picLocks noChangeAspect="1"/>
          </p:cNvPicPr>
          <p:nvPr/>
        </p:nvPicPr>
        <p:blipFill>
          <a:blip r:embed="rId7"/>
          <a:stretch>
            <a:fillRect/>
          </a:stretch>
        </p:blipFill>
        <p:spPr>
          <a:xfrm>
            <a:off x="749808" y="4114800"/>
            <a:ext cx="620018" cy="446782"/>
          </a:xfrm>
          <a:prstGeom prst="rect">
            <a:avLst/>
          </a:prstGeom>
        </p:spPr>
      </p:pic>
      <p:sp>
        <p:nvSpPr>
          <p:cNvPr id="22" name="fx:3:up:u2"/>
          <p:cNvSpPr txBox="1"/>
          <p:nvPr/>
        </p:nvSpPr>
        <p:spPr>
          <a:xfrm>
            <a:off x="749808" y="4645152"/>
            <a:ext cx="1463040" cy="201168"/>
          </a:xfrm>
          <a:prstGeom prst="rect">
            <a:avLst/>
          </a:prstGeom>
          <a:noFill/>
          <a:ln/>
        </p:spPr>
        <p:txBody>
          <a:bodyPr wrap="square" lIns="0" tIns="0" rIns="0" bIns="0" rtlCol="0" anchor="t"/>
          <a:lstStyle/>
          <a:p>
            <a:pPr indent="0" marL="0">
              <a:buNone/>
            </a:pPr>
            <a:r>
              <a:rPr lang="en-US" sz="1000" b="1" spc="200" kern="0" dirty="0">
                <a:solidFill>
                  <a:srgbClr val="E5333D"/>
                </a:solidFill>
                <a:latin typeface="Arial" pitchFamily="34" charset="0"/>
                <a:ea typeface="Arial" pitchFamily="34" charset="-122"/>
                <a:cs typeface="Arial" pitchFamily="34" charset="-120"/>
              </a:rPr>
              <a:t>CASES</a:t>
            </a:r>
            <a:endParaRPr lang="en-US" sz="1000" dirty="0"/>
          </a:p>
        </p:txBody>
      </p:sp>
      <p:sp>
        <p:nvSpPr>
          <p:cNvPr id="23" name="fx:3:up:p2"/>
          <p:cNvSpPr txBox="1"/>
          <p:nvPr/>
        </p:nvSpPr>
        <p:spPr>
          <a:xfrm>
            <a:off x="749808" y="4910328"/>
            <a:ext cx="2569464" cy="237744"/>
          </a:xfrm>
          <a:prstGeom prst="rect">
            <a:avLst/>
          </a:prstGeom>
          <a:noFill/>
          <a:ln/>
        </p:spPr>
        <p:txBody>
          <a:bodyPr wrap="square" lIns="0" tIns="0" rIns="0" bIns="0" rtlCol="0" anchor="t"/>
          <a:lstStyle/>
          <a:p>
            <a:pPr indent="0" marL="0">
              <a:buNone/>
            </a:pPr>
            <a:r>
              <a:rPr lang="en-US" sz="1100" b="1" spc="100" kern="0" dirty="0">
                <a:solidFill>
                  <a:srgbClr val="F4ECE8"/>
                </a:solidFill>
                <a:latin typeface="Arial" pitchFamily="34" charset="0"/>
                <a:ea typeface="Arial" pitchFamily="34" charset="-122"/>
                <a:cs typeface="Arial" pitchFamily="34" charset="-120"/>
              </a:rPr>
              <a:t>PAKISTAN · 2022</a:t>
            </a:r>
            <a:endParaRPr lang="en-US" sz="1100" dirty="0"/>
          </a:p>
        </p:txBody>
      </p:sp>
      <p:sp>
        <p:nvSpPr>
          <p:cNvPr id="24" name="fx:3:up:b2"/>
          <p:cNvSpPr txBox="1"/>
          <p:nvPr/>
        </p:nvSpPr>
        <p:spPr>
          <a:xfrm>
            <a:off x="749808" y="5193792"/>
            <a:ext cx="2569464" cy="621792"/>
          </a:xfrm>
          <a:prstGeom prst="rect">
            <a:avLst/>
          </a:prstGeom>
          <a:noFill/>
          <a:ln/>
        </p:spPr>
        <p:txBody>
          <a:bodyPr wrap="square" lIns="0" tIns="0" rIns="0" bIns="0" rtlCol="0" anchor="t"/>
          <a:lstStyle/>
          <a:p>
            <a:pPr indent="0" marL="0">
              <a:buNone/>
            </a:pPr>
            <a:r>
              <a:rPr lang="en-US" sz="1200" dirty="0">
                <a:solidFill>
                  <a:srgbClr val="C9B2AE"/>
                </a:solidFill>
                <a:latin typeface="Arial" pitchFamily="34" charset="0"/>
                <a:ea typeface="Arial" pitchFamily="34" charset="-122"/>
                <a:cs typeface="Arial" pitchFamily="34" charset="-120"/>
              </a:rPr>
              <a:t>After the floods: 400,000 cases (2021) → 1.6 million+ (2022).</a:t>
            </a:r>
            <a:endParaRPr lang="en-US" sz="1200" dirty="0"/>
          </a:p>
        </p:txBody>
      </p:sp>
      <p:sp>
        <p:nvSpPr>
          <p:cNvPr id="25" name="fx:4:up:card3"/>
          <p:cNvSpPr/>
          <p:nvPr/>
        </p:nvSpPr>
        <p:spPr>
          <a:xfrm>
            <a:off x="3703320" y="3931920"/>
            <a:ext cx="2971800" cy="1965960"/>
          </a:xfrm>
          <a:prstGeom prst="roundRect">
            <a:avLst>
              <a:gd name="adj" fmla="val 4186"/>
            </a:avLst>
          </a:prstGeom>
          <a:solidFill>
            <a:srgbClr val="1C080B">
              <a:alpha val="78000"/>
            </a:srgbClr>
          </a:solidFill>
          <a:ln w="9525">
            <a:solidFill>
              <a:srgbClr val="7A3038"/>
            </a:solidFill>
            <a:prstDash val="solid"/>
          </a:ln>
        </p:spPr>
      </p:sp>
      <p:pic>
        <p:nvPicPr>
          <p:cNvPr id="26" name="fx:4:zoom:n3" descr="+5 M">    </p:cNvPr>
          <p:cNvPicPr>
            <a:picLocks noChangeAspect="1"/>
          </p:cNvPicPr>
          <p:nvPr/>
        </p:nvPicPr>
        <p:blipFill>
          <a:blip r:embed="rId8"/>
          <a:stretch>
            <a:fillRect/>
          </a:stretch>
        </p:blipFill>
        <p:spPr>
          <a:xfrm>
            <a:off x="3904488" y="4114800"/>
            <a:ext cx="1207591" cy="446782"/>
          </a:xfrm>
          <a:prstGeom prst="rect">
            <a:avLst/>
          </a:prstGeom>
        </p:spPr>
      </p:pic>
      <p:sp>
        <p:nvSpPr>
          <p:cNvPr id="27" name="fx:4:up:u3"/>
          <p:cNvSpPr txBox="1"/>
          <p:nvPr/>
        </p:nvSpPr>
        <p:spPr>
          <a:xfrm>
            <a:off x="3904488" y="4645152"/>
            <a:ext cx="1463040" cy="201168"/>
          </a:xfrm>
          <a:prstGeom prst="rect">
            <a:avLst/>
          </a:prstGeom>
          <a:noFill/>
          <a:ln/>
        </p:spPr>
        <p:txBody>
          <a:bodyPr wrap="square" lIns="0" tIns="0" rIns="0" bIns="0" rtlCol="0" anchor="t"/>
          <a:lstStyle/>
          <a:p>
            <a:pPr indent="0" marL="0">
              <a:buNone/>
            </a:pPr>
            <a:r>
              <a:rPr lang="en-US" sz="1000" b="1" spc="200" kern="0" dirty="0">
                <a:solidFill>
                  <a:srgbClr val="E5333D"/>
                </a:solidFill>
                <a:latin typeface="Arial" pitchFamily="34" charset="0"/>
                <a:ea typeface="Arial" pitchFamily="34" charset="-122"/>
                <a:cs typeface="Arial" pitchFamily="34" charset="-120"/>
              </a:rPr>
              <a:t>NEW CASES</a:t>
            </a:r>
            <a:endParaRPr lang="en-US" sz="1000" dirty="0"/>
          </a:p>
        </p:txBody>
      </p:sp>
      <p:sp>
        <p:nvSpPr>
          <p:cNvPr id="28" name="fx:4:up:p3"/>
          <p:cNvSpPr txBox="1"/>
          <p:nvPr/>
        </p:nvSpPr>
        <p:spPr>
          <a:xfrm>
            <a:off x="3904488" y="4910328"/>
            <a:ext cx="2569464" cy="237744"/>
          </a:xfrm>
          <a:prstGeom prst="rect">
            <a:avLst/>
          </a:prstGeom>
          <a:noFill/>
          <a:ln/>
        </p:spPr>
        <p:txBody>
          <a:bodyPr wrap="square" lIns="0" tIns="0" rIns="0" bIns="0" rtlCol="0" anchor="t"/>
          <a:lstStyle/>
          <a:p>
            <a:pPr indent="0" marL="0">
              <a:buNone/>
            </a:pPr>
            <a:r>
              <a:rPr lang="en-US" sz="1100" b="1" spc="100" kern="0" dirty="0">
                <a:solidFill>
                  <a:srgbClr val="F4ECE8"/>
                </a:solidFill>
                <a:latin typeface="Arial" pitchFamily="34" charset="0"/>
                <a:ea typeface="Arial" pitchFamily="34" charset="-122"/>
                <a:cs typeface="Arial" pitchFamily="34" charset="-120"/>
              </a:rPr>
              <a:t>3 COUNTRIES · 2024</a:t>
            </a:r>
            <a:endParaRPr lang="en-US" sz="1100" dirty="0"/>
          </a:p>
        </p:txBody>
      </p:sp>
      <p:sp>
        <p:nvSpPr>
          <p:cNvPr id="29" name="fx:4:up:b3"/>
          <p:cNvSpPr txBox="1"/>
          <p:nvPr/>
        </p:nvSpPr>
        <p:spPr>
          <a:xfrm>
            <a:off x="3904488" y="5193792"/>
            <a:ext cx="2569464" cy="621792"/>
          </a:xfrm>
          <a:prstGeom prst="rect">
            <a:avLst/>
          </a:prstGeom>
          <a:noFill/>
          <a:ln/>
        </p:spPr>
        <p:txBody>
          <a:bodyPr wrap="square" lIns="0" tIns="0" rIns="0" bIns="0" rtlCol="0" anchor="t"/>
          <a:lstStyle/>
          <a:p>
            <a:pPr indent="0" marL="0">
              <a:buNone/>
            </a:pPr>
            <a:r>
              <a:rPr lang="en-US" sz="1200" dirty="0">
                <a:solidFill>
                  <a:srgbClr val="C9B2AE"/>
                </a:solidFill>
                <a:latin typeface="Arial" pitchFamily="34" charset="0"/>
                <a:ea typeface="Arial" pitchFamily="34" charset="-122"/>
                <a:cs typeface="Arial" pitchFamily="34" charset="-120"/>
              </a:rPr>
              <a:t>Ethiopia, Madagascar and Yemen added them in one year.</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42" presetClass="entr" presetSubtype="0" fill="hold" grpId="0" nodeType="afterEffect">
                                  <p:stCondLst>
                                    <p:cond delay="15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550"/>
                                        <p:tgtEl>
                                          <p:spTgt spid="10"/>
                                        </p:tgtEl>
                                      </p:cBhvr>
                                    </p:animEffect>
                                    <p:anim calcmode="lin" valueType="num">
                                      <p:cBhvr>
                                        <p:cTn id="8" dur="550" decel="100000" fill="hold"/>
                                        <p:tgtEl>
                                          <p:spTgt spid="10"/>
                                        </p:tgtEl>
                                        <p:attrNameLst>
                                          <p:attrName>ppt_x</p:attrName>
                                        </p:attrNameLst>
                                      </p:cBhvr>
                                      <p:tavLst>
                                        <p:tav tm="0">
                                          <p:val>
                                            <p:strVal val="#ppt_x"/>
                                          </p:val>
                                        </p:tav>
                                        <p:tav tm="100000">
                                          <p:val>
                                            <p:strVal val="#ppt_x"/>
                                          </p:val>
                                        </p:tav>
                                      </p:tavLst>
                                    </p:anim>
                                    <p:anim calcmode="lin" valueType="num">
                                      <p:cBhvr>
                                        <p:cTn id="9" dur="550" decel="100000" fill="hold"/>
                                        <p:tgtEl>
                                          <p:spTgt spid="10"/>
                                        </p:tgtEl>
                                        <p:attrNameLst>
                                          <p:attrName>ppt_y</p:attrName>
                                        </p:attrNameLst>
                                      </p:cBhvr>
                                      <p:tavLst>
                                        <p:tav tm="0">
                                          <p:val>
                                            <p:strVal val="#ppt_y+0.04"/>
                                          </p:val>
                                        </p:tav>
                                        <p:tav tm="100000">
                                          <p:val>
                                            <p:strVal val="#ppt_y"/>
                                          </p:val>
                                        </p:tav>
                                      </p:tavLst>
                                    </p:anim>
                                  </p:childTnLst>
                                </p:cTn>
                              </p:par>
                              <p:par>
                                <p:cTn id="12" presetID="53" presetClass="entr" presetSubtype="16" fill="hold" grpId="0" nodeType="withEffect">
                                  <p:stCondLst>
                                    <p:cond delay="150"/>
                                  </p:stCondLst>
                                  <p:childTnLst>
                                    <p:set>
                                      <p:cBhvr>
                                        <p:cTn id="10" dur="1" fill="hold">
                                          <p:stCondLst>
                                            <p:cond delay="0"/>
                                          </p:stCondLst>
                                        </p:cTn>
                                        <p:tgtEl>
                                          <p:spTgt spid="11"/>
                                        </p:tgtEl>
                                        <p:attrNameLst>
                                          <p:attrName>style.visibility</p:attrName>
                                        </p:attrNameLst>
                                      </p:cBhvr>
                                      <p:to>
                                        <p:strVal val="visible"/>
                                      </p:to>
                                    </p:set>
                                    <p:anim calcmode="lin" valueType="num">
                                      <p:cBhvr>
                                        <p:cTn id="13" dur="600" decel="100000" fill="hold"/>
                                        <p:tgtEl>
                                          <p:spTgt spid="11"/>
                                        </p:tgtEl>
                                        <p:attrNameLst>
                                          <p:attrName>ppt_w</p:attrName>
                                        </p:attrNameLst>
                                      </p:cBhvr>
                                      <p:tavLst>
                                        <p:tav tm="0">
                                          <p:val>
                                            <p:strVal val="#ppt_w*0.7"/>
                                          </p:val>
                                        </p:tav>
                                        <p:tav tm="100000">
                                          <p:val>
                                            <p:strVal val="#ppt_w"/>
                                          </p:val>
                                        </p:tav>
                                      </p:tavLst>
                                    </p:anim>
                                    <p:anim calcmode="lin" valueType="num">
                                      <p:cBhvr>
                                        <p:cTn id="14" dur="600" decel="100000" fill="hold"/>
                                        <p:tgtEl>
                                          <p:spTgt spid="11"/>
                                        </p:tgtEl>
                                        <p:attrNameLst>
                                          <p:attrName>ppt_h</p:attrName>
                                        </p:attrNameLst>
                                      </p:cBhvr>
                                      <p:tavLst>
                                        <p:tav tm="0">
                                          <p:val>
                                            <p:strVal val="#ppt_h*0.7"/>
                                          </p:val>
                                        </p:tav>
                                        <p:tav tm="100000">
                                          <p:val>
                                            <p:strVal val="#ppt_h"/>
                                          </p:val>
                                        </p:tav>
                                      </p:tavLst>
                                    </p:anim>
                                    <p:animEffect transition="in" filter="fade">
                                      <p:cBhvr>
                                        <p:cTn id="11" dur="600"/>
                                        <p:tgtEl>
                                          <p:spTgt spid="11"/>
                                        </p:tgtEl>
                                      </p:cBhvr>
                                    </p:animEffect>
                                  </p:childTnLst>
                                </p:cTn>
                              </p:par>
                              <p:par>
                                <p:cTn id="17" presetID="42" presetClass="entr" presetSubtype="0" fill="hold" grpId="0" nodeType="withEffect">
                                  <p:stCondLst>
                                    <p:cond delay="15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50"/>
                                        <p:tgtEl>
                                          <p:spTgt spid="12"/>
                                        </p:tgtEl>
                                      </p:cBhvr>
                                    </p:animEffect>
                                    <p:anim calcmode="lin" valueType="num">
                                      <p:cBhvr>
                                        <p:cTn id="18" dur="550" decel="100000" fill="hold"/>
                                        <p:tgtEl>
                                          <p:spTgt spid="12"/>
                                        </p:tgtEl>
                                        <p:attrNameLst>
                                          <p:attrName>ppt_x</p:attrName>
                                        </p:attrNameLst>
                                      </p:cBhvr>
                                      <p:tavLst>
                                        <p:tav tm="0">
                                          <p:val>
                                            <p:strVal val="#ppt_x"/>
                                          </p:val>
                                        </p:tav>
                                        <p:tav tm="100000">
                                          <p:val>
                                            <p:strVal val="#ppt_x"/>
                                          </p:val>
                                        </p:tav>
                                      </p:tavLst>
                                    </p:anim>
                                    <p:anim calcmode="lin" valueType="num">
                                      <p:cBhvr>
                                        <p:cTn id="19" dur="550" decel="100000" fill="hold"/>
                                        <p:tgtEl>
                                          <p:spTgt spid="12"/>
                                        </p:tgtEl>
                                        <p:attrNameLst>
                                          <p:attrName>ppt_y</p:attrName>
                                        </p:attrNameLst>
                                      </p:cBhvr>
                                      <p:tavLst>
                                        <p:tav tm="0">
                                          <p:val>
                                            <p:strVal val="#ppt_y+0.04"/>
                                          </p:val>
                                        </p:tav>
                                        <p:tav tm="100000">
                                          <p:val>
                                            <p:strVal val="#ppt_y"/>
                                          </p:val>
                                        </p:tav>
                                      </p:tavLst>
                                    </p:anim>
                                  </p:childTnLst>
                                </p:cTn>
                              </p:par>
                              <p:par>
                                <p:cTn id="22" presetID="42" presetClass="entr" presetSubtype="0" fill="hold" grpId="0" nodeType="withEffect">
                                  <p:stCondLst>
                                    <p:cond delay="15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50"/>
                                        <p:tgtEl>
                                          <p:spTgt spid="13"/>
                                        </p:tgtEl>
                                      </p:cBhvr>
                                    </p:animEffect>
                                    <p:anim calcmode="lin" valueType="num">
                                      <p:cBhvr>
                                        <p:cTn id="23" dur="550" decel="100000" fill="hold"/>
                                        <p:tgtEl>
                                          <p:spTgt spid="13"/>
                                        </p:tgtEl>
                                        <p:attrNameLst>
                                          <p:attrName>ppt_x</p:attrName>
                                        </p:attrNameLst>
                                      </p:cBhvr>
                                      <p:tavLst>
                                        <p:tav tm="0">
                                          <p:val>
                                            <p:strVal val="#ppt_x"/>
                                          </p:val>
                                        </p:tav>
                                        <p:tav tm="100000">
                                          <p:val>
                                            <p:strVal val="#ppt_x"/>
                                          </p:val>
                                        </p:tav>
                                      </p:tavLst>
                                    </p:anim>
                                    <p:anim calcmode="lin" valueType="num">
                                      <p:cBhvr>
                                        <p:cTn id="24" dur="550" decel="100000" fill="hold"/>
                                        <p:tgtEl>
                                          <p:spTgt spid="13"/>
                                        </p:tgtEl>
                                        <p:attrNameLst>
                                          <p:attrName>ppt_y</p:attrName>
                                        </p:attrNameLst>
                                      </p:cBhvr>
                                      <p:tavLst>
                                        <p:tav tm="0">
                                          <p:val>
                                            <p:strVal val="#ppt_y+0.04"/>
                                          </p:val>
                                        </p:tav>
                                        <p:tav tm="100000">
                                          <p:val>
                                            <p:strVal val="#ppt_y"/>
                                          </p:val>
                                        </p:tav>
                                      </p:tavLst>
                                    </p:anim>
                                  </p:childTnLst>
                                </p:cTn>
                              </p:par>
                              <p:par>
                                <p:cTn id="27" presetID="42" presetClass="entr" presetSubtype="0" fill="hold" grpId="0" nodeType="withEffect">
                                  <p:stCondLst>
                                    <p:cond delay="15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50"/>
                                        <p:tgtEl>
                                          <p:spTgt spid="14"/>
                                        </p:tgtEl>
                                      </p:cBhvr>
                                    </p:animEffect>
                                    <p:anim calcmode="lin" valueType="num">
                                      <p:cBhvr>
                                        <p:cTn id="28" dur="550" decel="100000" fill="hold"/>
                                        <p:tgtEl>
                                          <p:spTgt spid="14"/>
                                        </p:tgtEl>
                                        <p:attrNameLst>
                                          <p:attrName>ppt_x</p:attrName>
                                        </p:attrNameLst>
                                      </p:cBhvr>
                                      <p:tavLst>
                                        <p:tav tm="0">
                                          <p:val>
                                            <p:strVal val="#ppt_x"/>
                                          </p:val>
                                        </p:tav>
                                        <p:tav tm="100000">
                                          <p:val>
                                            <p:strVal val="#ppt_x"/>
                                          </p:val>
                                        </p:tav>
                                      </p:tavLst>
                                    </p:anim>
                                    <p:anim calcmode="lin" valueType="num">
                                      <p:cBhvr>
                                        <p:cTn id="29" dur="550" decel="100000" fill="hold"/>
                                        <p:tgtEl>
                                          <p:spTgt spid="14"/>
                                        </p:tgtEl>
                                        <p:attrNameLst>
                                          <p:attrName>ppt_y</p:attrName>
                                        </p:attrNameLst>
                                      </p:cBhvr>
                                      <p:tavLst>
                                        <p:tav tm="0">
                                          <p:val>
                                            <p:strVal val="#ppt_y+0.04"/>
                                          </p:val>
                                        </p:tav>
                                        <p:tav tm="100000">
                                          <p:val>
                                            <p:strVal val="#ppt_y"/>
                                          </p:val>
                                        </p:tav>
                                      </p:tavLst>
                                    </p:anim>
                                  </p:childTnLst>
                                </p:cTn>
                              </p:par>
                              <p:par>
                                <p:cTn id="32" presetID="42" presetClass="entr" presetSubtype="0" fill="hold" grpId="0" nodeType="withEffect">
                                  <p:stCondLst>
                                    <p:cond delay="28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50"/>
                                        <p:tgtEl>
                                          <p:spTgt spid="15"/>
                                        </p:tgtEl>
                                      </p:cBhvr>
                                    </p:animEffect>
                                    <p:anim calcmode="lin" valueType="num">
                                      <p:cBhvr>
                                        <p:cTn id="33" dur="550" decel="100000" fill="hold"/>
                                        <p:tgtEl>
                                          <p:spTgt spid="15"/>
                                        </p:tgtEl>
                                        <p:attrNameLst>
                                          <p:attrName>ppt_x</p:attrName>
                                        </p:attrNameLst>
                                      </p:cBhvr>
                                      <p:tavLst>
                                        <p:tav tm="0">
                                          <p:val>
                                            <p:strVal val="#ppt_x"/>
                                          </p:val>
                                        </p:tav>
                                        <p:tav tm="100000">
                                          <p:val>
                                            <p:strVal val="#ppt_x"/>
                                          </p:val>
                                        </p:tav>
                                      </p:tavLst>
                                    </p:anim>
                                    <p:anim calcmode="lin" valueType="num">
                                      <p:cBhvr>
                                        <p:cTn id="34" dur="550" decel="100000" fill="hold"/>
                                        <p:tgtEl>
                                          <p:spTgt spid="15"/>
                                        </p:tgtEl>
                                        <p:attrNameLst>
                                          <p:attrName>ppt_y</p:attrName>
                                        </p:attrNameLst>
                                      </p:cBhvr>
                                      <p:tavLst>
                                        <p:tav tm="0">
                                          <p:val>
                                            <p:strVal val="#ppt_y+0.04"/>
                                          </p:val>
                                        </p:tav>
                                        <p:tav tm="100000">
                                          <p:val>
                                            <p:strVal val="#ppt_y"/>
                                          </p:val>
                                        </p:tav>
                                      </p:tavLst>
                                    </p:anim>
                                  </p:childTnLst>
                                </p:cTn>
                              </p:par>
                              <p:par>
                                <p:cTn id="37" presetID="53" presetClass="entr" presetSubtype="16" fill="hold" grpId="0" nodeType="withEffect">
                                  <p:stCondLst>
                                    <p:cond delay="280"/>
                                  </p:stCondLst>
                                  <p:childTnLst>
                                    <p:set>
                                      <p:cBhvr>
                                        <p:cTn id="35" dur="1" fill="hold">
                                          <p:stCondLst>
                                            <p:cond delay="0"/>
                                          </p:stCondLst>
                                        </p:cTn>
                                        <p:tgtEl>
                                          <p:spTgt spid="16"/>
                                        </p:tgtEl>
                                        <p:attrNameLst>
                                          <p:attrName>style.visibility</p:attrName>
                                        </p:attrNameLst>
                                      </p:cBhvr>
                                      <p:to>
                                        <p:strVal val="visible"/>
                                      </p:to>
                                    </p:set>
                                    <p:anim calcmode="lin" valueType="num">
                                      <p:cBhvr>
                                        <p:cTn id="38" dur="600" decel="100000" fill="hold"/>
                                        <p:tgtEl>
                                          <p:spTgt spid="16"/>
                                        </p:tgtEl>
                                        <p:attrNameLst>
                                          <p:attrName>ppt_w</p:attrName>
                                        </p:attrNameLst>
                                      </p:cBhvr>
                                      <p:tavLst>
                                        <p:tav tm="0">
                                          <p:val>
                                            <p:strVal val="#ppt_w*0.7"/>
                                          </p:val>
                                        </p:tav>
                                        <p:tav tm="100000">
                                          <p:val>
                                            <p:strVal val="#ppt_w"/>
                                          </p:val>
                                        </p:tav>
                                      </p:tavLst>
                                    </p:anim>
                                    <p:anim calcmode="lin" valueType="num">
                                      <p:cBhvr>
                                        <p:cTn id="39" dur="600" decel="100000" fill="hold"/>
                                        <p:tgtEl>
                                          <p:spTgt spid="16"/>
                                        </p:tgtEl>
                                        <p:attrNameLst>
                                          <p:attrName>ppt_h</p:attrName>
                                        </p:attrNameLst>
                                      </p:cBhvr>
                                      <p:tavLst>
                                        <p:tav tm="0">
                                          <p:val>
                                            <p:strVal val="#ppt_h*0.7"/>
                                          </p:val>
                                        </p:tav>
                                        <p:tav tm="100000">
                                          <p:val>
                                            <p:strVal val="#ppt_h"/>
                                          </p:val>
                                        </p:tav>
                                      </p:tavLst>
                                    </p:anim>
                                    <p:animEffect transition="in" filter="fade">
                                      <p:cBhvr>
                                        <p:cTn id="36" dur="600"/>
                                        <p:tgtEl>
                                          <p:spTgt spid="16"/>
                                        </p:tgtEl>
                                      </p:cBhvr>
                                    </p:animEffect>
                                  </p:childTnLst>
                                </p:cTn>
                              </p:par>
                              <p:par>
                                <p:cTn id="42" presetID="42" presetClass="entr" presetSubtype="0" fill="hold" grpId="0" nodeType="withEffect">
                                  <p:stCondLst>
                                    <p:cond delay="28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50"/>
                                        <p:tgtEl>
                                          <p:spTgt spid="17"/>
                                        </p:tgtEl>
                                      </p:cBhvr>
                                    </p:animEffect>
                                    <p:anim calcmode="lin" valueType="num">
                                      <p:cBhvr>
                                        <p:cTn id="43" dur="550" decel="100000" fill="hold"/>
                                        <p:tgtEl>
                                          <p:spTgt spid="17"/>
                                        </p:tgtEl>
                                        <p:attrNameLst>
                                          <p:attrName>ppt_x</p:attrName>
                                        </p:attrNameLst>
                                      </p:cBhvr>
                                      <p:tavLst>
                                        <p:tav tm="0">
                                          <p:val>
                                            <p:strVal val="#ppt_x"/>
                                          </p:val>
                                        </p:tav>
                                        <p:tav tm="100000">
                                          <p:val>
                                            <p:strVal val="#ppt_x"/>
                                          </p:val>
                                        </p:tav>
                                      </p:tavLst>
                                    </p:anim>
                                    <p:anim calcmode="lin" valueType="num">
                                      <p:cBhvr>
                                        <p:cTn id="44" dur="550" decel="100000" fill="hold"/>
                                        <p:tgtEl>
                                          <p:spTgt spid="17"/>
                                        </p:tgtEl>
                                        <p:attrNameLst>
                                          <p:attrName>ppt_y</p:attrName>
                                        </p:attrNameLst>
                                      </p:cBhvr>
                                      <p:tavLst>
                                        <p:tav tm="0">
                                          <p:val>
                                            <p:strVal val="#ppt_y+0.04"/>
                                          </p:val>
                                        </p:tav>
                                        <p:tav tm="100000">
                                          <p:val>
                                            <p:strVal val="#ppt_y"/>
                                          </p:val>
                                        </p:tav>
                                      </p:tavLst>
                                    </p:anim>
                                  </p:childTnLst>
                                </p:cTn>
                              </p:par>
                              <p:par>
                                <p:cTn id="47" presetID="42" presetClass="entr" presetSubtype="0" fill="hold" grpId="0" nodeType="withEffect">
                                  <p:stCondLst>
                                    <p:cond delay="28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50"/>
                                        <p:tgtEl>
                                          <p:spTgt spid="18"/>
                                        </p:tgtEl>
                                      </p:cBhvr>
                                    </p:animEffect>
                                    <p:anim calcmode="lin" valueType="num">
                                      <p:cBhvr>
                                        <p:cTn id="48" dur="550" decel="100000" fill="hold"/>
                                        <p:tgtEl>
                                          <p:spTgt spid="18"/>
                                        </p:tgtEl>
                                        <p:attrNameLst>
                                          <p:attrName>ppt_x</p:attrName>
                                        </p:attrNameLst>
                                      </p:cBhvr>
                                      <p:tavLst>
                                        <p:tav tm="0">
                                          <p:val>
                                            <p:strVal val="#ppt_x"/>
                                          </p:val>
                                        </p:tav>
                                        <p:tav tm="100000">
                                          <p:val>
                                            <p:strVal val="#ppt_x"/>
                                          </p:val>
                                        </p:tav>
                                      </p:tavLst>
                                    </p:anim>
                                    <p:anim calcmode="lin" valueType="num">
                                      <p:cBhvr>
                                        <p:cTn id="49" dur="550" decel="100000" fill="hold"/>
                                        <p:tgtEl>
                                          <p:spTgt spid="18"/>
                                        </p:tgtEl>
                                        <p:attrNameLst>
                                          <p:attrName>ppt_y</p:attrName>
                                        </p:attrNameLst>
                                      </p:cBhvr>
                                      <p:tavLst>
                                        <p:tav tm="0">
                                          <p:val>
                                            <p:strVal val="#ppt_y+0.04"/>
                                          </p:val>
                                        </p:tav>
                                        <p:tav tm="100000">
                                          <p:val>
                                            <p:strVal val="#ppt_y"/>
                                          </p:val>
                                        </p:tav>
                                      </p:tavLst>
                                    </p:anim>
                                  </p:childTnLst>
                                </p:cTn>
                              </p:par>
                              <p:par>
                                <p:cTn id="52" presetID="42" presetClass="entr" presetSubtype="0" fill="hold" grpId="0" nodeType="withEffect">
                                  <p:stCondLst>
                                    <p:cond delay="28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50"/>
                                        <p:tgtEl>
                                          <p:spTgt spid="19"/>
                                        </p:tgtEl>
                                      </p:cBhvr>
                                    </p:animEffect>
                                    <p:anim calcmode="lin" valueType="num">
                                      <p:cBhvr>
                                        <p:cTn id="53" dur="550" decel="100000" fill="hold"/>
                                        <p:tgtEl>
                                          <p:spTgt spid="19"/>
                                        </p:tgtEl>
                                        <p:attrNameLst>
                                          <p:attrName>ppt_x</p:attrName>
                                        </p:attrNameLst>
                                      </p:cBhvr>
                                      <p:tavLst>
                                        <p:tav tm="0">
                                          <p:val>
                                            <p:strVal val="#ppt_x"/>
                                          </p:val>
                                        </p:tav>
                                        <p:tav tm="100000">
                                          <p:val>
                                            <p:strVal val="#ppt_x"/>
                                          </p:val>
                                        </p:tav>
                                      </p:tavLst>
                                    </p:anim>
                                    <p:anim calcmode="lin" valueType="num">
                                      <p:cBhvr>
                                        <p:cTn id="54" dur="550" decel="100000" fill="hold"/>
                                        <p:tgtEl>
                                          <p:spTgt spid="19"/>
                                        </p:tgtEl>
                                        <p:attrNameLst>
                                          <p:attrName>ppt_y</p:attrName>
                                        </p:attrNameLst>
                                      </p:cBhvr>
                                      <p:tavLst>
                                        <p:tav tm="0">
                                          <p:val>
                                            <p:strVal val="#ppt_y+0.04"/>
                                          </p:val>
                                        </p:tav>
                                        <p:tav tm="100000">
                                          <p:val>
                                            <p:strVal val="#ppt_y"/>
                                          </p:val>
                                        </p:tav>
                                      </p:tavLst>
                                    </p:anim>
                                  </p:childTnLst>
                                </p:cTn>
                              </p:par>
                              <p:par>
                                <p:cTn id="57" presetID="42" presetClass="entr" presetSubtype="0" fill="hold" grpId="0" nodeType="withEffect">
                                  <p:stCondLst>
                                    <p:cond delay="41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50"/>
                                        <p:tgtEl>
                                          <p:spTgt spid="20"/>
                                        </p:tgtEl>
                                      </p:cBhvr>
                                    </p:animEffect>
                                    <p:anim calcmode="lin" valueType="num">
                                      <p:cBhvr>
                                        <p:cTn id="58" dur="550" decel="100000" fill="hold"/>
                                        <p:tgtEl>
                                          <p:spTgt spid="20"/>
                                        </p:tgtEl>
                                        <p:attrNameLst>
                                          <p:attrName>ppt_x</p:attrName>
                                        </p:attrNameLst>
                                      </p:cBhvr>
                                      <p:tavLst>
                                        <p:tav tm="0">
                                          <p:val>
                                            <p:strVal val="#ppt_x"/>
                                          </p:val>
                                        </p:tav>
                                        <p:tav tm="100000">
                                          <p:val>
                                            <p:strVal val="#ppt_x"/>
                                          </p:val>
                                        </p:tav>
                                      </p:tavLst>
                                    </p:anim>
                                    <p:anim calcmode="lin" valueType="num">
                                      <p:cBhvr>
                                        <p:cTn id="59" dur="550" decel="100000" fill="hold"/>
                                        <p:tgtEl>
                                          <p:spTgt spid="20"/>
                                        </p:tgtEl>
                                        <p:attrNameLst>
                                          <p:attrName>ppt_y</p:attrName>
                                        </p:attrNameLst>
                                      </p:cBhvr>
                                      <p:tavLst>
                                        <p:tav tm="0">
                                          <p:val>
                                            <p:strVal val="#ppt_y+0.04"/>
                                          </p:val>
                                        </p:tav>
                                        <p:tav tm="100000">
                                          <p:val>
                                            <p:strVal val="#ppt_y"/>
                                          </p:val>
                                        </p:tav>
                                      </p:tavLst>
                                    </p:anim>
                                  </p:childTnLst>
                                </p:cTn>
                              </p:par>
                              <p:par>
                                <p:cTn id="62" presetID="53" presetClass="entr" presetSubtype="16" fill="hold" grpId="0" nodeType="withEffect">
                                  <p:stCondLst>
                                    <p:cond delay="410"/>
                                  </p:stCondLst>
                                  <p:childTnLst>
                                    <p:set>
                                      <p:cBhvr>
                                        <p:cTn id="60" dur="1" fill="hold">
                                          <p:stCondLst>
                                            <p:cond delay="0"/>
                                          </p:stCondLst>
                                        </p:cTn>
                                        <p:tgtEl>
                                          <p:spTgt spid="21"/>
                                        </p:tgtEl>
                                        <p:attrNameLst>
                                          <p:attrName>style.visibility</p:attrName>
                                        </p:attrNameLst>
                                      </p:cBhvr>
                                      <p:to>
                                        <p:strVal val="visible"/>
                                      </p:to>
                                    </p:set>
                                    <p:anim calcmode="lin" valueType="num">
                                      <p:cBhvr>
                                        <p:cTn id="63" dur="600" decel="100000" fill="hold"/>
                                        <p:tgtEl>
                                          <p:spTgt spid="21"/>
                                        </p:tgtEl>
                                        <p:attrNameLst>
                                          <p:attrName>ppt_w</p:attrName>
                                        </p:attrNameLst>
                                      </p:cBhvr>
                                      <p:tavLst>
                                        <p:tav tm="0">
                                          <p:val>
                                            <p:strVal val="#ppt_w*0.7"/>
                                          </p:val>
                                        </p:tav>
                                        <p:tav tm="100000">
                                          <p:val>
                                            <p:strVal val="#ppt_w"/>
                                          </p:val>
                                        </p:tav>
                                      </p:tavLst>
                                    </p:anim>
                                    <p:anim calcmode="lin" valueType="num">
                                      <p:cBhvr>
                                        <p:cTn id="64" dur="600" decel="100000" fill="hold"/>
                                        <p:tgtEl>
                                          <p:spTgt spid="21"/>
                                        </p:tgtEl>
                                        <p:attrNameLst>
                                          <p:attrName>ppt_h</p:attrName>
                                        </p:attrNameLst>
                                      </p:cBhvr>
                                      <p:tavLst>
                                        <p:tav tm="0">
                                          <p:val>
                                            <p:strVal val="#ppt_h*0.7"/>
                                          </p:val>
                                        </p:tav>
                                        <p:tav tm="100000">
                                          <p:val>
                                            <p:strVal val="#ppt_h"/>
                                          </p:val>
                                        </p:tav>
                                      </p:tavLst>
                                    </p:anim>
                                    <p:animEffect transition="in" filter="fade">
                                      <p:cBhvr>
                                        <p:cTn id="61" dur="600"/>
                                        <p:tgtEl>
                                          <p:spTgt spid="21"/>
                                        </p:tgtEl>
                                      </p:cBhvr>
                                    </p:animEffect>
                                  </p:childTnLst>
                                </p:cTn>
                              </p:par>
                              <p:par>
                                <p:cTn id="67" presetID="42" presetClass="entr" presetSubtype="0" fill="hold" grpId="0" nodeType="withEffect">
                                  <p:stCondLst>
                                    <p:cond delay="41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50"/>
                                        <p:tgtEl>
                                          <p:spTgt spid="22"/>
                                        </p:tgtEl>
                                      </p:cBhvr>
                                    </p:animEffect>
                                    <p:anim calcmode="lin" valueType="num">
                                      <p:cBhvr>
                                        <p:cTn id="68" dur="550" decel="100000" fill="hold"/>
                                        <p:tgtEl>
                                          <p:spTgt spid="22"/>
                                        </p:tgtEl>
                                        <p:attrNameLst>
                                          <p:attrName>ppt_x</p:attrName>
                                        </p:attrNameLst>
                                      </p:cBhvr>
                                      <p:tavLst>
                                        <p:tav tm="0">
                                          <p:val>
                                            <p:strVal val="#ppt_x"/>
                                          </p:val>
                                        </p:tav>
                                        <p:tav tm="100000">
                                          <p:val>
                                            <p:strVal val="#ppt_x"/>
                                          </p:val>
                                        </p:tav>
                                      </p:tavLst>
                                    </p:anim>
                                    <p:anim calcmode="lin" valueType="num">
                                      <p:cBhvr>
                                        <p:cTn id="69" dur="550" decel="100000" fill="hold"/>
                                        <p:tgtEl>
                                          <p:spTgt spid="22"/>
                                        </p:tgtEl>
                                        <p:attrNameLst>
                                          <p:attrName>ppt_y</p:attrName>
                                        </p:attrNameLst>
                                      </p:cBhvr>
                                      <p:tavLst>
                                        <p:tav tm="0">
                                          <p:val>
                                            <p:strVal val="#ppt_y+0.04"/>
                                          </p:val>
                                        </p:tav>
                                        <p:tav tm="100000">
                                          <p:val>
                                            <p:strVal val="#ppt_y"/>
                                          </p:val>
                                        </p:tav>
                                      </p:tavLst>
                                    </p:anim>
                                  </p:childTnLst>
                                </p:cTn>
                              </p:par>
                              <p:par>
                                <p:cTn id="72" presetID="42" presetClass="entr" presetSubtype="0" fill="hold" grpId="0" nodeType="withEffect">
                                  <p:stCondLst>
                                    <p:cond delay="41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50"/>
                                        <p:tgtEl>
                                          <p:spTgt spid="23"/>
                                        </p:tgtEl>
                                      </p:cBhvr>
                                    </p:animEffect>
                                    <p:anim calcmode="lin" valueType="num">
                                      <p:cBhvr>
                                        <p:cTn id="73" dur="550" decel="100000" fill="hold"/>
                                        <p:tgtEl>
                                          <p:spTgt spid="23"/>
                                        </p:tgtEl>
                                        <p:attrNameLst>
                                          <p:attrName>ppt_x</p:attrName>
                                        </p:attrNameLst>
                                      </p:cBhvr>
                                      <p:tavLst>
                                        <p:tav tm="0">
                                          <p:val>
                                            <p:strVal val="#ppt_x"/>
                                          </p:val>
                                        </p:tav>
                                        <p:tav tm="100000">
                                          <p:val>
                                            <p:strVal val="#ppt_x"/>
                                          </p:val>
                                        </p:tav>
                                      </p:tavLst>
                                    </p:anim>
                                    <p:anim calcmode="lin" valueType="num">
                                      <p:cBhvr>
                                        <p:cTn id="74" dur="550" decel="100000" fill="hold"/>
                                        <p:tgtEl>
                                          <p:spTgt spid="23"/>
                                        </p:tgtEl>
                                        <p:attrNameLst>
                                          <p:attrName>ppt_y</p:attrName>
                                        </p:attrNameLst>
                                      </p:cBhvr>
                                      <p:tavLst>
                                        <p:tav tm="0">
                                          <p:val>
                                            <p:strVal val="#ppt_y+0.04"/>
                                          </p:val>
                                        </p:tav>
                                        <p:tav tm="100000">
                                          <p:val>
                                            <p:strVal val="#ppt_y"/>
                                          </p:val>
                                        </p:tav>
                                      </p:tavLst>
                                    </p:anim>
                                  </p:childTnLst>
                                </p:cTn>
                              </p:par>
                              <p:par>
                                <p:cTn id="77" presetID="42" presetClass="entr" presetSubtype="0" fill="hold" grpId="0" nodeType="withEffect">
                                  <p:stCondLst>
                                    <p:cond delay="41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550"/>
                                        <p:tgtEl>
                                          <p:spTgt spid="24"/>
                                        </p:tgtEl>
                                      </p:cBhvr>
                                    </p:animEffect>
                                    <p:anim calcmode="lin" valueType="num">
                                      <p:cBhvr>
                                        <p:cTn id="78" dur="550" decel="100000" fill="hold"/>
                                        <p:tgtEl>
                                          <p:spTgt spid="24"/>
                                        </p:tgtEl>
                                        <p:attrNameLst>
                                          <p:attrName>ppt_x</p:attrName>
                                        </p:attrNameLst>
                                      </p:cBhvr>
                                      <p:tavLst>
                                        <p:tav tm="0">
                                          <p:val>
                                            <p:strVal val="#ppt_x"/>
                                          </p:val>
                                        </p:tav>
                                        <p:tav tm="100000">
                                          <p:val>
                                            <p:strVal val="#ppt_x"/>
                                          </p:val>
                                        </p:tav>
                                      </p:tavLst>
                                    </p:anim>
                                    <p:anim calcmode="lin" valueType="num">
                                      <p:cBhvr>
                                        <p:cTn id="79" dur="550" decel="100000" fill="hold"/>
                                        <p:tgtEl>
                                          <p:spTgt spid="24"/>
                                        </p:tgtEl>
                                        <p:attrNameLst>
                                          <p:attrName>ppt_y</p:attrName>
                                        </p:attrNameLst>
                                      </p:cBhvr>
                                      <p:tavLst>
                                        <p:tav tm="0">
                                          <p:val>
                                            <p:strVal val="#ppt_y+0.04"/>
                                          </p:val>
                                        </p:tav>
                                        <p:tav tm="100000">
                                          <p:val>
                                            <p:strVal val="#ppt_y"/>
                                          </p:val>
                                        </p:tav>
                                      </p:tavLst>
                                    </p:anim>
                                  </p:childTnLst>
                                </p:cTn>
                              </p:par>
                              <p:par>
                                <p:cTn id="82" presetID="42" presetClass="entr" presetSubtype="0" fill="hold" grpId="0" nodeType="withEffect">
                                  <p:stCondLst>
                                    <p:cond delay="54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550"/>
                                        <p:tgtEl>
                                          <p:spTgt spid="25"/>
                                        </p:tgtEl>
                                      </p:cBhvr>
                                    </p:animEffect>
                                    <p:anim calcmode="lin" valueType="num">
                                      <p:cBhvr>
                                        <p:cTn id="83" dur="550" decel="100000" fill="hold"/>
                                        <p:tgtEl>
                                          <p:spTgt spid="25"/>
                                        </p:tgtEl>
                                        <p:attrNameLst>
                                          <p:attrName>ppt_x</p:attrName>
                                        </p:attrNameLst>
                                      </p:cBhvr>
                                      <p:tavLst>
                                        <p:tav tm="0">
                                          <p:val>
                                            <p:strVal val="#ppt_x"/>
                                          </p:val>
                                        </p:tav>
                                        <p:tav tm="100000">
                                          <p:val>
                                            <p:strVal val="#ppt_x"/>
                                          </p:val>
                                        </p:tav>
                                      </p:tavLst>
                                    </p:anim>
                                    <p:anim calcmode="lin" valueType="num">
                                      <p:cBhvr>
                                        <p:cTn id="84" dur="550" decel="100000" fill="hold"/>
                                        <p:tgtEl>
                                          <p:spTgt spid="25"/>
                                        </p:tgtEl>
                                        <p:attrNameLst>
                                          <p:attrName>ppt_y</p:attrName>
                                        </p:attrNameLst>
                                      </p:cBhvr>
                                      <p:tavLst>
                                        <p:tav tm="0">
                                          <p:val>
                                            <p:strVal val="#ppt_y+0.04"/>
                                          </p:val>
                                        </p:tav>
                                        <p:tav tm="100000">
                                          <p:val>
                                            <p:strVal val="#ppt_y"/>
                                          </p:val>
                                        </p:tav>
                                      </p:tavLst>
                                    </p:anim>
                                  </p:childTnLst>
                                </p:cTn>
                              </p:par>
                              <p:par>
                                <p:cTn id="87" presetID="53" presetClass="entr" presetSubtype="16" fill="hold" grpId="0" nodeType="withEffect">
                                  <p:stCondLst>
                                    <p:cond delay="540"/>
                                  </p:stCondLst>
                                  <p:childTnLst>
                                    <p:set>
                                      <p:cBhvr>
                                        <p:cTn id="85" dur="1" fill="hold">
                                          <p:stCondLst>
                                            <p:cond delay="0"/>
                                          </p:stCondLst>
                                        </p:cTn>
                                        <p:tgtEl>
                                          <p:spTgt spid="26"/>
                                        </p:tgtEl>
                                        <p:attrNameLst>
                                          <p:attrName>style.visibility</p:attrName>
                                        </p:attrNameLst>
                                      </p:cBhvr>
                                      <p:to>
                                        <p:strVal val="visible"/>
                                      </p:to>
                                    </p:set>
                                    <p:anim calcmode="lin" valueType="num">
                                      <p:cBhvr>
                                        <p:cTn id="88" dur="600" decel="100000" fill="hold"/>
                                        <p:tgtEl>
                                          <p:spTgt spid="26"/>
                                        </p:tgtEl>
                                        <p:attrNameLst>
                                          <p:attrName>ppt_w</p:attrName>
                                        </p:attrNameLst>
                                      </p:cBhvr>
                                      <p:tavLst>
                                        <p:tav tm="0">
                                          <p:val>
                                            <p:strVal val="#ppt_w*0.7"/>
                                          </p:val>
                                        </p:tav>
                                        <p:tav tm="100000">
                                          <p:val>
                                            <p:strVal val="#ppt_w"/>
                                          </p:val>
                                        </p:tav>
                                      </p:tavLst>
                                    </p:anim>
                                    <p:anim calcmode="lin" valueType="num">
                                      <p:cBhvr>
                                        <p:cTn id="89" dur="600" decel="100000" fill="hold"/>
                                        <p:tgtEl>
                                          <p:spTgt spid="26"/>
                                        </p:tgtEl>
                                        <p:attrNameLst>
                                          <p:attrName>ppt_h</p:attrName>
                                        </p:attrNameLst>
                                      </p:cBhvr>
                                      <p:tavLst>
                                        <p:tav tm="0">
                                          <p:val>
                                            <p:strVal val="#ppt_h*0.7"/>
                                          </p:val>
                                        </p:tav>
                                        <p:tav tm="100000">
                                          <p:val>
                                            <p:strVal val="#ppt_h"/>
                                          </p:val>
                                        </p:tav>
                                      </p:tavLst>
                                    </p:anim>
                                    <p:animEffect transition="in" filter="fade">
                                      <p:cBhvr>
                                        <p:cTn id="86" dur="600"/>
                                        <p:tgtEl>
                                          <p:spTgt spid="26"/>
                                        </p:tgtEl>
                                      </p:cBhvr>
                                    </p:animEffect>
                                  </p:childTnLst>
                                </p:cTn>
                              </p:par>
                              <p:par>
                                <p:cTn id="92" presetID="42" presetClass="entr" presetSubtype="0" fill="hold" grpId="0" nodeType="withEffect">
                                  <p:stCondLst>
                                    <p:cond delay="540"/>
                                  </p:stCondLst>
                                  <p:childTnLst>
                                    <p:set>
                                      <p:cBhvr>
                                        <p:cTn id="90" dur="1" fill="hold">
                                          <p:stCondLst>
                                            <p:cond delay="0"/>
                                          </p:stCondLst>
                                        </p:cTn>
                                        <p:tgtEl>
                                          <p:spTgt spid="27"/>
                                        </p:tgtEl>
                                        <p:attrNameLst>
                                          <p:attrName>style.visibility</p:attrName>
                                        </p:attrNameLst>
                                      </p:cBhvr>
                                      <p:to>
                                        <p:strVal val="visible"/>
                                      </p:to>
                                    </p:set>
                                    <p:animEffect transition="in" filter="fade">
                                      <p:cBhvr>
                                        <p:cTn id="91" dur="550"/>
                                        <p:tgtEl>
                                          <p:spTgt spid="27"/>
                                        </p:tgtEl>
                                      </p:cBhvr>
                                    </p:animEffect>
                                    <p:anim calcmode="lin" valueType="num">
                                      <p:cBhvr>
                                        <p:cTn id="93" dur="550" decel="100000" fill="hold"/>
                                        <p:tgtEl>
                                          <p:spTgt spid="27"/>
                                        </p:tgtEl>
                                        <p:attrNameLst>
                                          <p:attrName>ppt_x</p:attrName>
                                        </p:attrNameLst>
                                      </p:cBhvr>
                                      <p:tavLst>
                                        <p:tav tm="0">
                                          <p:val>
                                            <p:strVal val="#ppt_x"/>
                                          </p:val>
                                        </p:tav>
                                        <p:tav tm="100000">
                                          <p:val>
                                            <p:strVal val="#ppt_x"/>
                                          </p:val>
                                        </p:tav>
                                      </p:tavLst>
                                    </p:anim>
                                    <p:anim calcmode="lin" valueType="num">
                                      <p:cBhvr>
                                        <p:cTn id="94" dur="550" decel="100000" fill="hold"/>
                                        <p:tgtEl>
                                          <p:spTgt spid="27"/>
                                        </p:tgtEl>
                                        <p:attrNameLst>
                                          <p:attrName>ppt_y</p:attrName>
                                        </p:attrNameLst>
                                      </p:cBhvr>
                                      <p:tavLst>
                                        <p:tav tm="0">
                                          <p:val>
                                            <p:strVal val="#ppt_y+0.04"/>
                                          </p:val>
                                        </p:tav>
                                        <p:tav tm="100000">
                                          <p:val>
                                            <p:strVal val="#ppt_y"/>
                                          </p:val>
                                        </p:tav>
                                      </p:tavLst>
                                    </p:anim>
                                  </p:childTnLst>
                                </p:cTn>
                              </p:par>
                              <p:par>
                                <p:cTn id="97" presetID="42" presetClass="entr" presetSubtype="0" fill="hold" grpId="0" nodeType="withEffect">
                                  <p:stCondLst>
                                    <p:cond delay="54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550"/>
                                        <p:tgtEl>
                                          <p:spTgt spid="28"/>
                                        </p:tgtEl>
                                      </p:cBhvr>
                                    </p:animEffect>
                                    <p:anim calcmode="lin" valueType="num">
                                      <p:cBhvr>
                                        <p:cTn id="98" dur="550" decel="100000" fill="hold"/>
                                        <p:tgtEl>
                                          <p:spTgt spid="28"/>
                                        </p:tgtEl>
                                        <p:attrNameLst>
                                          <p:attrName>ppt_x</p:attrName>
                                        </p:attrNameLst>
                                      </p:cBhvr>
                                      <p:tavLst>
                                        <p:tav tm="0">
                                          <p:val>
                                            <p:strVal val="#ppt_x"/>
                                          </p:val>
                                        </p:tav>
                                        <p:tav tm="100000">
                                          <p:val>
                                            <p:strVal val="#ppt_x"/>
                                          </p:val>
                                        </p:tav>
                                      </p:tavLst>
                                    </p:anim>
                                    <p:anim calcmode="lin" valueType="num">
                                      <p:cBhvr>
                                        <p:cTn id="99" dur="550" decel="100000" fill="hold"/>
                                        <p:tgtEl>
                                          <p:spTgt spid="28"/>
                                        </p:tgtEl>
                                        <p:attrNameLst>
                                          <p:attrName>ppt_y</p:attrName>
                                        </p:attrNameLst>
                                      </p:cBhvr>
                                      <p:tavLst>
                                        <p:tav tm="0">
                                          <p:val>
                                            <p:strVal val="#ppt_y+0.04"/>
                                          </p:val>
                                        </p:tav>
                                        <p:tav tm="100000">
                                          <p:val>
                                            <p:strVal val="#ppt_y"/>
                                          </p:val>
                                        </p:tav>
                                      </p:tavLst>
                                    </p:anim>
                                  </p:childTnLst>
                                </p:cTn>
                              </p:par>
                              <p:par>
                                <p:cTn id="102" presetID="42" presetClass="entr" presetSubtype="0" fill="hold" grpId="0" nodeType="withEffect">
                                  <p:stCondLst>
                                    <p:cond delay="540"/>
                                  </p:stCondLst>
                                  <p:childTnLst>
                                    <p:set>
                                      <p:cBhvr>
                                        <p:cTn id="100" dur="1" fill="hold">
                                          <p:stCondLst>
                                            <p:cond delay="0"/>
                                          </p:stCondLst>
                                        </p:cTn>
                                        <p:tgtEl>
                                          <p:spTgt spid="29"/>
                                        </p:tgtEl>
                                        <p:attrNameLst>
                                          <p:attrName>style.visibility</p:attrName>
                                        </p:attrNameLst>
                                      </p:cBhvr>
                                      <p:to>
                                        <p:strVal val="visible"/>
                                      </p:to>
                                    </p:set>
                                    <p:animEffect transition="in" filter="fade">
                                      <p:cBhvr>
                                        <p:cTn id="101" dur="550"/>
                                        <p:tgtEl>
                                          <p:spTgt spid="29"/>
                                        </p:tgtEl>
                                      </p:cBhvr>
                                    </p:animEffect>
                                    <p:anim calcmode="lin" valueType="num">
                                      <p:cBhvr>
                                        <p:cTn id="103" dur="550" decel="100000" fill="hold"/>
                                        <p:tgtEl>
                                          <p:spTgt spid="29"/>
                                        </p:tgtEl>
                                        <p:attrNameLst>
                                          <p:attrName>ppt_x</p:attrName>
                                        </p:attrNameLst>
                                      </p:cBhvr>
                                      <p:tavLst>
                                        <p:tav tm="0">
                                          <p:val>
                                            <p:strVal val="#ppt_x"/>
                                          </p:val>
                                        </p:tav>
                                        <p:tav tm="100000">
                                          <p:val>
                                            <p:strVal val="#ppt_x"/>
                                          </p:val>
                                        </p:tav>
                                      </p:tavLst>
                                    </p:anim>
                                    <p:anim calcmode="lin" valueType="num">
                                      <p:cBhvr>
                                        <p:cTn id="104" dur="550" decel="100000" fill="hold"/>
                                        <p:tgtEl>
                                          <p:spTgt spid="29"/>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Lst>
  </p:timing>
</p:sld>
</file>

<file path=ppt/slides/slide8.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8">
    <p:bg>
      <p:bgPr>
        <a:solidFill>
          <a:srgbClr val="0A0405"/>
        </a:solidFill>
      </p:bgPr>
    </p:bg>
    <p:spTree>
      <p:nvGrpSpPr>
        <p:cNvPr id="1" name=""/>
        <p:cNvGrpSpPr/>
        <p:nvPr/>
      </p:nvGrpSpPr>
      <p:grpSpPr>
        <a:xfrm>
          <a:off x="0" y="0"/>
          <a:ext cx="0" cy="0"/>
          <a:chOff x="0" y="0"/>
          <a:chExt cx="0" cy="0"/>
        </a:xfrm>
      </p:grpSpPr>
      <p:pic>
        <p:nvPicPr>
          <p:cNvPr id="2" name="!!bg" descr="Mother carrying a child through an African village at sunset">    </p:cNvPr>
          <p:cNvPicPr>
            <a:picLocks noChangeAspect="1"/>
          </p:cNvPicPr>
          <p:nvPr/>
        </p:nvPicPr>
        <p:blipFill>
          <a:blip r:embed="rId1"/>
          <a:stretch>
            <a:fillRect/>
          </a:stretch>
        </p:blipFill>
        <p:spPr>
          <a:xfrm>
            <a:off x="0" y="0"/>
            <a:ext cx="12191695" cy="6858000"/>
          </a:xfrm>
          <a:prstGeom prst="rect">
            <a:avLst/>
          </a:prstGeom>
        </p:spPr>
      </p:pic>
      <p:pic>
        <p:nvPicPr>
          <p:cNvPr id="3" name="!!shade" descr="/home/user/mdist-tracker/presentations/malaria/build/shade_L.png">    </p:cNvPr>
          <p:cNvPicPr>
            <a:picLocks noChangeAspect="1"/>
          </p:cNvPicPr>
          <p:nvPr/>
        </p:nvPicPr>
        <p:blipFill>
          <a:blip r:embed="rId2"/>
          <a:stretch>
            <a:fillRect/>
          </a:stretch>
        </p:blipFill>
        <p:spPr>
          <a:xfrm>
            <a:off x="0" y="0"/>
            <a:ext cx="12191695" cy="6858000"/>
          </a:xfrm>
          <a:prstGeom prst="rect">
            <a:avLst/>
          </a:prstGeom>
        </p:spPr>
      </p:pic>
      <p:sp>
        <p:nvSpPr>
          <p:cNvPr id="4" name="!!pill"/>
          <p:cNvSpPr/>
          <p:nvPr/>
        </p:nvSpPr>
        <p:spPr>
          <a:xfrm>
            <a:off x="548640" y="411480"/>
            <a:ext cx="2168957" cy="274320"/>
          </a:xfrm>
          <a:prstGeom prst="roundRect">
            <a:avLst>
              <a:gd name="adj" fmla="val 50000"/>
            </a:avLst>
          </a:prstGeom>
          <a:solidFill>
            <a:srgbClr val="0A0405">
              <a:alpha val="65000"/>
            </a:srgbClr>
          </a:solidFill>
          <a:ln w="9525">
            <a:solidFill>
              <a:srgbClr val="7A3038"/>
            </a:solidFill>
            <a:prstDash val="solid"/>
          </a:ln>
        </p:spPr>
      </p:sp>
      <p:sp>
        <p:nvSpPr>
          <p:cNvPr id="5" name="!!pilltext"/>
          <p:cNvSpPr txBox="1"/>
          <p:nvPr/>
        </p:nvSpPr>
        <p:spPr>
          <a:xfrm>
            <a:off x="548640" y="411480"/>
            <a:ext cx="2168957" cy="274320"/>
          </a:xfrm>
          <a:prstGeom prst="rect">
            <a:avLst/>
          </a:prstGeom>
          <a:noFill/>
          <a:ln/>
        </p:spPr>
        <p:txBody>
          <a:bodyPr wrap="square" lIns="0" tIns="0" rIns="0" bIns="0" rtlCol="0" anchor="ctr"/>
          <a:lstStyle/>
          <a:p>
            <a:pPr algn="ctr" indent="0" marL="0">
              <a:buNone/>
            </a:pPr>
            <a:r>
              <a:rPr lang="en-US" sz="1000" b="1" spc="150" kern="0" dirty="0">
                <a:solidFill>
                  <a:srgbClr val="C9B2AE"/>
                </a:solidFill>
                <a:latin typeface="Arial" pitchFamily="34" charset="0"/>
                <a:ea typeface="Arial" pitchFamily="34" charset="-122"/>
                <a:cs typeface="Arial" pitchFamily="34" charset="-120"/>
              </a:rPr>
              <a:t>03 · MALARIA TODAY</a:t>
            </a:r>
            <a:endParaRPr lang="en-US" sz="1000" dirty="0"/>
          </a:p>
        </p:txBody>
      </p:sp>
      <p:pic>
        <p:nvPicPr>
          <p:cNvPr id="6" name="!!title" descr="Malaria today">    </p:cNvPr>
          <p:cNvPicPr>
            <a:picLocks noChangeAspect="1"/>
          </p:cNvPicPr>
          <p:nvPr/>
        </p:nvPicPr>
        <p:blipFill>
          <a:blip r:embed="rId3"/>
          <a:stretch>
            <a:fillRect/>
          </a:stretch>
        </p:blipFill>
        <p:spPr>
          <a:xfrm>
            <a:off x="521208" y="822960"/>
            <a:ext cx="5069532" cy="530721"/>
          </a:xfrm>
          <a:prstGeom prst="rect">
            <a:avLst/>
          </a:prstGeom>
        </p:spPr>
      </p:pic>
      <p:pic>
        <p:nvPicPr>
          <p:cNvPr id="7" name="!!crest" descr="MDIS Tashkent crest">    </p:cNvPr>
          <p:cNvPicPr>
            <a:picLocks noChangeAspect="1"/>
          </p:cNvPicPr>
          <p:nvPr/>
        </p:nvPicPr>
        <p:blipFill>
          <a:blip r:embed="rId4"/>
          <a:stretch>
            <a:fillRect/>
          </a:stretch>
        </p:blipFill>
        <p:spPr>
          <a:xfrm>
            <a:off x="11249708" y="384048"/>
            <a:ext cx="393347" cy="384048"/>
          </a:xfrm>
          <a:prstGeom prst="rect">
            <a:avLst/>
          </a:prstGeom>
        </p:spPr>
      </p:pic>
      <p:sp>
        <p:nvSpPr>
          <p:cNvPr id="8" name="Text 2"/>
          <p:cNvSpPr txBox="1"/>
          <p:nvPr/>
        </p:nvSpPr>
        <p:spPr>
          <a:xfrm>
            <a:off x="548640" y="6382512"/>
            <a:ext cx="7863840" cy="256032"/>
          </a:xfrm>
          <a:prstGeom prst="rect">
            <a:avLst/>
          </a:prstGeom>
          <a:noFill/>
          <a:ln/>
        </p:spPr>
        <p:txBody>
          <a:bodyPr wrap="square" lIns="0" tIns="0" rIns="0" bIns="0" rtlCol="0" anchor="ctr"/>
          <a:lstStyle/>
          <a:p>
            <a:pPr indent="0" marL="0">
              <a:buNone/>
            </a:pPr>
            <a:r>
              <a:rPr lang="en-US" sz="1000" dirty="0">
                <a:solidFill>
                  <a:srgbClr val="9C8380"/>
                </a:solidFill>
                <a:latin typeface="Arial" pitchFamily="34" charset="0"/>
                <a:ea typeface="Arial" pitchFamily="34" charset="-122"/>
                <a:cs typeface="Arial" pitchFamily="34" charset="-120"/>
              </a:rPr>
              <a:t>Source: World Health Organization (2025b), World malaria report 2025</a:t>
            </a:r>
            <a:endParaRPr lang="en-US" sz="1000" dirty="0"/>
          </a:p>
        </p:txBody>
      </p:sp>
      <p:sp>
        <p:nvSpPr>
          <p:cNvPr id="9" name="Text 3"/>
          <p:cNvSpPr txBox="1"/>
          <p:nvPr/>
        </p:nvSpPr>
        <p:spPr>
          <a:xfrm>
            <a:off x="7802575" y="6382512"/>
            <a:ext cx="3840480" cy="256032"/>
          </a:xfrm>
          <a:prstGeom prst="rect">
            <a:avLst/>
          </a:prstGeom>
          <a:noFill/>
          <a:ln/>
        </p:spPr>
        <p:txBody>
          <a:bodyPr wrap="square" lIns="0" tIns="0" rIns="0" bIns="0" rtlCol="0" anchor="ctr"/>
          <a:lstStyle/>
          <a:p>
            <a:pPr algn="r" indent="0" marL="0">
              <a:buNone/>
            </a:pPr>
            <a:r>
              <a:rPr lang="en-US" sz="1000" b="1" spc="100" kern="0" dirty="0">
                <a:solidFill>
                  <a:srgbClr val="C9B2AE"/>
                </a:solidFill>
                <a:latin typeface="Arial" pitchFamily="34" charset="0"/>
                <a:ea typeface="Arial" pitchFamily="34" charset="-122"/>
                <a:cs typeface="Arial" pitchFamily="34" charset="-120"/>
              </a:rPr>
              <a:t>RAMAZAN BAKIYEV   ·   08 / 16</a:t>
            </a:r>
            <a:endParaRPr lang="en-US" sz="1000" dirty="0"/>
          </a:p>
        </p:txBody>
      </p:sp>
      <p:pic>
        <p:nvPicPr>
          <p:cNvPr id="10" name="fx:1:zoom:big" descr="282 million">    </p:cNvPr>
          <p:cNvPicPr>
            <a:picLocks noChangeAspect="1"/>
          </p:cNvPicPr>
          <p:nvPr/>
        </p:nvPicPr>
        <p:blipFill>
          <a:blip r:embed="rId5"/>
          <a:stretch>
            <a:fillRect/>
          </a:stretch>
        </p:blipFill>
        <p:spPr>
          <a:xfrm>
            <a:off x="521208" y="1737360"/>
            <a:ext cx="5378053" cy="754112"/>
          </a:xfrm>
          <a:prstGeom prst="rect">
            <a:avLst/>
          </a:prstGeom>
        </p:spPr>
      </p:pic>
      <p:sp>
        <p:nvSpPr>
          <p:cNvPr id="11" name="fx:1:up:biglabel"/>
          <p:cNvSpPr txBox="1"/>
          <p:nvPr/>
        </p:nvSpPr>
        <p:spPr>
          <a:xfrm>
            <a:off x="548640" y="2578608"/>
            <a:ext cx="5943600" cy="329184"/>
          </a:xfrm>
          <a:prstGeom prst="rect">
            <a:avLst/>
          </a:prstGeom>
          <a:noFill/>
          <a:ln/>
        </p:spPr>
        <p:txBody>
          <a:bodyPr wrap="square" lIns="0" tIns="0" rIns="0" bIns="0" rtlCol="0" anchor="t"/>
          <a:lstStyle/>
          <a:p>
            <a:pPr indent="0" marL="0">
              <a:buNone/>
            </a:pPr>
            <a:r>
              <a:rPr lang="en-US" sz="1600" dirty="0">
                <a:solidFill>
                  <a:srgbClr val="C9B2AE"/>
                </a:solidFill>
                <a:latin typeface="Arial" pitchFamily="34" charset="0"/>
                <a:ea typeface="Arial" pitchFamily="34" charset="-122"/>
                <a:cs typeface="Arial" pitchFamily="34" charset="-120"/>
              </a:rPr>
              <a:t>malaria cases in 2024, in 80 countries</a:t>
            </a:r>
            <a:endParaRPr lang="en-US" sz="1600" dirty="0"/>
          </a:p>
        </p:txBody>
      </p:sp>
      <p:sp>
        <p:nvSpPr>
          <p:cNvPr id="12" name="fx:2:up:c0"/>
          <p:cNvSpPr/>
          <p:nvPr/>
        </p:nvSpPr>
        <p:spPr>
          <a:xfrm>
            <a:off x="548640" y="3246120"/>
            <a:ext cx="2057400" cy="1965960"/>
          </a:xfrm>
          <a:prstGeom prst="roundRect">
            <a:avLst>
              <a:gd name="adj" fmla="val 4186"/>
            </a:avLst>
          </a:prstGeom>
          <a:solidFill>
            <a:srgbClr val="1C080B">
              <a:alpha val="78000"/>
            </a:srgbClr>
          </a:solidFill>
          <a:ln w="9525">
            <a:solidFill>
              <a:srgbClr val="7A3038"/>
            </a:solidFill>
            <a:prstDash val="solid"/>
          </a:ln>
        </p:spPr>
      </p:sp>
      <p:pic>
        <p:nvPicPr>
          <p:cNvPr id="13" name="fx:2:zoom:n0" descr="610,000">    </p:cNvPr>
          <p:cNvPicPr>
            <a:picLocks noChangeAspect="1"/>
          </p:cNvPicPr>
          <p:nvPr/>
        </p:nvPicPr>
        <p:blipFill>
          <a:blip r:embed="rId6"/>
          <a:stretch>
            <a:fillRect/>
          </a:stretch>
        </p:blipFill>
        <p:spPr>
          <a:xfrm>
            <a:off x="731520" y="3474720"/>
            <a:ext cx="1652141" cy="376982"/>
          </a:xfrm>
          <a:prstGeom prst="rect">
            <a:avLst/>
          </a:prstGeom>
        </p:spPr>
      </p:pic>
      <p:sp>
        <p:nvSpPr>
          <p:cNvPr id="14" name="fx:2:up:l0"/>
          <p:cNvSpPr txBox="1"/>
          <p:nvPr/>
        </p:nvSpPr>
        <p:spPr>
          <a:xfrm>
            <a:off x="731520" y="4114800"/>
            <a:ext cx="1691640" cy="219456"/>
          </a:xfrm>
          <a:prstGeom prst="rect">
            <a:avLst/>
          </a:prstGeom>
          <a:noFill/>
          <a:ln/>
        </p:spPr>
        <p:txBody>
          <a:bodyPr wrap="square" lIns="0" tIns="0" rIns="0" bIns="0" rtlCol="0" anchor="t"/>
          <a:lstStyle/>
          <a:p>
            <a:pPr indent="0" marL="0">
              <a:buNone/>
            </a:pPr>
            <a:r>
              <a:rPr lang="en-US" sz="1000" b="1" spc="200" kern="0" dirty="0">
                <a:solidFill>
                  <a:srgbClr val="E5333D"/>
                </a:solidFill>
                <a:latin typeface="Arial" pitchFamily="34" charset="0"/>
                <a:ea typeface="Arial" pitchFamily="34" charset="-122"/>
                <a:cs typeface="Arial" pitchFamily="34" charset="-120"/>
              </a:rPr>
              <a:t>DEATHS IN 2024</a:t>
            </a:r>
            <a:endParaRPr lang="en-US" sz="1000" dirty="0"/>
          </a:p>
        </p:txBody>
      </p:sp>
      <p:sp>
        <p:nvSpPr>
          <p:cNvPr id="15" name="fx:2:up:b0"/>
          <p:cNvSpPr txBox="1"/>
          <p:nvPr/>
        </p:nvSpPr>
        <p:spPr>
          <a:xfrm>
            <a:off x="731520" y="4389120"/>
            <a:ext cx="1691640" cy="640080"/>
          </a:xfrm>
          <a:prstGeom prst="rect">
            <a:avLst/>
          </a:prstGeom>
          <a:noFill/>
          <a:ln/>
        </p:spPr>
        <p:txBody>
          <a:bodyPr wrap="square" lIns="0" tIns="0" rIns="0" bIns="0" rtlCol="0" anchor="t"/>
          <a:lstStyle/>
          <a:p>
            <a:pPr indent="0" marL="0">
              <a:buNone/>
            </a:pPr>
            <a:r>
              <a:rPr lang="en-US" sz="1300" dirty="0">
                <a:solidFill>
                  <a:srgbClr val="F4ECE8"/>
                </a:solidFill>
                <a:latin typeface="Arial" pitchFamily="34" charset="0"/>
                <a:ea typeface="Arial" pitchFamily="34" charset="-122"/>
                <a:cs typeface="Arial" pitchFamily="34" charset="-120"/>
              </a:rPr>
              <a:t>almost 1,700 people every day</a:t>
            </a:r>
            <a:endParaRPr lang="en-US" sz="1300" dirty="0"/>
          </a:p>
        </p:txBody>
      </p:sp>
      <p:sp>
        <p:nvSpPr>
          <p:cNvPr id="16" name="fx:3:up:c1"/>
          <p:cNvSpPr/>
          <p:nvPr/>
        </p:nvSpPr>
        <p:spPr>
          <a:xfrm>
            <a:off x="2770632" y="3246120"/>
            <a:ext cx="2514600" cy="1965960"/>
          </a:xfrm>
          <a:prstGeom prst="roundRect">
            <a:avLst>
              <a:gd name="adj" fmla="val 4186"/>
            </a:avLst>
          </a:prstGeom>
          <a:solidFill>
            <a:srgbClr val="1C080B">
              <a:alpha val="78000"/>
            </a:srgbClr>
          </a:solidFill>
          <a:ln w="9525">
            <a:solidFill>
              <a:srgbClr val="7A3038"/>
            </a:solidFill>
            <a:prstDash val="solid"/>
          </a:ln>
        </p:spPr>
      </p:sp>
      <p:pic>
        <p:nvPicPr>
          <p:cNvPr id="17" name="fx:3:zoom:n1" descr="94% · 95%">    </p:cNvPr>
          <p:cNvPicPr>
            <a:picLocks noChangeAspect="1"/>
          </p:cNvPicPr>
          <p:nvPr/>
        </p:nvPicPr>
        <p:blipFill>
          <a:blip r:embed="rId7"/>
          <a:stretch>
            <a:fillRect/>
          </a:stretch>
        </p:blipFill>
        <p:spPr>
          <a:xfrm>
            <a:off x="2953512" y="3474720"/>
            <a:ext cx="2159198" cy="376982"/>
          </a:xfrm>
          <a:prstGeom prst="rect">
            <a:avLst/>
          </a:prstGeom>
        </p:spPr>
      </p:pic>
      <p:sp>
        <p:nvSpPr>
          <p:cNvPr id="18" name="fx:3:up:l1"/>
          <p:cNvSpPr txBox="1"/>
          <p:nvPr/>
        </p:nvSpPr>
        <p:spPr>
          <a:xfrm>
            <a:off x="2953512" y="4114800"/>
            <a:ext cx="2148840" cy="219456"/>
          </a:xfrm>
          <a:prstGeom prst="rect">
            <a:avLst/>
          </a:prstGeom>
          <a:noFill/>
          <a:ln/>
        </p:spPr>
        <p:txBody>
          <a:bodyPr wrap="square" lIns="0" tIns="0" rIns="0" bIns="0" rtlCol="0" anchor="t"/>
          <a:lstStyle/>
          <a:p>
            <a:pPr indent="0" marL="0">
              <a:buNone/>
            </a:pPr>
            <a:r>
              <a:rPr lang="en-US" sz="1000" b="1" spc="200" kern="0" dirty="0">
                <a:solidFill>
                  <a:srgbClr val="E5333D"/>
                </a:solidFill>
                <a:latin typeface="Arial" pitchFamily="34" charset="0"/>
                <a:ea typeface="Arial" pitchFamily="34" charset="-122"/>
                <a:cs typeface="Arial" pitchFamily="34" charset="-120"/>
              </a:rPr>
              <a:t>AFRICA</a:t>
            </a:r>
            <a:endParaRPr lang="en-US" sz="1000" dirty="0"/>
          </a:p>
        </p:txBody>
      </p:sp>
      <p:sp>
        <p:nvSpPr>
          <p:cNvPr id="19" name="fx:3:up:b1"/>
          <p:cNvSpPr txBox="1"/>
          <p:nvPr/>
        </p:nvSpPr>
        <p:spPr>
          <a:xfrm>
            <a:off x="2953512" y="4389120"/>
            <a:ext cx="2148840" cy="640080"/>
          </a:xfrm>
          <a:prstGeom prst="rect">
            <a:avLst/>
          </a:prstGeom>
          <a:noFill/>
          <a:ln/>
        </p:spPr>
        <p:txBody>
          <a:bodyPr wrap="square" lIns="0" tIns="0" rIns="0" bIns="0" rtlCol="0" anchor="t"/>
          <a:lstStyle/>
          <a:p>
            <a:pPr indent="0" marL="0">
              <a:buNone/>
            </a:pPr>
            <a:r>
              <a:rPr lang="en-US" sz="1300" dirty="0">
                <a:solidFill>
                  <a:srgbClr val="F4ECE8"/>
                </a:solidFill>
                <a:latin typeface="Arial" pitchFamily="34" charset="0"/>
                <a:ea typeface="Arial" pitchFamily="34" charset="-122"/>
                <a:cs typeface="Arial" pitchFamily="34" charset="-120"/>
              </a:rPr>
              <a:t>of all cases · of all deaths</a:t>
            </a:r>
            <a:endParaRPr lang="en-US" sz="1300" dirty="0"/>
          </a:p>
        </p:txBody>
      </p:sp>
      <p:sp>
        <p:nvSpPr>
          <p:cNvPr id="20" name="fx:4:up:c2"/>
          <p:cNvSpPr/>
          <p:nvPr/>
        </p:nvSpPr>
        <p:spPr>
          <a:xfrm>
            <a:off x="5449824" y="3246120"/>
            <a:ext cx="2057400" cy="1965960"/>
          </a:xfrm>
          <a:prstGeom prst="roundRect">
            <a:avLst>
              <a:gd name="adj" fmla="val 4186"/>
            </a:avLst>
          </a:prstGeom>
          <a:solidFill>
            <a:srgbClr val="1C080B">
              <a:alpha val="78000"/>
            </a:srgbClr>
          </a:solidFill>
          <a:ln w="9525">
            <a:solidFill>
              <a:srgbClr val="7A3038"/>
            </a:solidFill>
            <a:prstDash val="solid"/>
          </a:ln>
        </p:spPr>
      </p:sp>
      <p:pic>
        <p:nvPicPr>
          <p:cNvPr id="21" name="fx:4:zoom:n2" descr="3 of 4">    </p:cNvPr>
          <p:cNvPicPr>
            <a:picLocks noChangeAspect="1"/>
          </p:cNvPicPr>
          <p:nvPr/>
        </p:nvPicPr>
        <p:blipFill>
          <a:blip r:embed="rId8"/>
          <a:stretch>
            <a:fillRect/>
          </a:stretch>
        </p:blipFill>
        <p:spPr>
          <a:xfrm>
            <a:off x="5632704" y="3474720"/>
            <a:ext cx="1359247" cy="376982"/>
          </a:xfrm>
          <a:prstGeom prst="rect">
            <a:avLst/>
          </a:prstGeom>
        </p:spPr>
      </p:pic>
      <p:sp>
        <p:nvSpPr>
          <p:cNvPr id="22" name="fx:4:up:l2"/>
          <p:cNvSpPr txBox="1"/>
          <p:nvPr/>
        </p:nvSpPr>
        <p:spPr>
          <a:xfrm>
            <a:off x="5632704" y="4114800"/>
            <a:ext cx="1691640" cy="219456"/>
          </a:xfrm>
          <a:prstGeom prst="rect">
            <a:avLst/>
          </a:prstGeom>
          <a:noFill/>
          <a:ln/>
        </p:spPr>
        <p:txBody>
          <a:bodyPr wrap="square" lIns="0" tIns="0" rIns="0" bIns="0" rtlCol="0" anchor="t"/>
          <a:lstStyle/>
          <a:p>
            <a:pPr indent="0" marL="0">
              <a:buNone/>
            </a:pPr>
            <a:r>
              <a:rPr lang="en-US" sz="1000" b="1" spc="200" kern="0" dirty="0">
                <a:solidFill>
                  <a:srgbClr val="E5333D"/>
                </a:solidFill>
                <a:latin typeface="Arial" pitchFamily="34" charset="0"/>
                <a:ea typeface="Arial" pitchFamily="34" charset="-122"/>
                <a:cs typeface="Arial" pitchFamily="34" charset="-120"/>
              </a:rPr>
              <a:t>CHILDREN UNDER 5</a:t>
            </a:r>
            <a:endParaRPr lang="en-US" sz="1000" dirty="0"/>
          </a:p>
        </p:txBody>
      </p:sp>
      <p:sp>
        <p:nvSpPr>
          <p:cNvPr id="23" name="fx:4:up:b2"/>
          <p:cNvSpPr txBox="1"/>
          <p:nvPr/>
        </p:nvSpPr>
        <p:spPr>
          <a:xfrm>
            <a:off x="5632704" y="4389120"/>
            <a:ext cx="1691640" cy="640080"/>
          </a:xfrm>
          <a:prstGeom prst="rect">
            <a:avLst/>
          </a:prstGeom>
          <a:noFill/>
          <a:ln/>
        </p:spPr>
        <p:txBody>
          <a:bodyPr wrap="square" lIns="0" tIns="0" rIns="0" bIns="0" rtlCol="0" anchor="t"/>
          <a:lstStyle/>
          <a:p>
            <a:pPr indent="0" marL="0">
              <a:buNone/>
            </a:pPr>
            <a:r>
              <a:rPr lang="en-US" sz="1300" dirty="0">
                <a:solidFill>
                  <a:srgbClr val="F4ECE8"/>
                </a:solidFill>
                <a:latin typeface="Arial" pitchFamily="34" charset="0"/>
                <a:ea typeface="Arial" pitchFamily="34" charset="-122"/>
                <a:cs typeface="Arial" pitchFamily="34" charset="-120"/>
              </a:rPr>
              <a:t>of all malaria deaths in Africa</a:t>
            </a:r>
            <a:endParaRPr lang="en-US" sz="1300" dirty="0"/>
          </a:p>
        </p:txBody>
      </p:sp>
      <p:sp>
        <p:nvSpPr>
          <p:cNvPr id="24" name="fx:5:fade:five"/>
          <p:cNvSpPr txBox="1"/>
          <p:nvPr/>
        </p:nvSpPr>
        <p:spPr>
          <a:xfrm>
            <a:off x="548640" y="5440680"/>
            <a:ext cx="6766560" cy="548640"/>
          </a:xfrm>
          <a:prstGeom prst="rect">
            <a:avLst/>
          </a:prstGeom>
          <a:noFill/>
          <a:ln/>
        </p:spPr>
        <p:txBody>
          <a:bodyPr wrap="square" lIns="0" tIns="0" rIns="0" bIns="0" rtlCol="0" anchor="t"/>
          <a:lstStyle/>
          <a:p>
            <a:pPr indent="0" marL="0">
              <a:buNone/>
            </a:pPr>
            <a:r>
              <a:rPr lang="en-US" sz="1300" dirty="0">
                <a:solidFill>
                  <a:srgbClr val="C9B2AE"/>
                </a:solidFill>
                <a:latin typeface="Arial" pitchFamily="34" charset="0"/>
                <a:ea typeface="Arial" pitchFamily="34" charset="-122"/>
                <a:cs typeface="Arial" pitchFamily="34" charset="-120"/>
              </a:rPr>
              <a:t>5 countries have more than half of all cases: </a:t>
            </a:r>
            <a:pPr indent="0" marL="0">
              <a:buNone/>
            </a:pPr>
            <a:r>
              <a:rPr lang="en-US" sz="1300" b="1" dirty="0">
                <a:solidFill>
                  <a:srgbClr val="F4ECE8"/>
                </a:solidFill>
                <a:latin typeface="Arial" pitchFamily="34" charset="0"/>
                <a:ea typeface="Arial" pitchFamily="34" charset="-122"/>
                <a:cs typeface="Arial" pitchFamily="34" charset="-120"/>
              </a:rPr>
              <a:t>Nigeria · DR Congo · Uganda · Ethiopia · Mozambique</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53" presetClass="entr" presetSubtype="16" fill="hold" grpId="0" nodeType="afterEffect">
                                  <p:stCondLst>
                                    <p:cond delay="150"/>
                                  </p:stCondLst>
                                  <p:childTnLst>
                                    <p:set>
                                      <p:cBhvr>
                                        <p:cTn id="5" dur="1" fill="hold">
                                          <p:stCondLst>
                                            <p:cond delay="0"/>
                                          </p:stCondLst>
                                        </p:cTn>
                                        <p:tgtEl>
                                          <p:spTgt spid="10"/>
                                        </p:tgtEl>
                                        <p:attrNameLst>
                                          <p:attrName>style.visibility</p:attrName>
                                        </p:attrNameLst>
                                      </p:cBhvr>
                                      <p:to>
                                        <p:strVal val="visible"/>
                                      </p:to>
                                    </p:set>
                                    <p:anim calcmode="lin" valueType="num">
                                      <p:cBhvr>
                                        <p:cTn id="8" dur="600" decel="100000" fill="hold"/>
                                        <p:tgtEl>
                                          <p:spTgt spid="10"/>
                                        </p:tgtEl>
                                        <p:attrNameLst>
                                          <p:attrName>ppt_w</p:attrName>
                                        </p:attrNameLst>
                                      </p:cBhvr>
                                      <p:tavLst>
                                        <p:tav tm="0">
                                          <p:val>
                                            <p:strVal val="#ppt_w*0.7"/>
                                          </p:val>
                                        </p:tav>
                                        <p:tav tm="100000">
                                          <p:val>
                                            <p:strVal val="#ppt_w"/>
                                          </p:val>
                                        </p:tav>
                                      </p:tavLst>
                                    </p:anim>
                                    <p:anim calcmode="lin" valueType="num">
                                      <p:cBhvr>
                                        <p:cTn id="9" dur="600" decel="100000" fill="hold"/>
                                        <p:tgtEl>
                                          <p:spTgt spid="10"/>
                                        </p:tgtEl>
                                        <p:attrNameLst>
                                          <p:attrName>ppt_h</p:attrName>
                                        </p:attrNameLst>
                                      </p:cBhvr>
                                      <p:tavLst>
                                        <p:tav tm="0">
                                          <p:val>
                                            <p:strVal val="#ppt_h*0.7"/>
                                          </p:val>
                                        </p:tav>
                                        <p:tav tm="100000">
                                          <p:val>
                                            <p:strVal val="#ppt_h"/>
                                          </p:val>
                                        </p:tav>
                                      </p:tavLst>
                                    </p:anim>
                                    <p:animEffect transition="in" filter="fade">
                                      <p:cBhvr>
                                        <p:cTn id="6" dur="600"/>
                                        <p:tgtEl>
                                          <p:spTgt spid="10"/>
                                        </p:tgtEl>
                                      </p:cBhvr>
                                    </p:animEffect>
                                  </p:childTnLst>
                                </p:cTn>
                              </p:par>
                              <p:par>
                                <p:cTn id="12" presetID="42" presetClass="entr" presetSubtype="0" fill="hold" grpId="0" nodeType="withEffect">
                                  <p:stCondLst>
                                    <p:cond delay="15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50"/>
                                        <p:tgtEl>
                                          <p:spTgt spid="11"/>
                                        </p:tgtEl>
                                      </p:cBhvr>
                                    </p:animEffect>
                                    <p:anim calcmode="lin" valueType="num">
                                      <p:cBhvr>
                                        <p:cTn id="13" dur="550" decel="100000" fill="hold"/>
                                        <p:tgtEl>
                                          <p:spTgt spid="11"/>
                                        </p:tgtEl>
                                        <p:attrNameLst>
                                          <p:attrName>ppt_x</p:attrName>
                                        </p:attrNameLst>
                                      </p:cBhvr>
                                      <p:tavLst>
                                        <p:tav tm="0">
                                          <p:val>
                                            <p:strVal val="#ppt_x"/>
                                          </p:val>
                                        </p:tav>
                                        <p:tav tm="100000">
                                          <p:val>
                                            <p:strVal val="#ppt_x"/>
                                          </p:val>
                                        </p:tav>
                                      </p:tavLst>
                                    </p:anim>
                                    <p:anim calcmode="lin" valueType="num">
                                      <p:cBhvr>
                                        <p:cTn id="14" dur="550" decel="100000" fill="hold"/>
                                        <p:tgtEl>
                                          <p:spTgt spid="11"/>
                                        </p:tgtEl>
                                        <p:attrNameLst>
                                          <p:attrName>ppt_y</p:attrName>
                                        </p:attrNameLst>
                                      </p:cBhvr>
                                      <p:tavLst>
                                        <p:tav tm="0">
                                          <p:val>
                                            <p:strVal val="#ppt_y+0.04"/>
                                          </p:val>
                                        </p:tav>
                                        <p:tav tm="100000">
                                          <p:val>
                                            <p:strVal val="#ppt_y"/>
                                          </p:val>
                                        </p:tav>
                                      </p:tavLst>
                                    </p:anim>
                                  </p:childTnLst>
                                </p:cTn>
                              </p:par>
                              <p:par>
                                <p:cTn id="17" presetID="42" presetClass="entr" presetSubtype="0" fill="hold" grpId="0" nodeType="withEffect">
                                  <p:stCondLst>
                                    <p:cond delay="28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50"/>
                                        <p:tgtEl>
                                          <p:spTgt spid="12"/>
                                        </p:tgtEl>
                                      </p:cBhvr>
                                    </p:animEffect>
                                    <p:anim calcmode="lin" valueType="num">
                                      <p:cBhvr>
                                        <p:cTn id="18" dur="550" decel="100000" fill="hold"/>
                                        <p:tgtEl>
                                          <p:spTgt spid="12"/>
                                        </p:tgtEl>
                                        <p:attrNameLst>
                                          <p:attrName>ppt_x</p:attrName>
                                        </p:attrNameLst>
                                      </p:cBhvr>
                                      <p:tavLst>
                                        <p:tav tm="0">
                                          <p:val>
                                            <p:strVal val="#ppt_x"/>
                                          </p:val>
                                        </p:tav>
                                        <p:tav tm="100000">
                                          <p:val>
                                            <p:strVal val="#ppt_x"/>
                                          </p:val>
                                        </p:tav>
                                      </p:tavLst>
                                    </p:anim>
                                    <p:anim calcmode="lin" valueType="num">
                                      <p:cBhvr>
                                        <p:cTn id="19" dur="550" decel="100000" fill="hold"/>
                                        <p:tgtEl>
                                          <p:spTgt spid="12"/>
                                        </p:tgtEl>
                                        <p:attrNameLst>
                                          <p:attrName>ppt_y</p:attrName>
                                        </p:attrNameLst>
                                      </p:cBhvr>
                                      <p:tavLst>
                                        <p:tav tm="0">
                                          <p:val>
                                            <p:strVal val="#ppt_y+0.04"/>
                                          </p:val>
                                        </p:tav>
                                        <p:tav tm="100000">
                                          <p:val>
                                            <p:strVal val="#ppt_y"/>
                                          </p:val>
                                        </p:tav>
                                      </p:tavLst>
                                    </p:anim>
                                  </p:childTnLst>
                                </p:cTn>
                              </p:par>
                              <p:par>
                                <p:cTn id="22" presetID="53" presetClass="entr" presetSubtype="16" fill="hold" grpId="0" nodeType="withEffect">
                                  <p:stCondLst>
                                    <p:cond delay="280"/>
                                  </p:stCondLst>
                                  <p:childTnLst>
                                    <p:set>
                                      <p:cBhvr>
                                        <p:cTn id="20" dur="1" fill="hold">
                                          <p:stCondLst>
                                            <p:cond delay="0"/>
                                          </p:stCondLst>
                                        </p:cTn>
                                        <p:tgtEl>
                                          <p:spTgt spid="13"/>
                                        </p:tgtEl>
                                        <p:attrNameLst>
                                          <p:attrName>style.visibility</p:attrName>
                                        </p:attrNameLst>
                                      </p:cBhvr>
                                      <p:to>
                                        <p:strVal val="visible"/>
                                      </p:to>
                                    </p:set>
                                    <p:anim calcmode="lin" valueType="num">
                                      <p:cBhvr>
                                        <p:cTn id="23" dur="600" decel="100000" fill="hold"/>
                                        <p:tgtEl>
                                          <p:spTgt spid="13"/>
                                        </p:tgtEl>
                                        <p:attrNameLst>
                                          <p:attrName>ppt_w</p:attrName>
                                        </p:attrNameLst>
                                      </p:cBhvr>
                                      <p:tavLst>
                                        <p:tav tm="0">
                                          <p:val>
                                            <p:strVal val="#ppt_w*0.7"/>
                                          </p:val>
                                        </p:tav>
                                        <p:tav tm="100000">
                                          <p:val>
                                            <p:strVal val="#ppt_w"/>
                                          </p:val>
                                        </p:tav>
                                      </p:tavLst>
                                    </p:anim>
                                    <p:anim calcmode="lin" valueType="num">
                                      <p:cBhvr>
                                        <p:cTn id="24" dur="600" decel="100000" fill="hold"/>
                                        <p:tgtEl>
                                          <p:spTgt spid="13"/>
                                        </p:tgtEl>
                                        <p:attrNameLst>
                                          <p:attrName>ppt_h</p:attrName>
                                        </p:attrNameLst>
                                      </p:cBhvr>
                                      <p:tavLst>
                                        <p:tav tm="0">
                                          <p:val>
                                            <p:strVal val="#ppt_h*0.7"/>
                                          </p:val>
                                        </p:tav>
                                        <p:tav tm="100000">
                                          <p:val>
                                            <p:strVal val="#ppt_h"/>
                                          </p:val>
                                        </p:tav>
                                      </p:tavLst>
                                    </p:anim>
                                    <p:animEffect transition="in" filter="fade">
                                      <p:cBhvr>
                                        <p:cTn id="21" dur="600"/>
                                        <p:tgtEl>
                                          <p:spTgt spid="13"/>
                                        </p:tgtEl>
                                      </p:cBhvr>
                                    </p:animEffect>
                                  </p:childTnLst>
                                </p:cTn>
                              </p:par>
                              <p:par>
                                <p:cTn id="27" presetID="42" presetClass="entr" presetSubtype="0" fill="hold" grpId="0" nodeType="withEffect">
                                  <p:stCondLst>
                                    <p:cond delay="28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50"/>
                                        <p:tgtEl>
                                          <p:spTgt spid="14"/>
                                        </p:tgtEl>
                                      </p:cBhvr>
                                    </p:animEffect>
                                    <p:anim calcmode="lin" valueType="num">
                                      <p:cBhvr>
                                        <p:cTn id="28" dur="550" decel="100000" fill="hold"/>
                                        <p:tgtEl>
                                          <p:spTgt spid="14"/>
                                        </p:tgtEl>
                                        <p:attrNameLst>
                                          <p:attrName>ppt_x</p:attrName>
                                        </p:attrNameLst>
                                      </p:cBhvr>
                                      <p:tavLst>
                                        <p:tav tm="0">
                                          <p:val>
                                            <p:strVal val="#ppt_x"/>
                                          </p:val>
                                        </p:tav>
                                        <p:tav tm="100000">
                                          <p:val>
                                            <p:strVal val="#ppt_x"/>
                                          </p:val>
                                        </p:tav>
                                      </p:tavLst>
                                    </p:anim>
                                    <p:anim calcmode="lin" valueType="num">
                                      <p:cBhvr>
                                        <p:cTn id="29" dur="550" decel="100000" fill="hold"/>
                                        <p:tgtEl>
                                          <p:spTgt spid="14"/>
                                        </p:tgtEl>
                                        <p:attrNameLst>
                                          <p:attrName>ppt_y</p:attrName>
                                        </p:attrNameLst>
                                      </p:cBhvr>
                                      <p:tavLst>
                                        <p:tav tm="0">
                                          <p:val>
                                            <p:strVal val="#ppt_y+0.04"/>
                                          </p:val>
                                        </p:tav>
                                        <p:tav tm="100000">
                                          <p:val>
                                            <p:strVal val="#ppt_y"/>
                                          </p:val>
                                        </p:tav>
                                      </p:tavLst>
                                    </p:anim>
                                  </p:childTnLst>
                                </p:cTn>
                              </p:par>
                              <p:par>
                                <p:cTn id="32" presetID="42" presetClass="entr" presetSubtype="0" fill="hold" grpId="0" nodeType="withEffect">
                                  <p:stCondLst>
                                    <p:cond delay="28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50"/>
                                        <p:tgtEl>
                                          <p:spTgt spid="15"/>
                                        </p:tgtEl>
                                      </p:cBhvr>
                                    </p:animEffect>
                                    <p:anim calcmode="lin" valueType="num">
                                      <p:cBhvr>
                                        <p:cTn id="33" dur="550" decel="100000" fill="hold"/>
                                        <p:tgtEl>
                                          <p:spTgt spid="15"/>
                                        </p:tgtEl>
                                        <p:attrNameLst>
                                          <p:attrName>ppt_x</p:attrName>
                                        </p:attrNameLst>
                                      </p:cBhvr>
                                      <p:tavLst>
                                        <p:tav tm="0">
                                          <p:val>
                                            <p:strVal val="#ppt_x"/>
                                          </p:val>
                                        </p:tav>
                                        <p:tav tm="100000">
                                          <p:val>
                                            <p:strVal val="#ppt_x"/>
                                          </p:val>
                                        </p:tav>
                                      </p:tavLst>
                                    </p:anim>
                                    <p:anim calcmode="lin" valueType="num">
                                      <p:cBhvr>
                                        <p:cTn id="34" dur="550" decel="100000" fill="hold"/>
                                        <p:tgtEl>
                                          <p:spTgt spid="15"/>
                                        </p:tgtEl>
                                        <p:attrNameLst>
                                          <p:attrName>ppt_y</p:attrName>
                                        </p:attrNameLst>
                                      </p:cBhvr>
                                      <p:tavLst>
                                        <p:tav tm="0">
                                          <p:val>
                                            <p:strVal val="#ppt_y+0.04"/>
                                          </p:val>
                                        </p:tav>
                                        <p:tav tm="100000">
                                          <p:val>
                                            <p:strVal val="#ppt_y"/>
                                          </p:val>
                                        </p:tav>
                                      </p:tavLst>
                                    </p:anim>
                                  </p:childTnLst>
                                </p:cTn>
                              </p:par>
                              <p:par>
                                <p:cTn id="37" presetID="42" presetClass="entr" presetSubtype="0" fill="hold" grpId="0" nodeType="withEffect">
                                  <p:stCondLst>
                                    <p:cond delay="41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50"/>
                                        <p:tgtEl>
                                          <p:spTgt spid="16"/>
                                        </p:tgtEl>
                                      </p:cBhvr>
                                    </p:animEffect>
                                    <p:anim calcmode="lin" valueType="num">
                                      <p:cBhvr>
                                        <p:cTn id="38" dur="550" decel="100000" fill="hold"/>
                                        <p:tgtEl>
                                          <p:spTgt spid="16"/>
                                        </p:tgtEl>
                                        <p:attrNameLst>
                                          <p:attrName>ppt_x</p:attrName>
                                        </p:attrNameLst>
                                      </p:cBhvr>
                                      <p:tavLst>
                                        <p:tav tm="0">
                                          <p:val>
                                            <p:strVal val="#ppt_x"/>
                                          </p:val>
                                        </p:tav>
                                        <p:tav tm="100000">
                                          <p:val>
                                            <p:strVal val="#ppt_x"/>
                                          </p:val>
                                        </p:tav>
                                      </p:tavLst>
                                    </p:anim>
                                    <p:anim calcmode="lin" valueType="num">
                                      <p:cBhvr>
                                        <p:cTn id="39" dur="550" decel="100000" fill="hold"/>
                                        <p:tgtEl>
                                          <p:spTgt spid="16"/>
                                        </p:tgtEl>
                                        <p:attrNameLst>
                                          <p:attrName>ppt_y</p:attrName>
                                        </p:attrNameLst>
                                      </p:cBhvr>
                                      <p:tavLst>
                                        <p:tav tm="0">
                                          <p:val>
                                            <p:strVal val="#ppt_y+0.04"/>
                                          </p:val>
                                        </p:tav>
                                        <p:tav tm="100000">
                                          <p:val>
                                            <p:strVal val="#ppt_y"/>
                                          </p:val>
                                        </p:tav>
                                      </p:tavLst>
                                    </p:anim>
                                  </p:childTnLst>
                                </p:cTn>
                              </p:par>
                              <p:par>
                                <p:cTn id="42" presetID="53" presetClass="entr" presetSubtype="16" fill="hold" grpId="0" nodeType="withEffect">
                                  <p:stCondLst>
                                    <p:cond delay="410"/>
                                  </p:stCondLst>
                                  <p:childTnLst>
                                    <p:set>
                                      <p:cBhvr>
                                        <p:cTn id="40" dur="1" fill="hold">
                                          <p:stCondLst>
                                            <p:cond delay="0"/>
                                          </p:stCondLst>
                                        </p:cTn>
                                        <p:tgtEl>
                                          <p:spTgt spid="17"/>
                                        </p:tgtEl>
                                        <p:attrNameLst>
                                          <p:attrName>style.visibility</p:attrName>
                                        </p:attrNameLst>
                                      </p:cBhvr>
                                      <p:to>
                                        <p:strVal val="visible"/>
                                      </p:to>
                                    </p:set>
                                    <p:anim calcmode="lin" valueType="num">
                                      <p:cBhvr>
                                        <p:cTn id="43" dur="600" decel="100000" fill="hold"/>
                                        <p:tgtEl>
                                          <p:spTgt spid="17"/>
                                        </p:tgtEl>
                                        <p:attrNameLst>
                                          <p:attrName>ppt_w</p:attrName>
                                        </p:attrNameLst>
                                      </p:cBhvr>
                                      <p:tavLst>
                                        <p:tav tm="0">
                                          <p:val>
                                            <p:strVal val="#ppt_w*0.7"/>
                                          </p:val>
                                        </p:tav>
                                        <p:tav tm="100000">
                                          <p:val>
                                            <p:strVal val="#ppt_w"/>
                                          </p:val>
                                        </p:tav>
                                      </p:tavLst>
                                    </p:anim>
                                    <p:anim calcmode="lin" valueType="num">
                                      <p:cBhvr>
                                        <p:cTn id="44" dur="600" decel="100000" fill="hold"/>
                                        <p:tgtEl>
                                          <p:spTgt spid="17"/>
                                        </p:tgtEl>
                                        <p:attrNameLst>
                                          <p:attrName>ppt_h</p:attrName>
                                        </p:attrNameLst>
                                      </p:cBhvr>
                                      <p:tavLst>
                                        <p:tav tm="0">
                                          <p:val>
                                            <p:strVal val="#ppt_h*0.7"/>
                                          </p:val>
                                        </p:tav>
                                        <p:tav tm="100000">
                                          <p:val>
                                            <p:strVal val="#ppt_h"/>
                                          </p:val>
                                        </p:tav>
                                      </p:tavLst>
                                    </p:anim>
                                    <p:animEffect transition="in" filter="fade">
                                      <p:cBhvr>
                                        <p:cTn id="41" dur="600"/>
                                        <p:tgtEl>
                                          <p:spTgt spid="17"/>
                                        </p:tgtEl>
                                      </p:cBhvr>
                                    </p:animEffect>
                                  </p:childTnLst>
                                </p:cTn>
                              </p:par>
                              <p:par>
                                <p:cTn id="47" presetID="42" presetClass="entr" presetSubtype="0" fill="hold" grpId="0" nodeType="withEffect">
                                  <p:stCondLst>
                                    <p:cond delay="41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50"/>
                                        <p:tgtEl>
                                          <p:spTgt spid="18"/>
                                        </p:tgtEl>
                                      </p:cBhvr>
                                    </p:animEffect>
                                    <p:anim calcmode="lin" valueType="num">
                                      <p:cBhvr>
                                        <p:cTn id="48" dur="550" decel="100000" fill="hold"/>
                                        <p:tgtEl>
                                          <p:spTgt spid="18"/>
                                        </p:tgtEl>
                                        <p:attrNameLst>
                                          <p:attrName>ppt_x</p:attrName>
                                        </p:attrNameLst>
                                      </p:cBhvr>
                                      <p:tavLst>
                                        <p:tav tm="0">
                                          <p:val>
                                            <p:strVal val="#ppt_x"/>
                                          </p:val>
                                        </p:tav>
                                        <p:tav tm="100000">
                                          <p:val>
                                            <p:strVal val="#ppt_x"/>
                                          </p:val>
                                        </p:tav>
                                      </p:tavLst>
                                    </p:anim>
                                    <p:anim calcmode="lin" valueType="num">
                                      <p:cBhvr>
                                        <p:cTn id="49" dur="550" decel="100000" fill="hold"/>
                                        <p:tgtEl>
                                          <p:spTgt spid="18"/>
                                        </p:tgtEl>
                                        <p:attrNameLst>
                                          <p:attrName>ppt_y</p:attrName>
                                        </p:attrNameLst>
                                      </p:cBhvr>
                                      <p:tavLst>
                                        <p:tav tm="0">
                                          <p:val>
                                            <p:strVal val="#ppt_y+0.04"/>
                                          </p:val>
                                        </p:tav>
                                        <p:tav tm="100000">
                                          <p:val>
                                            <p:strVal val="#ppt_y"/>
                                          </p:val>
                                        </p:tav>
                                      </p:tavLst>
                                    </p:anim>
                                  </p:childTnLst>
                                </p:cTn>
                              </p:par>
                              <p:par>
                                <p:cTn id="52" presetID="42" presetClass="entr" presetSubtype="0" fill="hold" grpId="0" nodeType="withEffect">
                                  <p:stCondLst>
                                    <p:cond delay="41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50"/>
                                        <p:tgtEl>
                                          <p:spTgt spid="19"/>
                                        </p:tgtEl>
                                      </p:cBhvr>
                                    </p:animEffect>
                                    <p:anim calcmode="lin" valueType="num">
                                      <p:cBhvr>
                                        <p:cTn id="53" dur="550" decel="100000" fill="hold"/>
                                        <p:tgtEl>
                                          <p:spTgt spid="19"/>
                                        </p:tgtEl>
                                        <p:attrNameLst>
                                          <p:attrName>ppt_x</p:attrName>
                                        </p:attrNameLst>
                                      </p:cBhvr>
                                      <p:tavLst>
                                        <p:tav tm="0">
                                          <p:val>
                                            <p:strVal val="#ppt_x"/>
                                          </p:val>
                                        </p:tav>
                                        <p:tav tm="100000">
                                          <p:val>
                                            <p:strVal val="#ppt_x"/>
                                          </p:val>
                                        </p:tav>
                                      </p:tavLst>
                                    </p:anim>
                                    <p:anim calcmode="lin" valueType="num">
                                      <p:cBhvr>
                                        <p:cTn id="54" dur="550" decel="100000" fill="hold"/>
                                        <p:tgtEl>
                                          <p:spTgt spid="19"/>
                                        </p:tgtEl>
                                        <p:attrNameLst>
                                          <p:attrName>ppt_y</p:attrName>
                                        </p:attrNameLst>
                                      </p:cBhvr>
                                      <p:tavLst>
                                        <p:tav tm="0">
                                          <p:val>
                                            <p:strVal val="#ppt_y+0.04"/>
                                          </p:val>
                                        </p:tav>
                                        <p:tav tm="100000">
                                          <p:val>
                                            <p:strVal val="#ppt_y"/>
                                          </p:val>
                                        </p:tav>
                                      </p:tavLst>
                                    </p:anim>
                                  </p:childTnLst>
                                </p:cTn>
                              </p:par>
                              <p:par>
                                <p:cTn id="57" presetID="42" presetClass="entr" presetSubtype="0" fill="hold" grpId="0" nodeType="withEffect">
                                  <p:stCondLst>
                                    <p:cond delay="54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50"/>
                                        <p:tgtEl>
                                          <p:spTgt spid="20"/>
                                        </p:tgtEl>
                                      </p:cBhvr>
                                    </p:animEffect>
                                    <p:anim calcmode="lin" valueType="num">
                                      <p:cBhvr>
                                        <p:cTn id="58" dur="550" decel="100000" fill="hold"/>
                                        <p:tgtEl>
                                          <p:spTgt spid="20"/>
                                        </p:tgtEl>
                                        <p:attrNameLst>
                                          <p:attrName>ppt_x</p:attrName>
                                        </p:attrNameLst>
                                      </p:cBhvr>
                                      <p:tavLst>
                                        <p:tav tm="0">
                                          <p:val>
                                            <p:strVal val="#ppt_x"/>
                                          </p:val>
                                        </p:tav>
                                        <p:tav tm="100000">
                                          <p:val>
                                            <p:strVal val="#ppt_x"/>
                                          </p:val>
                                        </p:tav>
                                      </p:tavLst>
                                    </p:anim>
                                    <p:anim calcmode="lin" valueType="num">
                                      <p:cBhvr>
                                        <p:cTn id="59" dur="550" decel="100000" fill="hold"/>
                                        <p:tgtEl>
                                          <p:spTgt spid="20"/>
                                        </p:tgtEl>
                                        <p:attrNameLst>
                                          <p:attrName>ppt_y</p:attrName>
                                        </p:attrNameLst>
                                      </p:cBhvr>
                                      <p:tavLst>
                                        <p:tav tm="0">
                                          <p:val>
                                            <p:strVal val="#ppt_y+0.04"/>
                                          </p:val>
                                        </p:tav>
                                        <p:tav tm="100000">
                                          <p:val>
                                            <p:strVal val="#ppt_y"/>
                                          </p:val>
                                        </p:tav>
                                      </p:tavLst>
                                    </p:anim>
                                  </p:childTnLst>
                                </p:cTn>
                              </p:par>
                              <p:par>
                                <p:cTn id="62" presetID="53" presetClass="entr" presetSubtype="16" fill="hold" grpId="0" nodeType="withEffect">
                                  <p:stCondLst>
                                    <p:cond delay="540"/>
                                  </p:stCondLst>
                                  <p:childTnLst>
                                    <p:set>
                                      <p:cBhvr>
                                        <p:cTn id="60" dur="1" fill="hold">
                                          <p:stCondLst>
                                            <p:cond delay="0"/>
                                          </p:stCondLst>
                                        </p:cTn>
                                        <p:tgtEl>
                                          <p:spTgt spid="21"/>
                                        </p:tgtEl>
                                        <p:attrNameLst>
                                          <p:attrName>style.visibility</p:attrName>
                                        </p:attrNameLst>
                                      </p:cBhvr>
                                      <p:to>
                                        <p:strVal val="visible"/>
                                      </p:to>
                                    </p:set>
                                    <p:anim calcmode="lin" valueType="num">
                                      <p:cBhvr>
                                        <p:cTn id="63" dur="600" decel="100000" fill="hold"/>
                                        <p:tgtEl>
                                          <p:spTgt spid="21"/>
                                        </p:tgtEl>
                                        <p:attrNameLst>
                                          <p:attrName>ppt_w</p:attrName>
                                        </p:attrNameLst>
                                      </p:cBhvr>
                                      <p:tavLst>
                                        <p:tav tm="0">
                                          <p:val>
                                            <p:strVal val="#ppt_w*0.7"/>
                                          </p:val>
                                        </p:tav>
                                        <p:tav tm="100000">
                                          <p:val>
                                            <p:strVal val="#ppt_w"/>
                                          </p:val>
                                        </p:tav>
                                      </p:tavLst>
                                    </p:anim>
                                    <p:anim calcmode="lin" valueType="num">
                                      <p:cBhvr>
                                        <p:cTn id="64" dur="600" decel="100000" fill="hold"/>
                                        <p:tgtEl>
                                          <p:spTgt spid="21"/>
                                        </p:tgtEl>
                                        <p:attrNameLst>
                                          <p:attrName>ppt_h</p:attrName>
                                        </p:attrNameLst>
                                      </p:cBhvr>
                                      <p:tavLst>
                                        <p:tav tm="0">
                                          <p:val>
                                            <p:strVal val="#ppt_h*0.7"/>
                                          </p:val>
                                        </p:tav>
                                        <p:tav tm="100000">
                                          <p:val>
                                            <p:strVal val="#ppt_h"/>
                                          </p:val>
                                        </p:tav>
                                      </p:tavLst>
                                    </p:anim>
                                    <p:animEffect transition="in" filter="fade">
                                      <p:cBhvr>
                                        <p:cTn id="61" dur="600"/>
                                        <p:tgtEl>
                                          <p:spTgt spid="21"/>
                                        </p:tgtEl>
                                      </p:cBhvr>
                                    </p:animEffect>
                                  </p:childTnLst>
                                </p:cTn>
                              </p:par>
                              <p:par>
                                <p:cTn id="67" presetID="42" presetClass="entr" presetSubtype="0" fill="hold" grpId="0" nodeType="withEffect">
                                  <p:stCondLst>
                                    <p:cond delay="54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50"/>
                                        <p:tgtEl>
                                          <p:spTgt spid="22"/>
                                        </p:tgtEl>
                                      </p:cBhvr>
                                    </p:animEffect>
                                    <p:anim calcmode="lin" valueType="num">
                                      <p:cBhvr>
                                        <p:cTn id="68" dur="550" decel="100000" fill="hold"/>
                                        <p:tgtEl>
                                          <p:spTgt spid="22"/>
                                        </p:tgtEl>
                                        <p:attrNameLst>
                                          <p:attrName>ppt_x</p:attrName>
                                        </p:attrNameLst>
                                      </p:cBhvr>
                                      <p:tavLst>
                                        <p:tav tm="0">
                                          <p:val>
                                            <p:strVal val="#ppt_x"/>
                                          </p:val>
                                        </p:tav>
                                        <p:tav tm="100000">
                                          <p:val>
                                            <p:strVal val="#ppt_x"/>
                                          </p:val>
                                        </p:tav>
                                      </p:tavLst>
                                    </p:anim>
                                    <p:anim calcmode="lin" valueType="num">
                                      <p:cBhvr>
                                        <p:cTn id="69" dur="550" decel="100000" fill="hold"/>
                                        <p:tgtEl>
                                          <p:spTgt spid="22"/>
                                        </p:tgtEl>
                                        <p:attrNameLst>
                                          <p:attrName>ppt_y</p:attrName>
                                        </p:attrNameLst>
                                      </p:cBhvr>
                                      <p:tavLst>
                                        <p:tav tm="0">
                                          <p:val>
                                            <p:strVal val="#ppt_y+0.04"/>
                                          </p:val>
                                        </p:tav>
                                        <p:tav tm="100000">
                                          <p:val>
                                            <p:strVal val="#ppt_y"/>
                                          </p:val>
                                        </p:tav>
                                      </p:tavLst>
                                    </p:anim>
                                  </p:childTnLst>
                                </p:cTn>
                              </p:par>
                              <p:par>
                                <p:cTn id="72" presetID="42" presetClass="entr" presetSubtype="0" fill="hold" grpId="0" nodeType="withEffect">
                                  <p:stCondLst>
                                    <p:cond delay="54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50"/>
                                        <p:tgtEl>
                                          <p:spTgt spid="23"/>
                                        </p:tgtEl>
                                      </p:cBhvr>
                                    </p:animEffect>
                                    <p:anim calcmode="lin" valueType="num">
                                      <p:cBhvr>
                                        <p:cTn id="73" dur="550" decel="100000" fill="hold"/>
                                        <p:tgtEl>
                                          <p:spTgt spid="23"/>
                                        </p:tgtEl>
                                        <p:attrNameLst>
                                          <p:attrName>ppt_x</p:attrName>
                                        </p:attrNameLst>
                                      </p:cBhvr>
                                      <p:tavLst>
                                        <p:tav tm="0">
                                          <p:val>
                                            <p:strVal val="#ppt_x"/>
                                          </p:val>
                                        </p:tav>
                                        <p:tav tm="100000">
                                          <p:val>
                                            <p:strVal val="#ppt_x"/>
                                          </p:val>
                                        </p:tav>
                                      </p:tavLst>
                                    </p:anim>
                                    <p:anim calcmode="lin" valueType="num">
                                      <p:cBhvr>
                                        <p:cTn id="74" dur="550" decel="100000" fill="hold"/>
                                        <p:tgtEl>
                                          <p:spTgt spid="23"/>
                                        </p:tgtEl>
                                        <p:attrNameLst>
                                          <p:attrName>ppt_y</p:attrName>
                                        </p:attrNameLst>
                                      </p:cBhvr>
                                      <p:tavLst>
                                        <p:tav tm="0">
                                          <p:val>
                                            <p:strVal val="#ppt_y+0.04"/>
                                          </p:val>
                                        </p:tav>
                                        <p:tav tm="100000">
                                          <p:val>
                                            <p:strVal val="#ppt_y"/>
                                          </p:val>
                                        </p:tav>
                                      </p:tavLst>
                                    </p:anim>
                                  </p:childTnLst>
                                </p:cTn>
                              </p:par>
                              <p:par>
                                <p:cTn id="77" presetID="10" presetClass="entr" presetSubtype="0" fill="hold" grpId="0" nodeType="withEffect">
                                  <p:stCondLst>
                                    <p:cond delay="67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5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Lst>
  </p:timing>
</p:sld>
</file>

<file path=ppt/slides/slide9.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9">
    <p:bg>
      <p:bgPr>
        <a:solidFill>
          <a:srgbClr val="0A0405"/>
        </a:solidFill>
      </p:bgPr>
    </p:bg>
    <p:spTree>
      <p:nvGrpSpPr>
        <p:cNvPr id="1" name=""/>
        <p:cNvGrpSpPr/>
        <p:nvPr/>
      </p:nvGrpSpPr>
      <p:grpSpPr>
        <a:xfrm>
          <a:off x="0" y="0"/>
          <a:ext cx="0" cy="0"/>
          <a:chOff x="0" y="0"/>
          <a:chExt cx="0" cy="0"/>
        </a:xfrm>
      </p:grpSpPr>
      <p:pic>
        <p:nvPicPr>
          <p:cNvPr id="2" name="!!bg" descr="Dark red smoke texture">    </p:cNvPr>
          <p:cNvPicPr>
            <a:picLocks noChangeAspect="1"/>
          </p:cNvPicPr>
          <p:nvPr/>
        </p:nvPicPr>
        <p:blipFill>
          <a:blip r:embed="rId1"/>
          <a:stretch>
            <a:fillRect/>
          </a:stretch>
        </p:blipFill>
        <p:spPr>
          <a:xfrm>
            <a:off x="0" y="0"/>
            <a:ext cx="12191695" cy="6858000"/>
          </a:xfrm>
          <a:prstGeom prst="rect">
            <a:avLst/>
          </a:prstGeom>
        </p:spPr>
      </p:pic>
      <p:pic>
        <p:nvPicPr>
          <p:cNvPr id="3" name="!!shade" descr="/home/user/mdist-tracker/presentations/malaria/build/shade_full.png">    </p:cNvPr>
          <p:cNvPicPr>
            <a:picLocks noChangeAspect="1"/>
          </p:cNvPicPr>
          <p:nvPr/>
        </p:nvPicPr>
        <p:blipFill>
          <a:blip r:embed="rId2"/>
          <a:stretch>
            <a:fillRect/>
          </a:stretch>
        </p:blipFill>
        <p:spPr>
          <a:xfrm>
            <a:off x="0" y="0"/>
            <a:ext cx="12191695" cy="6858000"/>
          </a:xfrm>
          <a:prstGeom prst="rect">
            <a:avLst/>
          </a:prstGeom>
        </p:spPr>
      </p:pic>
      <p:sp>
        <p:nvSpPr>
          <p:cNvPr id="4" name="!!pill"/>
          <p:cNvSpPr/>
          <p:nvPr/>
        </p:nvSpPr>
        <p:spPr>
          <a:xfrm>
            <a:off x="548640" y="411480"/>
            <a:ext cx="2168957" cy="274320"/>
          </a:xfrm>
          <a:prstGeom prst="roundRect">
            <a:avLst>
              <a:gd name="adj" fmla="val 50000"/>
            </a:avLst>
          </a:prstGeom>
          <a:solidFill>
            <a:srgbClr val="0A0405">
              <a:alpha val="65000"/>
            </a:srgbClr>
          </a:solidFill>
          <a:ln w="9525">
            <a:solidFill>
              <a:srgbClr val="7A3038"/>
            </a:solidFill>
            <a:prstDash val="solid"/>
          </a:ln>
        </p:spPr>
      </p:sp>
      <p:sp>
        <p:nvSpPr>
          <p:cNvPr id="5" name="!!pilltext"/>
          <p:cNvSpPr txBox="1"/>
          <p:nvPr/>
        </p:nvSpPr>
        <p:spPr>
          <a:xfrm>
            <a:off x="548640" y="411480"/>
            <a:ext cx="2168957" cy="274320"/>
          </a:xfrm>
          <a:prstGeom prst="rect">
            <a:avLst/>
          </a:prstGeom>
          <a:noFill/>
          <a:ln/>
        </p:spPr>
        <p:txBody>
          <a:bodyPr wrap="square" lIns="0" tIns="0" rIns="0" bIns="0" rtlCol="0" anchor="ctr"/>
          <a:lstStyle/>
          <a:p>
            <a:pPr algn="ctr" indent="0" marL="0">
              <a:buNone/>
            </a:pPr>
            <a:r>
              <a:rPr lang="en-US" sz="1000" b="1" spc="150" kern="0" dirty="0">
                <a:solidFill>
                  <a:srgbClr val="C9B2AE"/>
                </a:solidFill>
                <a:latin typeface="Arial" pitchFamily="34" charset="0"/>
                <a:ea typeface="Arial" pitchFamily="34" charset="-122"/>
                <a:cs typeface="Arial" pitchFamily="34" charset="-120"/>
              </a:rPr>
              <a:t>03 · MALARIA TODAY</a:t>
            </a:r>
            <a:endParaRPr lang="en-US" sz="1000" dirty="0"/>
          </a:p>
        </p:txBody>
      </p:sp>
      <p:pic>
        <p:nvPicPr>
          <p:cNvPr id="6" name="!!title" descr="The numbers are rising">    </p:cNvPr>
          <p:cNvPicPr>
            <a:picLocks noChangeAspect="1"/>
          </p:cNvPicPr>
          <p:nvPr/>
        </p:nvPicPr>
        <p:blipFill>
          <a:blip r:embed="rId3"/>
          <a:stretch>
            <a:fillRect/>
          </a:stretch>
        </p:blipFill>
        <p:spPr>
          <a:xfrm>
            <a:off x="521208" y="822960"/>
            <a:ext cx="8328273" cy="530721"/>
          </a:xfrm>
          <a:prstGeom prst="rect">
            <a:avLst/>
          </a:prstGeom>
        </p:spPr>
      </p:pic>
      <p:pic>
        <p:nvPicPr>
          <p:cNvPr id="7" name="!!crest" descr="MDIS Tashkent crest">    </p:cNvPr>
          <p:cNvPicPr>
            <a:picLocks noChangeAspect="1"/>
          </p:cNvPicPr>
          <p:nvPr/>
        </p:nvPicPr>
        <p:blipFill>
          <a:blip r:embed="rId4"/>
          <a:stretch>
            <a:fillRect/>
          </a:stretch>
        </p:blipFill>
        <p:spPr>
          <a:xfrm>
            <a:off x="11249708" y="384048"/>
            <a:ext cx="393347" cy="384048"/>
          </a:xfrm>
          <a:prstGeom prst="rect">
            <a:avLst/>
          </a:prstGeom>
        </p:spPr>
      </p:pic>
      <p:sp>
        <p:nvSpPr>
          <p:cNvPr id="8" name="Text 2"/>
          <p:cNvSpPr txBox="1"/>
          <p:nvPr/>
        </p:nvSpPr>
        <p:spPr>
          <a:xfrm>
            <a:off x="548640" y="6382512"/>
            <a:ext cx="7863840" cy="256032"/>
          </a:xfrm>
          <a:prstGeom prst="rect">
            <a:avLst/>
          </a:prstGeom>
          <a:noFill/>
          <a:ln/>
        </p:spPr>
        <p:txBody>
          <a:bodyPr wrap="square" lIns="0" tIns="0" rIns="0" bIns="0" rtlCol="0" anchor="ctr"/>
          <a:lstStyle/>
          <a:p>
            <a:pPr indent="0" marL="0">
              <a:buNone/>
            </a:pPr>
            <a:r>
              <a:rPr lang="en-US" sz="1000" dirty="0">
                <a:solidFill>
                  <a:srgbClr val="9C8380"/>
                </a:solidFill>
                <a:latin typeface="Arial" pitchFamily="34" charset="0"/>
                <a:ea typeface="Arial" pitchFamily="34" charset="-122"/>
                <a:cs typeface="Arial" pitchFamily="34" charset="-120"/>
              </a:rPr>
              <a:t>Source: World Health Organization (2025b)</a:t>
            </a:r>
            <a:endParaRPr lang="en-US" sz="1000" dirty="0"/>
          </a:p>
        </p:txBody>
      </p:sp>
      <p:sp>
        <p:nvSpPr>
          <p:cNvPr id="9" name="Text 3"/>
          <p:cNvSpPr txBox="1"/>
          <p:nvPr/>
        </p:nvSpPr>
        <p:spPr>
          <a:xfrm>
            <a:off x="7802575" y="6382512"/>
            <a:ext cx="3840480" cy="256032"/>
          </a:xfrm>
          <a:prstGeom prst="rect">
            <a:avLst/>
          </a:prstGeom>
          <a:noFill/>
          <a:ln/>
        </p:spPr>
        <p:txBody>
          <a:bodyPr wrap="square" lIns="0" tIns="0" rIns="0" bIns="0" rtlCol="0" anchor="ctr"/>
          <a:lstStyle/>
          <a:p>
            <a:pPr algn="r" indent="0" marL="0">
              <a:buNone/>
            </a:pPr>
            <a:r>
              <a:rPr lang="en-US" sz="1000" b="1" spc="100" kern="0" dirty="0">
                <a:solidFill>
                  <a:srgbClr val="C9B2AE"/>
                </a:solidFill>
                <a:latin typeface="Arial" pitchFamily="34" charset="0"/>
                <a:ea typeface="Arial" pitchFamily="34" charset="-122"/>
                <a:cs typeface="Arial" pitchFamily="34" charset="-120"/>
              </a:rPr>
              <a:t>RAMAZAN BAKIYEV   ·   09 / 16</a:t>
            </a:r>
            <a:endParaRPr lang="en-US" sz="1000" dirty="0"/>
          </a:p>
        </p:txBody>
      </p:sp>
      <p:sp>
        <p:nvSpPr>
          <p:cNvPr id="10" name="chartcard"/>
          <p:cNvSpPr/>
          <p:nvPr/>
        </p:nvSpPr>
        <p:spPr>
          <a:xfrm>
            <a:off x="548640" y="1783080"/>
            <a:ext cx="6263640" cy="4206240"/>
          </a:xfrm>
          <a:prstGeom prst="roundRect">
            <a:avLst>
              <a:gd name="adj" fmla="val 1957"/>
            </a:avLst>
          </a:prstGeom>
          <a:solidFill>
            <a:srgbClr val="1C080B">
              <a:alpha val="70000"/>
            </a:srgbClr>
          </a:solidFill>
          <a:ln w="9525">
            <a:solidFill>
              <a:srgbClr val="7A3038"/>
            </a:solidFill>
            <a:prstDash val="solid"/>
          </a:ln>
        </p:spPr>
      </p:sp>
      <p:graphicFrame>
        <p:nvGraphicFramePr>
          <p:cNvPr id="11" name="Chart 0" descr=""/>
          <p:cNvGraphicFramePr/>
          <p:nvPr/>
        </p:nvGraphicFramePr>
        <p:xfrm>
          <a:off x="731520" y="1874520"/>
          <a:ext cx="5897880" cy="4023360"/>
        </p:xfrm>
        <a:graphic xmlns:a="http://schemas.openxmlformats.org/drawingml/2006/main">
          <a:graphicData uri="http://schemas.openxmlformats.org/drawingml/2006/chart">
            <c:chart xmlns:c="http://schemas.openxmlformats.org/drawingml/2006/chart" r:id="rId5"/>
          </a:graphicData>
        </a:graphic>
      </p:graphicFrame>
      <p:sp>
        <p:nvSpPr>
          <p:cNvPr id="12" name="fx:1:up:deaths"/>
          <p:cNvSpPr/>
          <p:nvPr/>
        </p:nvSpPr>
        <p:spPr>
          <a:xfrm>
            <a:off x="7086600" y="1783080"/>
            <a:ext cx="4556455" cy="1783080"/>
          </a:xfrm>
          <a:prstGeom prst="roundRect">
            <a:avLst>
              <a:gd name="adj" fmla="val 4615"/>
            </a:avLst>
          </a:prstGeom>
          <a:solidFill>
            <a:srgbClr val="1C080B">
              <a:alpha val="78000"/>
            </a:srgbClr>
          </a:solidFill>
          <a:ln w="9525">
            <a:solidFill>
              <a:srgbClr val="7A3038"/>
            </a:solidFill>
            <a:prstDash val="solid"/>
          </a:ln>
        </p:spPr>
      </p:sp>
      <p:sp>
        <p:nvSpPr>
          <p:cNvPr id="13" name="fx:1:up:dl"/>
          <p:cNvSpPr txBox="1"/>
          <p:nvPr/>
        </p:nvSpPr>
        <p:spPr>
          <a:xfrm>
            <a:off x="7315200" y="1965960"/>
            <a:ext cx="4099255" cy="219456"/>
          </a:xfrm>
          <a:prstGeom prst="rect">
            <a:avLst/>
          </a:prstGeom>
          <a:noFill/>
          <a:ln/>
        </p:spPr>
        <p:txBody>
          <a:bodyPr wrap="square" lIns="0" tIns="0" rIns="0" bIns="0" rtlCol="0" anchor="t"/>
          <a:lstStyle/>
          <a:p>
            <a:pPr indent="0" marL="0">
              <a:buNone/>
            </a:pPr>
            <a:r>
              <a:rPr lang="en-US" sz="1000" b="1" spc="200" kern="0" dirty="0">
                <a:solidFill>
                  <a:srgbClr val="E5333D"/>
                </a:solidFill>
                <a:latin typeface="Arial" pitchFamily="34" charset="0"/>
                <a:ea typeface="Arial" pitchFamily="34" charset="-122"/>
                <a:cs typeface="Arial" pitchFamily="34" charset="-120"/>
              </a:rPr>
              <a:t>DEATHS · 2015 → 2024</a:t>
            </a:r>
            <a:endParaRPr lang="en-US" sz="1000" dirty="0"/>
          </a:p>
        </p:txBody>
      </p:sp>
      <p:pic>
        <p:nvPicPr>
          <p:cNvPr id="14" name="fx:1:up:dn" descr="578,000 → 610,000">    </p:cNvPr>
          <p:cNvPicPr>
            <a:picLocks noChangeAspect="1"/>
          </p:cNvPicPr>
          <p:nvPr/>
        </p:nvPicPr>
        <p:blipFill>
          <a:blip r:embed="rId6"/>
          <a:stretch>
            <a:fillRect/>
          </a:stretch>
        </p:blipFill>
        <p:spPr>
          <a:xfrm>
            <a:off x="7315200" y="2267712"/>
            <a:ext cx="3133279" cy="307032"/>
          </a:xfrm>
          <a:prstGeom prst="rect">
            <a:avLst/>
          </a:prstGeom>
        </p:spPr>
      </p:pic>
      <p:sp>
        <p:nvSpPr>
          <p:cNvPr id="15" name="fx:1:up:db"/>
          <p:cNvSpPr txBox="1"/>
          <p:nvPr/>
        </p:nvSpPr>
        <p:spPr>
          <a:xfrm>
            <a:off x="7315200" y="2816352"/>
            <a:ext cx="4099255" cy="594360"/>
          </a:xfrm>
          <a:prstGeom prst="rect">
            <a:avLst/>
          </a:prstGeom>
          <a:noFill/>
          <a:ln/>
        </p:spPr>
        <p:txBody>
          <a:bodyPr wrap="square" lIns="0" tIns="0" rIns="0" bIns="0" rtlCol="0" anchor="t"/>
          <a:lstStyle/>
          <a:p>
            <a:pPr indent="0" marL="0">
              <a:buNone/>
            </a:pPr>
            <a:r>
              <a:rPr lang="en-US" sz="1200" dirty="0">
                <a:solidFill>
                  <a:srgbClr val="C9B2AE"/>
                </a:solidFill>
                <a:latin typeface="Arial" pitchFamily="34" charset="0"/>
                <a:ea typeface="Arial" pitchFamily="34" charset="-122"/>
                <a:cs typeface="Arial" pitchFamily="34" charset="-120"/>
              </a:rPr>
              <a:t>The death rate per person fell, but the population keeps growing.</a:t>
            </a:r>
            <a:endParaRPr lang="en-US" sz="1200" dirty="0"/>
          </a:p>
        </p:txBody>
      </p:sp>
      <p:sp>
        <p:nvSpPr>
          <p:cNvPr id="16" name="fx:2:up:fund"/>
          <p:cNvSpPr/>
          <p:nvPr/>
        </p:nvSpPr>
        <p:spPr>
          <a:xfrm>
            <a:off x="7086600" y="3749040"/>
            <a:ext cx="4556455" cy="2240280"/>
          </a:xfrm>
          <a:prstGeom prst="roundRect">
            <a:avLst>
              <a:gd name="adj" fmla="val 3673"/>
            </a:avLst>
          </a:prstGeom>
          <a:solidFill>
            <a:srgbClr val="1C080B">
              <a:alpha val="78000"/>
            </a:srgbClr>
          </a:solidFill>
          <a:ln w="9525">
            <a:solidFill>
              <a:srgbClr val="7A3038"/>
            </a:solidFill>
            <a:prstDash val="solid"/>
          </a:ln>
        </p:spPr>
      </p:sp>
      <p:sp>
        <p:nvSpPr>
          <p:cNvPr id="17" name="fx:2:up:fl"/>
          <p:cNvSpPr txBox="1"/>
          <p:nvPr/>
        </p:nvSpPr>
        <p:spPr>
          <a:xfrm>
            <a:off x="7315200" y="3931920"/>
            <a:ext cx="4099255" cy="219456"/>
          </a:xfrm>
          <a:prstGeom prst="rect">
            <a:avLst/>
          </a:prstGeom>
          <a:noFill/>
          <a:ln/>
        </p:spPr>
        <p:txBody>
          <a:bodyPr wrap="square" lIns="0" tIns="0" rIns="0" bIns="0" rtlCol="0" anchor="t"/>
          <a:lstStyle/>
          <a:p>
            <a:pPr indent="0" marL="0">
              <a:buNone/>
            </a:pPr>
            <a:r>
              <a:rPr lang="en-US" sz="1000" b="1" spc="200" kern="0" dirty="0">
                <a:solidFill>
                  <a:srgbClr val="E5333D"/>
                </a:solidFill>
                <a:latin typeface="Arial" pitchFamily="34" charset="0"/>
                <a:ea typeface="Arial" pitchFamily="34" charset="-122"/>
                <a:cs typeface="Arial" pitchFamily="34" charset="-120"/>
              </a:rPr>
              <a:t>FUNDING IN 2024</a:t>
            </a:r>
            <a:endParaRPr lang="en-US" sz="1000" dirty="0"/>
          </a:p>
        </p:txBody>
      </p:sp>
      <p:graphicFrame>
        <p:nvGraphicFramePr>
          <p:cNvPr id="18" name="Chart 1" descr=""/>
          <p:cNvGraphicFramePr/>
          <p:nvPr/>
        </p:nvGraphicFramePr>
        <p:xfrm>
          <a:off x="7178040" y="4160520"/>
          <a:ext cx="1737360" cy="1737360"/>
        </p:xfrm>
        <a:graphic xmlns:a="http://schemas.openxmlformats.org/drawingml/2006/main">
          <a:graphicData uri="http://schemas.openxmlformats.org/drawingml/2006/chart">
            <c:chart xmlns:c="http://schemas.openxmlformats.org/drawingml/2006/chart" r:id="rId7"/>
          </a:graphicData>
        </a:graphic>
      </p:graphicFrame>
      <p:pic>
        <p:nvPicPr>
          <p:cNvPr id="19" name="fx:2:zoom:p42" descr="42%">    </p:cNvPr>
          <p:cNvPicPr>
            <a:picLocks noChangeAspect="1"/>
          </p:cNvPicPr>
          <p:nvPr/>
        </p:nvPicPr>
        <p:blipFill>
          <a:blip r:embed="rId8"/>
          <a:stretch>
            <a:fillRect/>
          </a:stretch>
        </p:blipFill>
        <p:spPr>
          <a:xfrm>
            <a:off x="7610207" y="4847630"/>
            <a:ext cx="873026" cy="363141"/>
          </a:xfrm>
          <a:prstGeom prst="rect">
            <a:avLst/>
          </a:prstGeom>
        </p:spPr>
      </p:pic>
      <p:sp>
        <p:nvSpPr>
          <p:cNvPr id="20" name="fx:2:up:ft"/>
          <p:cNvSpPr txBox="1"/>
          <p:nvPr/>
        </p:nvSpPr>
        <p:spPr>
          <a:xfrm>
            <a:off x="9052560" y="4315968"/>
            <a:ext cx="2407615" cy="1463040"/>
          </a:xfrm>
          <a:prstGeom prst="rect">
            <a:avLst/>
          </a:prstGeom>
          <a:noFill/>
          <a:ln/>
        </p:spPr>
        <p:txBody>
          <a:bodyPr wrap="square" lIns="0" tIns="0" rIns="0" bIns="0" rtlCol="0" anchor="ctr"/>
          <a:lstStyle/>
          <a:p>
            <a:pPr indent="0" marL="0">
              <a:buNone/>
            </a:pPr>
            <a:r>
              <a:rPr lang="en-US" sz="1300" b="1" dirty="0">
                <a:solidFill>
                  <a:srgbClr val="F4ECE8"/>
                </a:solidFill>
                <a:latin typeface="Arial" pitchFamily="34" charset="0"/>
                <a:ea typeface="Arial" pitchFamily="34" charset="-122"/>
                <a:cs typeface="Arial" pitchFamily="34" charset="-120"/>
              </a:rPr>
              <a:t>US$ 3.9 bn</a:t>
            </a:r>
            <a:endParaRPr lang="en-US" sz="1300" dirty="0"/>
          </a:p>
          <a:p>
            <a:pPr indent="0" marL="0">
              <a:buNone/>
            </a:pPr>
            <a:r>
              <a:rPr lang="en-US" sz="1300" dirty="0">
                <a:solidFill>
                  <a:srgbClr val="C9B2AE"/>
                </a:solidFill>
                <a:latin typeface="Arial" pitchFamily="34" charset="0"/>
                <a:ea typeface="Arial" pitchFamily="34" charset="-122"/>
                <a:cs typeface="Arial" pitchFamily="34" charset="-120"/>
              </a:rPr>
              <a:t>invested</a:t>
            </a:r>
            <a:endParaRPr lang="en-US" sz="1300" dirty="0"/>
          </a:p>
          <a:p>
            <a:pPr indent="0" marL="0">
              <a:buNone/>
            </a:pPr>
            <a:r>
              <a:rPr lang="en-US" sz="1300" b="1" dirty="0">
                <a:solidFill>
                  <a:srgbClr val="F4ECE8"/>
                </a:solidFill>
                <a:latin typeface="Arial" pitchFamily="34" charset="0"/>
                <a:ea typeface="Arial" pitchFamily="34" charset="-122"/>
                <a:cs typeface="Arial" pitchFamily="34" charset="-120"/>
              </a:rPr>
              <a:t>US$ 9.3 bn</a:t>
            </a:r>
            <a:endParaRPr lang="en-US" sz="1300" dirty="0"/>
          </a:p>
          <a:p>
            <a:pPr indent="0" marL="0">
              <a:buNone/>
            </a:pPr>
            <a:r>
              <a:rPr lang="en-US" sz="1300" dirty="0">
                <a:solidFill>
                  <a:srgbClr val="C9B2AE"/>
                </a:solidFill>
                <a:latin typeface="Arial" pitchFamily="34" charset="0"/>
                <a:ea typeface="Arial" pitchFamily="34" charset="-122"/>
                <a:cs typeface="Arial" pitchFamily="34" charset="-120"/>
              </a:rPr>
              <a:t>needed every year</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42" presetClass="entr" presetSubtype="0" fill="hold" grpId="0" nodeType="afterEffect">
                                  <p:stCondLst>
                                    <p:cond delay="15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550"/>
                                        <p:tgtEl>
                                          <p:spTgt spid="12"/>
                                        </p:tgtEl>
                                      </p:cBhvr>
                                    </p:animEffect>
                                    <p:anim calcmode="lin" valueType="num">
                                      <p:cBhvr>
                                        <p:cTn id="8" dur="550" decel="100000" fill="hold"/>
                                        <p:tgtEl>
                                          <p:spTgt spid="12"/>
                                        </p:tgtEl>
                                        <p:attrNameLst>
                                          <p:attrName>ppt_x</p:attrName>
                                        </p:attrNameLst>
                                      </p:cBhvr>
                                      <p:tavLst>
                                        <p:tav tm="0">
                                          <p:val>
                                            <p:strVal val="#ppt_x"/>
                                          </p:val>
                                        </p:tav>
                                        <p:tav tm="100000">
                                          <p:val>
                                            <p:strVal val="#ppt_x"/>
                                          </p:val>
                                        </p:tav>
                                      </p:tavLst>
                                    </p:anim>
                                    <p:anim calcmode="lin" valueType="num">
                                      <p:cBhvr>
                                        <p:cTn id="9" dur="550" decel="100000" fill="hold"/>
                                        <p:tgtEl>
                                          <p:spTgt spid="12"/>
                                        </p:tgtEl>
                                        <p:attrNameLst>
                                          <p:attrName>ppt_y</p:attrName>
                                        </p:attrNameLst>
                                      </p:cBhvr>
                                      <p:tavLst>
                                        <p:tav tm="0">
                                          <p:val>
                                            <p:strVal val="#ppt_y+0.04"/>
                                          </p:val>
                                        </p:tav>
                                        <p:tav tm="100000">
                                          <p:val>
                                            <p:strVal val="#ppt_y"/>
                                          </p:val>
                                        </p:tav>
                                      </p:tavLst>
                                    </p:anim>
                                  </p:childTnLst>
                                </p:cTn>
                              </p:par>
                              <p:par>
                                <p:cTn id="12" presetID="42" presetClass="entr" presetSubtype="0" fill="hold" grpId="0" nodeType="withEffect">
                                  <p:stCondLst>
                                    <p:cond delay="15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50"/>
                                        <p:tgtEl>
                                          <p:spTgt spid="13"/>
                                        </p:tgtEl>
                                      </p:cBhvr>
                                    </p:animEffect>
                                    <p:anim calcmode="lin" valueType="num">
                                      <p:cBhvr>
                                        <p:cTn id="13" dur="550" decel="100000" fill="hold"/>
                                        <p:tgtEl>
                                          <p:spTgt spid="13"/>
                                        </p:tgtEl>
                                        <p:attrNameLst>
                                          <p:attrName>ppt_x</p:attrName>
                                        </p:attrNameLst>
                                      </p:cBhvr>
                                      <p:tavLst>
                                        <p:tav tm="0">
                                          <p:val>
                                            <p:strVal val="#ppt_x"/>
                                          </p:val>
                                        </p:tav>
                                        <p:tav tm="100000">
                                          <p:val>
                                            <p:strVal val="#ppt_x"/>
                                          </p:val>
                                        </p:tav>
                                      </p:tavLst>
                                    </p:anim>
                                    <p:anim calcmode="lin" valueType="num">
                                      <p:cBhvr>
                                        <p:cTn id="14" dur="550" decel="100000" fill="hold"/>
                                        <p:tgtEl>
                                          <p:spTgt spid="13"/>
                                        </p:tgtEl>
                                        <p:attrNameLst>
                                          <p:attrName>ppt_y</p:attrName>
                                        </p:attrNameLst>
                                      </p:cBhvr>
                                      <p:tavLst>
                                        <p:tav tm="0">
                                          <p:val>
                                            <p:strVal val="#ppt_y+0.04"/>
                                          </p:val>
                                        </p:tav>
                                        <p:tav tm="100000">
                                          <p:val>
                                            <p:strVal val="#ppt_y"/>
                                          </p:val>
                                        </p:tav>
                                      </p:tavLst>
                                    </p:anim>
                                  </p:childTnLst>
                                </p:cTn>
                              </p:par>
                              <p:par>
                                <p:cTn id="17" presetID="42" presetClass="entr" presetSubtype="0" fill="hold" grpId="0" nodeType="withEffect">
                                  <p:stCondLst>
                                    <p:cond delay="15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50"/>
                                        <p:tgtEl>
                                          <p:spTgt spid="14"/>
                                        </p:tgtEl>
                                      </p:cBhvr>
                                    </p:animEffect>
                                    <p:anim calcmode="lin" valueType="num">
                                      <p:cBhvr>
                                        <p:cTn id="18" dur="550" decel="100000" fill="hold"/>
                                        <p:tgtEl>
                                          <p:spTgt spid="14"/>
                                        </p:tgtEl>
                                        <p:attrNameLst>
                                          <p:attrName>ppt_x</p:attrName>
                                        </p:attrNameLst>
                                      </p:cBhvr>
                                      <p:tavLst>
                                        <p:tav tm="0">
                                          <p:val>
                                            <p:strVal val="#ppt_x"/>
                                          </p:val>
                                        </p:tav>
                                        <p:tav tm="100000">
                                          <p:val>
                                            <p:strVal val="#ppt_x"/>
                                          </p:val>
                                        </p:tav>
                                      </p:tavLst>
                                    </p:anim>
                                    <p:anim calcmode="lin" valueType="num">
                                      <p:cBhvr>
                                        <p:cTn id="19" dur="550" decel="100000" fill="hold"/>
                                        <p:tgtEl>
                                          <p:spTgt spid="14"/>
                                        </p:tgtEl>
                                        <p:attrNameLst>
                                          <p:attrName>ppt_y</p:attrName>
                                        </p:attrNameLst>
                                      </p:cBhvr>
                                      <p:tavLst>
                                        <p:tav tm="0">
                                          <p:val>
                                            <p:strVal val="#ppt_y+0.04"/>
                                          </p:val>
                                        </p:tav>
                                        <p:tav tm="100000">
                                          <p:val>
                                            <p:strVal val="#ppt_y"/>
                                          </p:val>
                                        </p:tav>
                                      </p:tavLst>
                                    </p:anim>
                                  </p:childTnLst>
                                </p:cTn>
                              </p:par>
                              <p:par>
                                <p:cTn id="22" presetID="42" presetClass="entr" presetSubtype="0" fill="hold" grpId="0" nodeType="withEffect">
                                  <p:stCondLst>
                                    <p:cond delay="15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50"/>
                                        <p:tgtEl>
                                          <p:spTgt spid="15"/>
                                        </p:tgtEl>
                                      </p:cBhvr>
                                    </p:animEffect>
                                    <p:anim calcmode="lin" valueType="num">
                                      <p:cBhvr>
                                        <p:cTn id="23" dur="550" decel="100000" fill="hold"/>
                                        <p:tgtEl>
                                          <p:spTgt spid="15"/>
                                        </p:tgtEl>
                                        <p:attrNameLst>
                                          <p:attrName>ppt_x</p:attrName>
                                        </p:attrNameLst>
                                      </p:cBhvr>
                                      <p:tavLst>
                                        <p:tav tm="0">
                                          <p:val>
                                            <p:strVal val="#ppt_x"/>
                                          </p:val>
                                        </p:tav>
                                        <p:tav tm="100000">
                                          <p:val>
                                            <p:strVal val="#ppt_x"/>
                                          </p:val>
                                        </p:tav>
                                      </p:tavLst>
                                    </p:anim>
                                    <p:anim calcmode="lin" valueType="num">
                                      <p:cBhvr>
                                        <p:cTn id="24" dur="550" decel="100000" fill="hold"/>
                                        <p:tgtEl>
                                          <p:spTgt spid="15"/>
                                        </p:tgtEl>
                                        <p:attrNameLst>
                                          <p:attrName>ppt_y</p:attrName>
                                        </p:attrNameLst>
                                      </p:cBhvr>
                                      <p:tavLst>
                                        <p:tav tm="0">
                                          <p:val>
                                            <p:strVal val="#ppt_y+0.04"/>
                                          </p:val>
                                        </p:tav>
                                        <p:tav tm="100000">
                                          <p:val>
                                            <p:strVal val="#ppt_y"/>
                                          </p:val>
                                        </p:tav>
                                      </p:tavLst>
                                    </p:anim>
                                  </p:childTnLst>
                                </p:cTn>
                              </p:par>
                              <p:par>
                                <p:cTn id="27" presetID="42" presetClass="entr" presetSubtype="0" fill="hold" grpId="0" nodeType="withEffect">
                                  <p:stCondLst>
                                    <p:cond delay="28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50"/>
                                        <p:tgtEl>
                                          <p:spTgt spid="16"/>
                                        </p:tgtEl>
                                      </p:cBhvr>
                                    </p:animEffect>
                                    <p:anim calcmode="lin" valueType="num">
                                      <p:cBhvr>
                                        <p:cTn id="28" dur="550" decel="100000" fill="hold"/>
                                        <p:tgtEl>
                                          <p:spTgt spid="16"/>
                                        </p:tgtEl>
                                        <p:attrNameLst>
                                          <p:attrName>ppt_x</p:attrName>
                                        </p:attrNameLst>
                                      </p:cBhvr>
                                      <p:tavLst>
                                        <p:tav tm="0">
                                          <p:val>
                                            <p:strVal val="#ppt_x"/>
                                          </p:val>
                                        </p:tav>
                                        <p:tav tm="100000">
                                          <p:val>
                                            <p:strVal val="#ppt_x"/>
                                          </p:val>
                                        </p:tav>
                                      </p:tavLst>
                                    </p:anim>
                                    <p:anim calcmode="lin" valueType="num">
                                      <p:cBhvr>
                                        <p:cTn id="29" dur="550" decel="100000" fill="hold"/>
                                        <p:tgtEl>
                                          <p:spTgt spid="16"/>
                                        </p:tgtEl>
                                        <p:attrNameLst>
                                          <p:attrName>ppt_y</p:attrName>
                                        </p:attrNameLst>
                                      </p:cBhvr>
                                      <p:tavLst>
                                        <p:tav tm="0">
                                          <p:val>
                                            <p:strVal val="#ppt_y+0.04"/>
                                          </p:val>
                                        </p:tav>
                                        <p:tav tm="100000">
                                          <p:val>
                                            <p:strVal val="#ppt_y"/>
                                          </p:val>
                                        </p:tav>
                                      </p:tavLst>
                                    </p:anim>
                                  </p:childTnLst>
                                </p:cTn>
                              </p:par>
                              <p:par>
                                <p:cTn id="32" presetID="42" presetClass="entr" presetSubtype="0" fill="hold" grpId="0" nodeType="withEffect">
                                  <p:stCondLst>
                                    <p:cond delay="28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50"/>
                                        <p:tgtEl>
                                          <p:spTgt spid="17"/>
                                        </p:tgtEl>
                                      </p:cBhvr>
                                    </p:animEffect>
                                    <p:anim calcmode="lin" valueType="num">
                                      <p:cBhvr>
                                        <p:cTn id="33" dur="550" decel="100000" fill="hold"/>
                                        <p:tgtEl>
                                          <p:spTgt spid="17"/>
                                        </p:tgtEl>
                                        <p:attrNameLst>
                                          <p:attrName>ppt_x</p:attrName>
                                        </p:attrNameLst>
                                      </p:cBhvr>
                                      <p:tavLst>
                                        <p:tav tm="0">
                                          <p:val>
                                            <p:strVal val="#ppt_x"/>
                                          </p:val>
                                        </p:tav>
                                        <p:tav tm="100000">
                                          <p:val>
                                            <p:strVal val="#ppt_x"/>
                                          </p:val>
                                        </p:tav>
                                      </p:tavLst>
                                    </p:anim>
                                    <p:anim calcmode="lin" valueType="num">
                                      <p:cBhvr>
                                        <p:cTn id="34" dur="550" decel="100000" fill="hold"/>
                                        <p:tgtEl>
                                          <p:spTgt spid="17"/>
                                        </p:tgtEl>
                                        <p:attrNameLst>
                                          <p:attrName>ppt_y</p:attrName>
                                        </p:attrNameLst>
                                      </p:cBhvr>
                                      <p:tavLst>
                                        <p:tav tm="0">
                                          <p:val>
                                            <p:strVal val="#ppt_y+0.04"/>
                                          </p:val>
                                        </p:tav>
                                        <p:tav tm="100000">
                                          <p:val>
                                            <p:strVal val="#ppt_y"/>
                                          </p:val>
                                        </p:tav>
                                      </p:tavLst>
                                    </p:anim>
                                  </p:childTnLst>
                                </p:cTn>
                              </p:par>
                              <p:par>
                                <p:cTn id="37" presetID="53" presetClass="entr" presetSubtype="16" fill="hold" grpId="0" nodeType="withEffect">
                                  <p:stCondLst>
                                    <p:cond delay="280"/>
                                  </p:stCondLst>
                                  <p:childTnLst>
                                    <p:set>
                                      <p:cBhvr>
                                        <p:cTn id="35" dur="1" fill="hold">
                                          <p:stCondLst>
                                            <p:cond delay="0"/>
                                          </p:stCondLst>
                                        </p:cTn>
                                        <p:tgtEl>
                                          <p:spTgt spid="19"/>
                                        </p:tgtEl>
                                        <p:attrNameLst>
                                          <p:attrName>style.visibility</p:attrName>
                                        </p:attrNameLst>
                                      </p:cBhvr>
                                      <p:to>
                                        <p:strVal val="visible"/>
                                      </p:to>
                                    </p:set>
                                    <p:anim calcmode="lin" valueType="num">
                                      <p:cBhvr>
                                        <p:cTn id="38" dur="600" decel="100000" fill="hold"/>
                                        <p:tgtEl>
                                          <p:spTgt spid="19"/>
                                        </p:tgtEl>
                                        <p:attrNameLst>
                                          <p:attrName>ppt_w</p:attrName>
                                        </p:attrNameLst>
                                      </p:cBhvr>
                                      <p:tavLst>
                                        <p:tav tm="0">
                                          <p:val>
                                            <p:strVal val="#ppt_w*0.7"/>
                                          </p:val>
                                        </p:tav>
                                        <p:tav tm="100000">
                                          <p:val>
                                            <p:strVal val="#ppt_w"/>
                                          </p:val>
                                        </p:tav>
                                      </p:tavLst>
                                    </p:anim>
                                    <p:anim calcmode="lin" valueType="num">
                                      <p:cBhvr>
                                        <p:cTn id="39" dur="600" decel="100000" fill="hold"/>
                                        <p:tgtEl>
                                          <p:spTgt spid="19"/>
                                        </p:tgtEl>
                                        <p:attrNameLst>
                                          <p:attrName>ppt_h</p:attrName>
                                        </p:attrNameLst>
                                      </p:cBhvr>
                                      <p:tavLst>
                                        <p:tav tm="0">
                                          <p:val>
                                            <p:strVal val="#ppt_h*0.7"/>
                                          </p:val>
                                        </p:tav>
                                        <p:tav tm="100000">
                                          <p:val>
                                            <p:strVal val="#ppt_h"/>
                                          </p:val>
                                        </p:tav>
                                      </p:tavLst>
                                    </p:anim>
                                    <p:animEffect transition="in" filter="fade">
                                      <p:cBhvr>
                                        <p:cTn id="36" dur="600"/>
                                        <p:tgtEl>
                                          <p:spTgt spid="19"/>
                                        </p:tgtEl>
                                      </p:cBhvr>
                                    </p:animEffect>
                                  </p:childTnLst>
                                </p:cTn>
                              </p:par>
                              <p:par>
                                <p:cTn id="42" presetID="42" presetClass="entr" presetSubtype="0" fill="hold" grpId="0" nodeType="withEffect">
                                  <p:stCondLst>
                                    <p:cond delay="28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50"/>
                                        <p:tgtEl>
                                          <p:spTgt spid="20"/>
                                        </p:tgtEl>
                                      </p:cBhvr>
                                    </p:animEffect>
                                    <p:anim calcmode="lin" valueType="num">
                                      <p:cBhvr>
                                        <p:cTn id="43" dur="550" decel="100000" fill="hold"/>
                                        <p:tgtEl>
                                          <p:spTgt spid="20"/>
                                        </p:tgtEl>
                                        <p:attrNameLst>
                                          <p:attrName>ppt_x</p:attrName>
                                        </p:attrNameLst>
                                      </p:cBhvr>
                                      <p:tavLst>
                                        <p:tav tm="0">
                                          <p:val>
                                            <p:strVal val="#ppt_x"/>
                                          </p:val>
                                        </p:tav>
                                        <p:tav tm="100000">
                                          <p:val>
                                            <p:strVal val="#ppt_x"/>
                                          </p:val>
                                        </p:tav>
                                      </p:tavLst>
                                    </p:anim>
                                    <p:anim calcmode="lin" valueType="num">
                                      <p:cBhvr>
                                        <p:cTn id="44" dur="550" decel="100000" fill="hold"/>
                                        <p:tgtEl>
                                          <p:spTgt spid="20"/>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P spid="16" grpId="0" animBg="1"/>
      <p:bldP spid="17" grpId="0" animBg="1"/>
      <p:bldP spid="20" grpId="0" animBg="1"/>
    </p:bldLst>
  </p:timing>
</p:sld>
</file>

<file path=ppt/slides/slide10.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10">
    <p:bg>
      <p:bgPr>
        <a:solidFill>
          <a:srgbClr val="0A0405"/>
        </a:solidFill>
      </p:bgPr>
    </p:bg>
    <p:spTree>
      <p:nvGrpSpPr>
        <p:cNvPr id="1" name=""/>
        <p:cNvGrpSpPr/>
        <p:nvPr/>
      </p:nvGrpSpPr>
      <p:grpSpPr>
        <a:xfrm>
          <a:off x="0" y="0"/>
          <a:ext cx="0" cy="0"/>
          <a:chOff x="0" y="0"/>
          <a:chExt cx="0" cy="0"/>
        </a:xfrm>
      </p:grpSpPr>
      <p:pic>
        <p:nvPicPr>
          <p:cNvPr id="2" name="!!bg" descr="Registan square in Samarkand at twilight under a red sky">    </p:cNvPr>
          <p:cNvPicPr>
            <a:picLocks noChangeAspect="1"/>
          </p:cNvPicPr>
          <p:nvPr/>
        </p:nvPicPr>
        <p:blipFill>
          <a:blip r:embed="rId1"/>
          <a:stretch>
            <a:fillRect/>
          </a:stretch>
        </p:blipFill>
        <p:spPr>
          <a:xfrm>
            <a:off x="0" y="0"/>
            <a:ext cx="12191695" cy="6858000"/>
          </a:xfrm>
          <a:prstGeom prst="rect">
            <a:avLst/>
          </a:prstGeom>
        </p:spPr>
      </p:pic>
      <p:pic>
        <p:nvPicPr>
          <p:cNvPr id="3" name="!!shade" descr="/home/user/mdist-tracker/presentations/malaria/build/shade_L.png">    </p:cNvPr>
          <p:cNvPicPr>
            <a:picLocks noChangeAspect="1"/>
          </p:cNvPicPr>
          <p:nvPr/>
        </p:nvPicPr>
        <p:blipFill>
          <a:blip r:embed="rId2"/>
          <a:stretch>
            <a:fillRect/>
          </a:stretch>
        </p:blipFill>
        <p:spPr>
          <a:xfrm>
            <a:off x="0" y="0"/>
            <a:ext cx="12191695" cy="6858000"/>
          </a:xfrm>
          <a:prstGeom prst="rect">
            <a:avLst/>
          </a:prstGeom>
        </p:spPr>
      </p:pic>
      <p:sp>
        <p:nvSpPr>
          <p:cNvPr id="4" name="!!pill"/>
          <p:cNvSpPr/>
          <p:nvPr/>
        </p:nvSpPr>
        <p:spPr>
          <a:xfrm>
            <a:off x="548640" y="411480"/>
            <a:ext cx="2168957" cy="274320"/>
          </a:xfrm>
          <a:prstGeom prst="roundRect">
            <a:avLst>
              <a:gd name="adj" fmla="val 50000"/>
            </a:avLst>
          </a:prstGeom>
          <a:solidFill>
            <a:srgbClr val="0A0405">
              <a:alpha val="65000"/>
            </a:srgbClr>
          </a:solidFill>
          <a:ln w="9525">
            <a:solidFill>
              <a:srgbClr val="7A3038"/>
            </a:solidFill>
            <a:prstDash val="solid"/>
          </a:ln>
        </p:spPr>
      </p:sp>
      <p:sp>
        <p:nvSpPr>
          <p:cNvPr id="5" name="!!pilltext"/>
          <p:cNvSpPr txBox="1"/>
          <p:nvPr/>
        </p:nvSpPr>
        <p:spPr>
          <a:xfrm>
            <a:off x="548640" y="411480"/>
            <a:ext cx="2168957" cy="274320"/>
          </a:xfrm>
          <a:prstGeom prst="rect">
            <a:avLst/>
          </a:prstGeom>
          <a:noFill/>
          <a:ln/>
        </p:spPr>
        <p:txBody>
          <a:bodyPr wrap="square" lIns="0" tIns="0" rIns="0" bIns="0" rtlCol="0" anchor="ctr"/>
          <a:lstStyle/>
          <a:p>
            <a:pPr algn="ctr" indent="0" marL="0">
              <a:buNone/>
            </a:pPr>
            <a:r>
              <a:rPr lang="en-US" sz="1000" b="1" spc="150" kern="0" dirty="0">
                <a:solidFill>
                  <a:srgbClr val="C9B2AE"/>
                </a:solidFill>
                <a:latin typeface="Arial" pitchFamily="34" charset="0"/>
                <a:ea typeface="Arial" pitchFamily="34" charset="-122"/>
                <a:cs typeface="Arial" pitchFamily="34" charset="-120"/>
              </a:rPr>
              <a:t>03 · MALARIA TODAY</a:t>
            </a:r>
            <a:endParaRPr lang="en-US" sz="1000" dirty="0"/>
          </a:p>
        </p:txBody>
      </p:sp>
      <p:pic>
        <p:nvPicPr>
          <p:cNvPr id="6" name="!!title" descr="Malaria can be defeated">    </p:cNvPr>
          <p:cNvPicPr>
            <a:picLocks noChangeAspect="1"/>
          </p:cNvPicPr>
          <p:nvPr/>
        </p:nvPicPr>
        <p:blipFill>
          <a:blip r:embed="rId3"/>
          <a:stretch>
            <a:fillRect/>
          </a:stretch>
        </p:blipFill>
        <p:spPr>
          <a:xfrm>
            <a:off x="521208" y="822960"/>
            <a:ext cx="8764042" cy="530721"/>
          </a:xfrm>
          <a:prstGeom prst="rect">
            <a:avLst/>
          </a:prstGeom>
        </p:spPr>
      </p:pic>
      <p:pic>
        <p:nvPicPr>
          <p:cNvPr id="7" name="!!crest" descr="MDIS Tashkent crest">    </p:cNvPr>
          <p:cNvPicPr>
            <a:picLocks noChangeAspect="1"/>
          </p:cNvPicPr>
          <p:nvPr/>
        </p:nvPicPr>
        <p:blipFill>
          <a:blip r:embed="rId4"/>
          <a:stretch>
            <a:fillRect/>
          </a:stretch>
        </p:blipFill>
        <p:spPr>
          <a:xfrm>
            <a:off x="11249708" y="384048"/>
            <a:ext cx="393347" cy="384048"/>
          </a:xfrm>
          <a:prstGeom prst="rect">
            <a:avLst/>
          </a:prstGeom>
        </p:spPr>
      </p:pic>
      <p:sp>
        <p:nvSpPr>
          <p:cNvPr id="8" name="Text 2"/>
          <p:cNvSpPr txBox="1"/>
          <p:nvPr/>
        </p:nvSpPr>
        <p:spPr>
          <a:xfrm>
            <a:off x="548640" y="6382512"/>
            <a:ext cx="7863840" cy="256032"/>
          </a:xfrm>
          <a:prstGeom prst="rect">
            <a:avLst/>
          </a:prstGeom>
          <a:noFill/>
          <a:ln/>
        </p:spPr>
        <p:txBody>
          <a:bodyPr wrap="square" lIns="0" tIns="0" rIns="0" bIns="0" rtlCol="0" anchor="ctr"/>
          <a:lstStyle/>
          <a:p>
            <a:pPr indent="0" marL="0">
              <a:buNone/>
            </a:pPr>
            <a:r>
              <a:rPr lang="en-US" sz="1000" dirty="0">
                <a:solidFill>
                  <a:srgbClr val="9C8380"/>
                </a:solidFill>
                <a:latin typeface="Arial" pitchFamily="34" charset="0"/>
                <a:ea typeface="Arial" pitchFamily="34" charset="-122"/>
                <a:cs typeface="Arial" pitchFamily="34" charset="-120"/>
              </a:rPr>
              <a:t>Source: World Health Organization (2018); World Health Organization (2025b)</a:t>
            </a:r>
            <a:endParaRPr lang="en-US" sz="1000" dirty="0"/>
          </a:p>
        </p:txBody>
      </p:sp>
      <p:sp>
        <p:nvSpPr>
          <p:cNvPr id="9" name="Text 3"/>
          <p:cNvSpPr txBox="1"/>
          <p:nvPr/>
        </p:nvSpPr>
        <p:spPr>
          <a:xfrm>
            <a:off x="7802575" y="6382512"/>
            <a:ext cx="3840480" cy="256032"/>
          </a:xfrm>
          <a:prstGeom prst="rect">
            <a:avLst/>
          </a:prstGeom>
          <a:noFill/>
          <a:ln/>
        </p:spPr>
        <p:txBody>
          <a:bodyPr wrap="square" lIns="0" tIns="0" rIns="0" bIns="0" rtlCol="0" anchor="ctr"/>
          <a:lstStyle/>
          <a:p>
            <a:pPr algn="r" indent="0" marL="0">
              <a:buNone/>
            </a:pPr>
            <a:r>
              <a:rPr lang="en-US" sz="1000" b="1" spc="100" kern="0" dirty="0">
                <a:solidFill>
                  <a:srgbClr val="C9B2AE"/>
                </a:solidFill>
                <a:latin typeface="Arial" pitchFamily="34" charset="0"/>
                <a:ea typeface="Arial" pitchFamily="34" charset="-122"/>
                <a:cs typeface="Arial" pitchFamily="34" charset="-120"/>
              </a:rPr>
              <a:t>RAMAZAN BAKIYEV   ·   10 / 16</a:t>
            </a:r>
            <a:endParaRPr lang="en-US" sz="1000" dirty="0"/>
          </a:p>
        </p:txBody>
      </p:sp>
      <p:sp>
        <p:nvSpPr>
          <p:cNvPr id="10" name="fx:1:up:c0"/>
          <p:cNvSpPr/>
          <p:nvPr/>
        </p:nvSpPr>
        <p:spPr>
          <a:xfrm>
            <a:off x="548640" y="1783080"/>
            <a:ext cx="2084832" cy="1463040"/>
          </a:xfrm>
          <a:prstGeom prst="roundRect">
            <a:avLst>
              <a:gd name="adj" fmla="val 5625"/>
            </a:avLst>
          </a:prstGeom>
          <a:solidFill>
            <a:srgbClr val="1C080B">
              <a:alpha val="78000"/>
            </a:srgbClr>
          </a:solidFill>
          <a:ln w="9525">
            <a:solidFill>
              <a:srgbClr val="7A3038"/>
            </a:solidFill>
            <a:prstDash val="solid"/>
          </a:ln>
        </p:spPr>
      </p:sp>
      <p:pic>
        <p:nvPicPr>
          <p:cNvPr id="11" name="fx:1:zoom:n0" descr="2.3 bn">    </p:cNvPr>
          <p:cNvPicPr>
            <a:picLocks noChangeAspect="1"/>
          </p:cNvPicPr>
          <p:nvPr/>
        </p:nvPicPr>
        <p:blipFill>
          <a:blip r:embed="rId5"/>
          <a:stretch>
            <a:fillRect/>
          </a:stretch>
        </p:blipFill>
        <p:spPr>
          <a:xfrm>
            <a:off x="731520" y="1965960"/>
            <a:ext cx="1545282" cy="418802"/>
          </a:xfrm>
          <a:prstGeom prst="rect">
            <a:avLst/>
          </a:prstGeom>
        </p:spPr>
      </p:pic>
      <p:sp>
        <p:nvSpPr>
          <p:cNvPr id="12" name="fx:1:up:l0"/>
          <p:cNvSpPr txBox="1"/>
          <p:nvPr/>
        </p:nvSpPr>
        <p:spPr>
          <a:xfrm>
            <a:off x="731520" y="2560320"/>
            <a:ext cx="1719072" cy="201168"/>
          </a:xfrm>
          <a:prstGeom prst="rect">
            <a:avLst/>
          </a:prstGeom>
          <a:noFill/>
          <a:ln/>
        </p:spPr>
        <p:txBody>
          <a:bodyPr wrap="square" lIns="0" tIns="0" rIns="0" bIns="0" rtlCol="0" anchor="t"/>
          <a:lstStyle/>
          <a:p>
            <a:pPr indent="0" marL="0">
              <a:buNone/>
            </a:pPr>
            <a:r>
              <a:rPr lang="en-US" sz="1000" b="1" spc="150" kern="0" dirty="0">
                <a:solidFill>
                  <a:srgbClr val="E5333D"/>
                </a:solidFill>
                <a:latin typeface="Arial" pitchFamily="34" charset="0"/>
                <a:ea typeface="Arial" pitchFamily="34" charset="-122"/>
                <a:cs typeface="Arial" pitchFamily="34" charset="-120"/>
              </a:rPr>
              <a:t>CASES PREVENTED</a:t>
            </a:r>
            <a:endParaRPr lang="en-US" sz="1000" dirty="0"/>
          </a:p>
        </p:txBody>
      </p:sp>
      <p:sp>
        <p:nvSpPr>
          <p:cNvPr id="13" name="fx:1:up:b0"/>
          <p:cNvSpPr txBox="1"/>
          <p:nvPr/>
        </p:nvSpPr>
        <p:spPr>
          <a:xfrm>
            <a:off x="731520" y="2788920"/>
            <a:ext cx="1719072" cy="384048"/>
          </a:xfrm>
          <a:prstGeom prst="rect">
            <a:avLst/>
          </a:prstGeom>
          <a:noFill/>
          <a:ln/>
        </p:spPr>
        <p:txBody>
          <a:bodyPr wrap="square" lIns="0" tIns="0" rIns="0" bIns="0" rtlCol="0" anchor="t"/>
          <a:lstStyle/>
          <a:p>
            <a:pPr indent="0" marL="0">
              <a:buNone/>
            </a:pPr>
            <a:r>
              <a:rPr lang="en-US" sz="1100" dirty="0">
                <a:solidFill>
                  <a:srgbClr val="C9B2AE"/>
                </a:solidFill>
                <a:latin typeface="Arial" pitchFamily="34" charset="0"/>
                <a:ea typeface="Arial" pitchFamily="34" charset="-122"/>
                <a:cs typeface="Arial" pitchFamily="34" charset="-120"/>
              </a:rPr>
              <a:t>since 2000</a:t>
            </a:r>
            <a:endParaRPr lang="en-US" sz="1100" dirty="0"/>
          </a:p>
        </p:txBody>
      </p:sp>
      <p:sp>
        <p:nvSpPr>
          <p:cNvPr id="14" name="fx:2:up:c1"/>
          <p:cNvSpPr/>
          <p:nvPr/>
        </p:nvSpPr>
        <p:spPr>
          <a:xfrm>
            <a:off x="2798064" y="1783080"/>
            <a:ext cx="2084832" cy="1463040"/>
          </a:xfrm>
          <a:prstGeom prst="roundRect">
            <a:avLst>
              <a:gd name="adj" fmla="val 5625"/>
            </a:avLst>
          </a:prstGeom>
          <a:solidFill>
            <a:srgbClr val="1C080B">
              <a:alpha val="78000"/>
            </a:srgbClr>
          </a:solidFill>
          <a:ln w="9525">
            <a:solidFill>
              <a:srgbClr val="7A3038"/>
            </a:solidFill>
            <a:prstDash val="solid"/>
          </a:ln>
        </p:spPr>
      </p:sp>
      <p:pic>
        <p:nvPicPr>
          <p:cNvPr id="15" name="fx:2:zoom:n1" descr="14 M">    </p:cNvPr>
          <p:cNvPicPr>
            <a:picLocks noChangeAspect="1"/>
          </p:cNvPicPr>
          <p:nvPr/>
        </p:nvPicPr>
        <p:blipFill>
          <a:blip r:embed="rId6"/>
          <a:stretch>
            <a:fillRect/>
          </a:stretch>
        </p:blipFill>
        <p:spPr>
          <a:xfrm>
            <a:off x="2980944" y="1965960"/>
            <a:ext cx="1104156" cy="418802"/>
          </a:xfrm>
          <a:prstGeom prst="rect">
            <a:avLst/>
          </a:prstGeom>
        </p:spPr>
      </p:pic>
      <p:sp>
        <p:nvSpPr>
          <p:cNvPr id="16" name="fx:2:up:l1"/>
          <p:cNvSpPr txBox="1"/>
          <p:nvPr/>
        </p:nvSpPr>
        <p:spPr>
          <a:xfrm>
            <a:off x="2980944" y="2560320"/>
            <a:ext cx="1719072" cy="201168"/>
          </a:xfrm>
          <a:prstGeom prst="rect">
            <a:avLst/>
          </a:prstGeom>
          <a:noFill/>
          <a:ln/>
        </p:spPr>
        <p:txBody>
          <a:bodyPr wrap="square" lIns="0" tIns="0" rIns="0" bIns="0" rtlCol="0" anchor="t"/>
          <a:lstStyle/>
          <a:p>
            <a:pPr indent="0" marL="0">
              <a:buNone/>
            </a:pPr>
            <a:r>
              <a:rPr lang="en-US" sz="1000" b="1" spc="150" kern="0" dirty="0">
                <a:solidFill>
                  <a:srgbClr val="E5333D"/>
                </a:solidFill>
                <a:latin typeface="Arial" pitchFamily="34" charset="0"/>
                <a:ea typeface="Arial" pitchFamily="34" charset="-122"/>
                <a:cs typeface="Arial" pitchFamily="34" charset="-120"/>
              </a:rPr>
              <a:t>DEATHS PREVENTED</a:t>
            </a:r>
            <a:endParaRPr lang="en-US" sz="1000" dirty="0"/>
          </a:p>
        </p:txBody>
      </p:sp>
      <p:sp>
        <p:nvSpPr>
          <p:cNvPr id="17" name="fx:2:up:b1"/>
          <p:cNvSpPr txBox="1"/>
          <p:nvPr/>
        </p:nvSpPr>
        <p:spPr>
          <a:xfrm>
            <a:off x="2980944" y="2788920"/>
            <a:ext cx="1719072" cy="384048"/>
          </a:xfrm>
          <a:prstGeom prst="rect">
            <a:avLst/>
          </a:prstGeom>
          <a:noFill/>
          <a:ln/>
        </p:spPr>
        <p:txBody>
          <a:bodyPr wrap="square" lIns="0" tIns="0" rIns="0" bIns="0" rtlCol="0" anchor="t"/>
          <a:lstStyle/>
          <a:p>
            <a:pPr indent="0" marL="0">
              <a:buNone/>
            </a:pPr>
            <a:r>
              <a:rPr lang="en-US" sz="1100" dirty="0">
                <a:solidFill>
                  <a:srgbClr val="C9B2AE"/>
                </a:solidFill>
                <a:latin typeface="Arial" pitchFamily="34" charset="0"/>
                <a:ea typeface="Arial" pitchFamily="34" charset="-122"/>
                <a:cs typeface="Arial" pitchFamily="34" charset="-120"/>
              </a:rPr>
              <a:t>since 2000</a:t>
            </a:r>
            <a:endParaRPr lang="en-US" sz="1100" dirty="0"/>
          </a:p>
        </p:txBody>
      </p:sp>
      <p:sp>
        <p:nvSpPr>
          <p:cNvPr id="18" name="fx:3:up:c2"/>
          <p:cNvSpPr/>
          <p:nvPr/>
        </p:nvSpPr>
        <p:spPr>
          <a:xfrm>
            <a:off x="5047488" y="1783080"/>
            <a:ext cx="2084832" cy="1463040"/>
          </a:xfrm>
          <a:prstGeom prst="roundRect">
            <a:avLst>
              <a:gd name="adj" fmla="val 5625"/>
            </a:avLst>
          </a:prstGeom>
          <a:solidFill>
            <a:srgbClr val="1C080B">
              <a:alpha val="78000"/>
            </a:srgbClr>
          </a:solidFill>
          <a:ln w="9525">
            <a:solidFill>
              <a:srgbClr val="7A3038"/>
            </a:solidFill>
            <a:prstDash val="solid"/>
          </a:ln>
        </p:spPr>
      </p:sp>
      <p:pic>
        <p:nvPicPr>
          <p:cNvPr id="19" name="fx:3:zoom:n2" descr="47 + 1">    </p:cNvPr>
          <p:cNvPicPr>
            <a:picLocks noChangeAspect="1"/>
          </p:cNvPicPr>
          <p:nvPr/>
        </p:nvPicPr>
        <p:blipFill>
          <a:blip r:embed="rId7"/>
          <a:stretch>
            <a:fillRect/>
          </a:stretch>
        </p:blipFill>
        <p:spPr>
          <a:xfrm>
            <a:off x="5230368" y="1965960"/>
            <a:ext cx="1336179" cy="418802"/>
          </a:xfrm>
          <a:prstGeom prst="rect">
            <a:avLst/>
          </a:prstGeom>
        </p:spPr>
      </p:pic>
      <p:sp>
        <p:nvSpPr>
          <p:cNvPr id="20" name="fx:3:up:l2"/>
          <p:cNvSpPr txBox="1"/>
          <p:nvPr/>
        </p:nvSpPr>
        <p:spPr>
          <a:xfrm>
            <a:off x="5230368" y="2560320"/>
            <a:ext cx="1719072" cy="201168"/>
          </a:xfrm>
          <a:prstGeom prst="rect">
            <a:avLst/>
          </a:prstGeom>
          <a:noFill/>
          <a:ln/>
        </p:spPr>
        <p:txBody>
          <a:bodyPr wrap="square" lIns="0" tIns="0" rIns="0" bIns="0" rtlCol="0" anchor="t"/>
          <a:lstStyle/>
          <a:p>
            <a:pPr indent="0" marL="0">
              <a:buNone/>
            </a:pPr>
            <a:r>
              <a:rPr lang="en-US" sz="1000" b="1" spc="150" kern="0" dirty="0">
                <a:solidFill>
                  <a:srgbClr val="E5333D"/>
                </a:solidFill>
                <a:latin typeface="Arial" pitchFamily="34" charset="0"/>
                <a:ea typeface="Arial" pitchFamily="34" charset="-122"/>
                <a:cs typeface="Arial" pitchFamily="34" charset="-120"/>
              </a:rPr>
              <a:t>MALARIA-FREE</a:t>
            </a:r>
            <a:endParaRPr lang="en-US" sz="1000" dirty="0"/>
          </a:p>
        </p:txBody>
      </p:sp>
      <p:sp>
        <p:nvSpPr>
          <p:cNvPr id="21" name="fx:3:up:b2"/>
          <p:cNvSpPr txBox="1"/>
          <p:nvPr/>
        </p:nvSpPr>
        <p:spPr>
          <a:xfrm>
            <a:off x="5230368" y="2788920"/>
            <a:ext cx="1719072" cy="384048"/>
          </a:xfrm>
          <a:prstGeom prst="rect">
            <a:avLst/>
          </a:prstGeom>
          <a:noFill/>
          <a:ln/>
        </p:spPr>
        <p:txBody>
          <a:bodyPr wrap="square" lIns="0" tIns="0" rIns="0" bIns="0" rtlCol="0" anchor="t"/>
          <a:lstStyle/>
          <a:p>
            <a:pPr indent="0" marL="0">
              <a:buNone/>
            </a:pPr>
            <a:r>
              <a:rPr lang="en-US" sz="1100" dirty="0">
                <a:solidFill>
                  <a:srgbClr val="C9B2AE"/>
                </a:solidFill>
                <a:latin typeface="Arial" pitchFamily="34" charset="0"/>
                <a:ea typeface="Arial" pitchFamily="34" charset="-122"/>
                <a:cs typeface="Arial" pitchFamily="34" charset="-120"/>
              </a:rPr>
              <a:t>countries + territory, WHO-certified</a:t>
            </a:r>
            <a:endParaRPr lang="en-US" sz="1100" dirty="0"/>
          </a:p>
        </p:txBody>
      </p:sp>
      <p:sp>
        <p:nvSpPr>
          <p:cNvPr id="22" name="fx:4:up:uz"/>
          <p:cNvSpPr/>
          <p:nvPr/>
        </p:nvSpPr>
        <p:spPr>
          <a:xfrm>
            <a:off x="548640" y="3429000"/>
            <a:ext cx="6583680" cy="2560320"/>
          </a:xfrm>
          <a:prstGeom prst="roundRect">
            <a:avLst>
              <a:gd name="adj" fmla="val 3214"/>
            </a:avLst>
          </a:prstGeom>
          <a:solidFill>
            <a:srgbClr val="1C080B">
              <a:alpha val="78000"/>
            </a:srgbClr>
          </a:solidFill>
          <a:ln w="9525">
            <a:solidFill>
              <a:srgbClr val="7A3038"/>
            </a:solidFill>
            <a:prstDash val="solid"/>
          </a:ln>
        </p:spPr>
      </p:sp>
      <p:sp>
        <p:nvSpPr>
          <p:cNvPr id="23" name="fx:4:up:uzt"/>
          <p:cNvSpPr txBox="1"/>
          <p:nvPr/>
        </p:nvSpPr>
        <p:spPr>
          <a:xfrm>
            <a:off x="822960" y="3630168"/>
            <a:ext cx="6035040" cy="237744"/>
          </a:xfrm>
          <a:prstGeom prst="rect">
            <a:avLst/>
          </a:prstGeom>
          <a:noFill/>
          <a:ln/>
        </p:spPr>
        <p:txBody>
          <a:bodyPr wrap="square" lIns="0" tIns="0" rIns="0" bIns="0" rtlCol="0" anchor="t"/>
          <a:lstStyle/>
          <a:p>
            <a:pPr indent="0" marL="0">
              <a:buNone/>
            </a:pPr>
            <a:r>
              <a:rPr lang="en-US" sz="1100" b="1" spc="200" kern="0" dirty="0">
                <a:solidFill>
                  <a:srgbClr val="E5333D"/>
                </a:solidFill>
                <a:latin typeface="Arial" pitchFamily="34" charset="0"/>
                <a:ea typeface="Arial" pitchFamily="34" charset="-122"/>
                <a:cs typeface="Arial" pitchFamily="34" charset="-120"/>
              </a:rPr>
              <a:t>UZBEKISTAN: OUR OWN SUCCESS STORY</a:t>
            </a:r>
            <a:endParaRPr lang="en-US" sz="1100" dirty="0"/>
          </a:p>
        </p:txBody>
      </p:sp>
      <p:sp>
        <p:nvSpPr>
          <p:cNvPr id="24" name="fx:5:wipe:uzline"/>
          <p:cNvSpPr/>
          <p:nvPr/>
        </p:nvSpPr>
        <p:spPr>
          <a:xfrm>
            <a:off x="1417320" y="4572000"/>
            <a:ext cx="4846320" cy="0"/>
          </a:xfrm>
          <a:prstGeom prst="line">
            <a:avLst/>
          </a:prstGeom>
          <a:noFill/>
          <a:ln w="12700">
            <a:solidFill>
              <a:srgbClr val="7A3038"/>
            </a:solidFill>
            <a:prstDash val="solid"/>
          </a:ln>
        </p:spPr>
      </p:sp>
      <p:sp>
        <p:nvSpPr>
          <p:cNvPr id="25" name="fx:5.5:zoom:dot0"/>
          <p:cNvSpPr/>
          <p:nvPr/>
        </p:nvSpPr>
        <p:spPr>
          <a:xfrm>
            <a:off x="1344168" y="4498848"/>
            <a:ext cx="146304" cy="146304"/>
          </a:xfrm>
          <a:prstGeom prst="ellipse">
            <a:avLst/>
          </a:prstGeom>
          <a:solidFill>
            <a:srgbClr val="F4ECE8"/>
          </a:solidFill>
          <a:ln w="9525">
            <a:solidFill>
              <a:srgbClr val="E5333D"/>
            </a:solidFill>
            <a:prstDash val="solid"/>
          </a:ln>
        </p:spPr>
      </p:sp>
      <p:pic>
        <p:nvPicPr>
          <p:cNvPr id="26" name="fx:5.5:up:yr0" descr="1961">    </p:cNvPr>
          <p:cNvPicPr>
            <a:picLocks noChangeAspect="1"/>
          </p:cNvPicPr>
          <p:nvPr/>
        </p:nvPicPr>
        <p:blipFill>
          <a:blip r:embed="rId8"/>
          <a:stretch>
            <a:fillRect/>
          </a:stretch>
        </p:blipFill>
        <p:spPr>
          <a:xfrm>
            <a:off x="1064449" y="3995928"/>
            <a:ext cx="705743" cy="265212"/>
          </a:xfrm>
          <a:prstGeom prst="rect">
            <a:avLst/>
          </a:prstGeom>
        </p:spPr>
      </p:pic>
      <p:sp>
        <p:nvSpPr>
          <p:cNvPr id="27" name="fx:5.5:up:st0"/>
          <p:cNvSpPr txBox="1"/>
          <p:nvPr/>
        </p:nvSpPr>
        <p:spPr>
          <a:xfrm>
            <a:off x="640080" y="4754880"/>
            <a:ext cx="1554480" cy="457200"/>
          </a:xfrm>
          <a:prstGeom prst="rect">
            <a:avLst/>
          </a:prstGeom>
          <a:noFill/>
          <a:ln/>
        </p:spPr>
        <p:txBody>
          <a:bodyPr wrap="square" lIns="0" tIns="0" rIns="0" bIns="0" rtlCol="0" anchor="t"/>
          <a:lstStyle/>
          <a:p>
            <a:pPr algn="ctr" indent="0" marL="0">
              <a:buNone/>
            </a:pPr>
            <a:r>
              <a:rPr lang="en-US" sz="1100" dirty="0">
                <a:solidFill>
                  <a:srgbClr val="F4ECE8"/>
                </a:solidFill>
                <a:latin typeface="Arial" pitchFamily="34" charset="0"/>
                <a:ea typeface="Arial" pitchFamily="34" charset="-122"/>
                <a:cs typeface="Arial" pitchFamily="34" charset="-120"/>
              </a:rPr>
              <a:t>First elimination</a:t>
            </a:r>
            <a:endParaRPr lang="en-US" sz="1100" dirty="0"/>
          </a:p>
        </p:txBody>
      </p:sp>
      <p:sp>
        <p:nvSpPr>
          <p:cNvPr id="28" name="fx:6:zoom:dot1"/>
          <p:cNvSpPr/>
          <p:nvPr/>
        </p:nvSpPr>
        <p:spPr>
          <a:xfrm>
            <a:off x="2959608" y="4498848"/>
            <a:ext cx="146304" cy="146304"/>
          </a:xfrm>
          <a:prstGeom prst="ellipse">
            <a:avLst/>
          </a:prstGeom>
          <a:solidFill>
            <a:srgbClr val="F4ECE8"/>
          </a:solidFill>
          <a:ln w="9525">
            <a:solidFill>
              <a:srgbClr val="E5333D"/>
            </a:solidFill>
            <a:prstDash val="solid"/>
          </a:ln>
        </p:spPr>
      </p:sp>
      <p:pic>
        <p:nvPicPr>
          <p:cNvPr id="29" name="fx:6:up:yr1" descr="2005">    </p:cNvPr>
          <p:cNvPicPr>
            <a:picLocks noChangeAspect="1"/>
          </p:cNvPicPr>
          <p:nvPr/>
        </p:nvPicPr>
        <p:blipFill>
          <a:blip r:embed="rId9"/>
          <a:stretch>
            <a:fillRect/>
          </a:stretch>
        </p:blipFill>
        <p:spPr>
          <a:xfrm>
            <a:off x="2660466" y="3995928"/>
            <a:ext cx="744587" cy="265212"/>
          </a:xfrm>
          <a:prstGeom prst="rect">
            <a:avLst/>
          </a:prstGeom>
        </p:spPr>
      </p:pic>
      <p:sp>
        <p:nvSpPr>
          <p:cNvPr id="30" name="fx:6:up:st1"/>
          <p:cNvSpPr txBox="1"/>
          <p:nvPr/>
        </p:nvSpPr>
        <p:spPr>
          <a:xfrm>
            <a:off x="2255520" y="4754880"/>
            <a:ext cx="1554480" cy="457200"/>
          </a:xfrm>
          <a:prstGeom prst="rect">
            <a:avLst/>
          </a:prstGeom>
          <a:noFill/>
          <a:ln/>
        </p:spPr>
        <p:txBody>
          <a:bodyPr wrap="square" lIns="0" tIns="0" rIns="0" bIns="0" rtlCol="0" anchor="t"/>
          <a:lstStyle/>
          <a:p>
            <a:pPr algn="ctr" indent="0" marL="0">
              <a:buNone/>
            </a:pPr>
            <a:r>
              <a:rPr lang="en-US" sz="1100" dirty="0">
                <a:solidFill>
                  <a:srgbClr val="F4ECE8"/>
                </a:solidFill>
                <a:latin typeface="Arial" pitchFamily="34" charset="0"/>
                <a:ea typeface="Arial" pitchFamily="34" charset="-122"/>
                <a:cs typeface="Arial" pitchFamily="34" charset="-120"/>
              </a:rPr>
              <a:t>Tashkent Declaration</a:t>
            </a:r>
            <a:endParaRPr lang="en-US" sz="1100" dirty="0"/>
          </a:p>
        </p:txBody>
      </p:sp>
      <p:sp>
        <p:nvSpPr>
          <p:cNvPr id="31" name="fx:6.5:zoom:dot2"/>
          <p:cNvSpPr/>
          <p:nvPr/>
        </p:nvSpPr>
        <p:spPr>
          <a:xfrm>
            <a:off x="4575048" y="4498848"/>
            <a:ext cx="146304" cy="146304"/>
          </a:xfrm>
          <a:prstGeom prst="ellipse">
            <a:avLst/>
          </a:prstGeom>
          <a:solidFill>
            <a:srgbClr val="F4ECE8"/>
          </a:solidFill>
          <a:ln w="9525">
            <a:solidFill>
              <a:srgbClr val="E5333D"/>
            </a:solidFill>
            <a:prstDash val="solid"/>
          </a:ln>
        </p:spPr>
      </p:sp>
      <p:pic>
        <p:nvPicPr>
          <p:cNvPr id="32" name="fx:6.5:up:yr2" descr="2010">    </p:cNvPr>
          <p:cNvPicPr>
            <a:picLocks noChangeAspect="1"/>
          </p:cNvPicPr>
          <p:nvPr/>
        </p:nvPicPr>
        <p:blipFill>
          <a:blip r:embed="rId10"/>
          <a:stretch>
            <a:fillRect/>
          </a:stretch>
        </p:blipFill>
        <p:spPr>
          <a:xfrm>
            <a:off x="4286771" y="3995928"/>
            <a:ext cx="722858" cy="265212"/>
          </a:xfrm>
          <a:prstGeom prst="rect">
            <a:avLst/>
          </a:prstGeom>
        </p:spPr>
      </p:pic>
      <p:sp>
        <p:nvSpPr>
          <p:cNvPr id="33" name="fx:6.5:up:st2"/>
          <p:cNvSpPr txBox="1"/>
          <p:nvPr/>
        </p:nvSpPr>
        <p:spPr>
          <a:xfrm>
            <a:off x="3870960" y="4754880"/>
            <a:ext cx="1554480" cy="457200"/>
          </a:xfrm>
          <a:prstGeom prst="rect">
            <a:avLst/>
          </a:prstGeom>
          <a:noFill/>
          <a:ln/>
        </p:spPr>
        <p:txBody>
          <a:bodyPr wrap="square" lIns="0" tIns="0" rIns="0" bIns="0" rtlCol="0" anchor="t"/>
          <a:lstStyle/>
          <a:p>
            <a:pPr algn="ctr" indent="0" marL="0">
              <a:buNone/>
            </a:pPr>
            <a:r>
              <a:rPr lang="en-US" sz="1100" dirty="0">
                <a:solidFill>
                  <a:srgbClr val="F4ECE8"/>
                </a:solidFill>
                <a:latin typeface="Arial" pitchFamily="34" charset="0"/>
                <a:ea typeface="Arial" pitchFamily="34" charset="-122"/>
                <a:cs typeface="Arial" pitchFamily="34" charset="-120"/>
              </a:rPr>
              <a:t>Last local cases</a:t>
            </a:r>
            <a:endParaRPr lang="en-US" sz="1100" dirty="0"/>
          </a:p>
        </p:txBody>
      </p:sp>
      <p:sp>
        <p:nvSpPr>
          <p:cNvPr id="34" name="fx:7:zoom:dot3"/>
          <p:cNvSpPr/>
          <p:nvPr/>
        </p:nvSpPr>
        <p:spPr>
          <a:xfrm>
            <a:off x="6190488" y="4498848"/>
            <a:ext cx="146304" cy="146304"/>
          </a:xfrm>
          <a:prstGeom prst="ellipse">
            <a:avLst/>
          </a:prstGeom>
          <a:solidFill>
            <a:srgbClr val="E5333D"/>
          </a:solidFill>
          <a:ln w="9525">
            <a:solidFill>
              <a:srgbClr val="E5333D"/>
            </a:solidFill>
            <a:prstDash val="solid"/>
          </a:ln>
        </p:spPr>
      </p:sp>
      <p:pic>
        <p:nvPicPr>
          <p:cNvPr id="35" name="fx:7:up:yr3" descr="2018">    </p:cNvPr>
          <p:cNvPicPr>
            <a:picLocks noChangeAspect="1"/>
          </p:cNvPicPr>
          <p:nvPr/>
        </p:nvPicPr>
        <p:blipFill>
          <a:blip r:embed="rId11"/>
          <a:stretch>
            <a:fillRect/>
          </a:stretch>
        </p:blipFill>
        <p:spPr>
          <a:xfrm>
            <a:off x="5900127" y="3995928"/>
            <a:ext cx="727025" cy="265212"/>
          </a:xfrm>
          <a:prstGeom prst="rect">
            <a:avLst/>
          </a:prstGeom>
        </p:spPr>
      </p:pic>
      <p:sp>
        <p:nvSpPr>
          <p:cNvPr id="36" name="fx:7:up:st3"/>
          <p:cNvSpPr txBox="1"/>
          <p:nvPr/>
        </p:nvSpPr>
        <p:spPr>
          <a:xfrm>
            <a:off x="5486400" y="4754880"/>
            <a:ext cx="1554480" cy="457200"/>
          </a:xfrm>
          <a:prstGeom prst="rect">
            <a:avLst/>
          </a:prstGeom>
          <a:noFill/>
          <a:ln/>
        </p:spPr>
        <p:txBody>
          <a:bodyPr wrap="square" lIns="0" tIns="0" rIns="0" bIns="0" rtlCol="0" anchor="t"/>
          <a:lstStyle/>
          <a:p>
            <a:pPr algn="ctr" indent="0" marL="0">
              <a:buNone/>
            </a:pPr>
            <a:r>
              <a:rPr lang="en-US" sz="1100" dirty="0">
                <a:solidFill>
                  <a:srgbClr val="F4ECE8"/>
                </a:solidFill>
                <a:latin typeface="Arial" pitchFamily="34" charset="0"/>
                <a:ea typeface="Arial" pitchFamily="34" charset="-122"/>
                <a:cs typeface="Arial" pitchFamily="34" charset="-120"/>
              </a:rPr>
              <a:t>WHO certificate, 7 Dec</a:t>
            </a:r>
            <a:endParaRPr lang="en-US" sz="1100" dirty="0"/>
          </a:p>
        </p:txBody>
      </p:sp>
      <p:sp>
        <p:nvSpPr>
          <p:cNvPr id="37" name="fx:8:fade:surx"/>
          <p:cNvSpPr txBox="1"/>
          <p:nvPr/>
        </p:nvSpPr>
        <p:spPr>
          <a:xfrm>
            <a:off x="822960" y="5440680"/>
            <a:ext cx="6035040" cy="292608"/>
          </a:xfrm>
          <a:prstGeom prst="rect">
            <a:avLst/>
          </a:prstGeom>
          <a:noFill/>
          <a:ln/>
        </p:spPr>
        <p:txBody>
          <a:bodyPr wrap="square" lIns="0" tIns="0" rIns="0" bIns="0" rtlCol="0" anchor="t"/>
          <a:lstStyle/>
          <a:p>
            <a:pPr indent="0" marL="0">
              <a:buNone/>
            </a:pPr>
            <a:r>
              <a:rPr lang="en-US" sz="1200" dirty="0">
                <a:solidFill>
                  <a:srgbClr val="C9B2AE"/>
                </a:solidFill>
                <a:latin typeface="Arial" pitchFamily="34" charset="0"/>
                <a:ea typeface="Arial" pitchFamily="34" charset="-122"/>
                <a:cs typeface="Arial" pitchFamily="34" charset="-120"/>
              </a:rPr>
              <a:t>Surkhandarya, the most affected province: </a:t>
            </a:r>
            <a:pPr indent="0" marL="0">
              <a:buNone/>
            </a:pPr>
            <a:r>
              <a:rPr lang="en-US" sz="1200" b="1" dirty="0">
                <a:solidFill>
                  <a:srgbClr val="F4ECE8"/>
                </a:solidFill>
                <a:latin typeface="Arial" pitchFamily="34" charset="0"/>
                <a:ea typeface="Arial" pitchFamily="34" charset="-122"/>
                <a:cs typeface="Arial" pitchFamily="34" charset="-120"/>
              </a:rPr>
              <a:t>81 cases in 2007 → 0</a:t>
            </a:r>
            <a:endParaRPr lang="en-US" sz="1200" dirty="0"/>
          </a:p>
        </p:txBody>
      </p:sp>
      <p:pic>
        <p:nvPicPr>
          <p:cNvPr id="38" name="!!disc" descr="Red blood cell">    </p:cNvPr>
          <p:cNvPicPr>
            <a:picLocks noChangeAspect="1"/>
          </p:cNvPicPr>
          <p:nvPr/>
        </p:nvPicPr>
        <p:blipFill>
          <a:blip r:embed="rId12"/>
          <a:stretch>
            <a:fillRect/>
          </a:stretch>
        </p:blipFill>
        <p:spPr>
          <a:xfrm>
            <a:off x="9006840" y="1143000"/>
            <a:ext cx="2514600" cy="2514600"/>
          </a:xfrm>
          <a:prstGeom prst="rect">
            <a:avLst/>
          </a:prstGeom>
        </p:spPr>
      </p:pic>
      <p:pic>
        <p:nvPicPr>
          <p:cNvPr id="39" name="fx:9:zoom:disctext" descr="Malaria- free since 2018">    </p:cNvPr>
          <p:cNvPicPr>
            <a:picLocks noChangeAspect="1"/>
          </p:cNvPicPr>
          <p:nvPr/>
        </p:nvPicPr>
        <p:blipFill>
          <a:blip r:embed="rId13"/>
          <a:stretch>
            <a:fillRect/>
          </a:stretch>
        </p:blipFill>
        <p:spPr>
          <a:xfrm>
            <a:off x="9426386" y="2037531"/>
            <a:ext cx="1675507" cy="72553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42" presetClass="entr" presetSubtype="0" fill="hold" grpId="0" nodeType="afterEffect">
                                  <p:stCondLst>
                                    <p:cond delay="15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550"/>
                                        <p:tgtEl>
                                          <p:spTgt spid="10"/>
                                        </p:tgtEl>
                                      </p:cBhvr>
                                    </p:animEffect>
                                    <p:anim calcmode="lin" valueType="num">
                                      <p:cBhvr>
                                        <p:cTn id="8" dur="550" decel="100000" fill="hold"/>
                                        <p:tgtEl>
                                          <p:spTgt spid="10"/>
                                        </p:tgtEl>
                                        <p:attrNameLst>
                                          <p:attrName>ppt_x</p:attrName>
                                        </p:attrNameLst>
                                      </p:cBhvr>
                                      <p:tavLst>
                                        <p:tav tm="0">
                                          <p:val>
                                            <p:strVal val="#ppt_x"/>
                                          </p:val>
                                        </p:tav>
                                        <p:tav tm="100000">
                                          <p:val>
                                            <p:strVal val="#ppt_x"/>
                                          </p:val>
                                        </p:tav>
                                      </p:tavLst>
                                    </p:anim>
                                    <p:anim calcmode="lin" valueType="num">
                                      <p:cBhvr>
                                        <p:cTn id="9" dur="550" decel="100000" fill="hold"/>
                                        <p:tgtEl>
                                          <p:spTgt spid="10"/>
                                        </p:tgtEl>
                                        <p:attrNameLst>
                                          <p:attrName>ppt_y</p:attrName>
                                        </p:attrNameLst>
                                      </p:cBhvr>
                                      <p:tavLst>
                                        <p:tav tm="0">
                                          <p:val>
                                            <p:strVal val="#ppt_y+0.04"/>
                                          </p:val>
                                        </p:tav>
                                        <p:tav tm="100000">
                                          <p:val>
                                            <p:strVal val="#ppt_y"/>
                                          </p:val>
                                        </p:tav>
                                      </p:tavLst>
                                    </p:anim>
                                  </p:childTnLst>
                                </p:cTn>
                              </p:par>
                              <p:par>
                                <p:cTn id="12" presetID="53" presetClass="entr" presetSubtype="16" fill="hold" grpId="0" nodeType="withEffect">
                                  <p:stCondLst>
                                    <p:cond delay="150"/>
                                  </p:stCondLst>
                                  <p:childTnLst>
                                    <p:set>
                                      <p:cBhvr>
                                        <p:cTn id="10" dur="1" fill="hold">
                                          <p:stCondLst>
                                            <p:cond delay="0"/>
                                          </p:stCondLst>
                                        </p:cTn>
                                        <p:tgtEl>
                                          <p:spTgt spid="11"/>
                                        </p:tgtEl>
                                        <p:attrNameLst>
                                          <p:attrName>style.visibility</p:attrName>
                                        </p:attrNameLst>
                                      </p:cBhvr>
                                      <p:to>
                                        <p:strVal val="visible"/>
                                      </p:to>
                                    </p:set>
                                    <p:anim calcmode="lin" valueType="num">
                                      <p:cBhvr>
                                        <p:cTn id="13" dur="600" decel="100000" fill="hold"/>
                                        <p:tgtEl>
                                          <p:spTgt spid="11"/>
                                        </p:tgtEl>
                                        <p:attrNameLst>
                                          <p:attrName>ppt_w</p:attrName>
                                        </p:attrNameLst>
                                      </p:cBhvr>
                                      <p:tavLst>
                                        <p:tav tm="0">
                                          <p:val>
                                            <p:strVal val="#ppt_w*0.7"/>
                                          </p:val>
                                        </p:tav>
                                        <p:tav tm="100000">
                                          <p:val>
                                            <p:strVal val="#ppt_w"/>
                                          </p:val>
                                        </p:tav>
                                      </p:tavLst>
                                    </p:anim>
                                    <p:anim calcmode="lin" valueType="num">
                                      <p:cBhvr>
                                        <p:cTn id="14" dur="600" decel="100000" fill="hold"/>
                                        <p:tgtEl>
                                          <p:spTgt spid="11"/>
                                        </p:tgtEl>
                                        <p:attrNameLst>
                                          <p:attrName>ppt_h</p:attrName>
                                        </p:attrNameLst>
                                      </p:cBhvr>
                                      <p:tavLst>
                                        <p:tav tm="0">
                                          <p:val>
                                            <p:strVal val="#ppt_h*0.7"/>
                                          </p:val>
                                        </p:tav>
                                        <p:tav tm="100000">
                                          <p:val>
                                            <p:strVal val="#ppt_h"/>
                                          </p:val>
                                        </p:tav>
                                      </p:tavLst>
                                    </p:anim>
                                    <p:animEffect transition="in" filter="fade">
                                      <p:cBhvr>
                                        <p:cTn id="11" dur="600"/>
                                        <p:tgtEl>
                                          <p:spTgt spid="11"/>
                                        </p:tgtEl>
                                      </p:cBhvr>
                                    </p:animEffect>
                                  </p:childTnLst>
                                </p:cTn>
                              </p:par>
                              <p:par>
                                <p:cTn id="17" presetID="42" presetClass="entr" presetSubtype="0" fill="hold" grpId="0" nodeType="withEffect">
                                  <p:stCondLst>
                                    <p:cond delay="15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50"/>
                                        <p:tgtEl>
                                          <p:spTgt spid="12"/>
                                        </p:tgtEl>
                                      </p:cBhvr>
                                    </p:animEffect>
                                    <p:anim calcmode="lin" valueType="num">
                                      <p:cBhvr>
                                        <p:cTn id="18" dur="550" decel="100000" fill="hold"/>
                                        <p:tgtEl>
                                          <p:spTgt spid="12"/>
                                        </p:tgtEl>
                                        <p:attrNameLst>
                                          <p:attrName>ppt_x</p:attrName>
                                        </p:attrNameLst>
                                      </p:cBhvr>
                                      <p:tavLst>
                                        <p:tav tm="0">
                                          <p:val>
                                            <p:strVal val="#ppt_x"/>
                                          </p:val>
                                        </p:tav>
                                        <p:tav tm="100000">
                                          <p:val>
                                            <p:strVal val="#ppt_x"/>
                                          </p:val>
                                        </p:tav>
                                      </p:tavLst>
                                    </p:anim>
                                    <p:anim calcmode="lin" valueType="num">
                                      <p:cBhvr>
                                        <p:cTn id="19" dur="550" decel="100000" fill="hold"/>
                                        <p:tgtEl>
                                          <p:spTgt spid="12"/>
                                        </p:tgtEl>
                                        <p:attrNameLst>
                                          <p:attrName>ppt_y</p:attrName>
                                        </p:attrNameLst>
                                      </p:cBhvr>
                                      <p:tavLst>
                                        <p:tav tm="0">
                                          <p:val>
                                            <p:strVal val="#ppt_y+0.04"/>
                                          </p:val>
                                        </p:tav>
                                        <p:tav tm="100000">
                                          <p:val>
                                            <p:strVal val="#ppt_y"/>
                                          </p:val>
                                        </p:tav>
                                      </p:tavLst>
                                    </p:anim>
                                  </p:childTnLst>
                                </p:cTn>
                              </p:par>
                              <p:par>
                                <p:cTn id="22" presetID="42" presetClass="entr" presetSubtype="0" fill="hold" grpId="0" nodeType="withEffect">
                                  <p:stCondLst>
                                    <p:cond delay="15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50"/>
                                        <p:tgtEl>
                                          <p:spTgt spid="13"/>
                                        </p:tgtEl>
                                      </p:cBhvr>
                                    </p:animEffect>
                                    <p:anim calcmode="lin" valueType="num">
                                      <p:cBhvr>
                                        <p:cTn id="23" dur="550" decel="100000" fill="hold"/>
                                        <p:tgtEl>
                                          <p:spTgt spid="13"/>
                                        </p:tgtEl>
                                        <p:attrNameLst>
                                          <p:attrName>ppt_x</p:attrName>
                                        </p:attrNameLst>
                                      </p:cBhvr>
                                      <p:tavLst>
                                        <p:tav tm="0">
                                          <p:val>
                                            <p:strVal val="#ppt_x"/>
                                          </p:val>
                                        </p:tav>
                                        <p:tav tm="100000">
                                          <p:val>
                                            <p:strVal val="#ppt_x"/>
                                          </p:val>
                                        </p:tav>
                                      </p:tavLst>
                                    </p:anim>
                                    <p:anim calcmode="lin" valueType="num">
                                      <p:cBhvr>
                                        <p:cTn id="24" dur="550" decel="100000" fill="hold"/>
                                        <p:tgtEl>
                                          <p:spTgt spid="13"/>
                                        </p:tgtEl>
                                        <p:attrNameLst>
                                          <p:attrName>ppt_y</p:attrName>
                                        </p:attrNameLst>
                                      </p:cBhvr>
                                      <p:tavLst>
                                        <p:tav tm="0">
                                          <p:val>
                                            <p:strVal val="#ppt_y+0.04"/>
                                          </p:val>
                                        </p:tav>
                                        <p:tav tm="100000">
                                          <p:val>
                                            <p:strVal val="#ppt_y"/>
                                          </p:val>
                                        </p:tav>
                                      </p:tavLst>
                                    </p:anim>
                                  </p:childTnLst>
                                </p:cTn>
                              </p:par>
                              <p:par>
                                <p:cTn id="27" presetID="42" presetClass="entr" presetSubtype="0" fill="hold" grpId="0" nodeType="withEffect">
                                  <p:stCondLst>
                                    <p:cond delay="28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50"/>
                                        <p:tgtEl>
                                          <p:spTgt spid="14"/>
                                        </p:tgtEl>
                                      </p:cBhvr>
                                    </p:animEffect>
                                    <p:anim calcmode="lin" valueType="num">
                                      <p:cBhvr>
                                        <p:cTn id="28" dur="550" decel="100000" fill="hold"/>
                                        <p:tgtEl>
                                          <p:spTgt spid="14"/>
                                        </p:tgtEl>
                                        <p:attrNameLst>
                                          <p:attrName>ppt_x</p:attrName>
                                        </p:attrNameLst>
                                      </p:cBhvr>
                                      <p:tavLst>
                                        <p:tav tm="0">
                                          <p:val>
                                            <p:strVal val="#ppt_x"/>
                                          </p:val>
                                        </p:tav>
                                        <p:tav tm="100000">
                                          <p:val>
                                            <p:strVal val="#ppt_x"/>
                                          </p:val>
                                        </p:tav>
                                      </p:tavLst>
                                    </p:anim>
                                    <p:anim calcmode="lin" valueType="num">
                                      <p:cBhvr>
                                        <p:cTn id="29" dur="550" decel="100000" fill="hold"/>
                                        <p:tgtEl>
                                          <p:spTgt spid="14"/>
                                        </p:tgtEl>
                                        <p:attrNameLst>
                                          <p:attrName>ppt_y</p:attrName>
                                        </p:attrNameLst>
                                      </p:cBhvr>
                                      <p:tavLst>
                                        <p:tav tm="0">
                                          <p:val>
                                            <p:strVal val="#ppt_y+0.04"/>
                                          </p:val>
                                        </p:tav>
                                        <p:tav tm="100000">
                                          <p:val>
                                            <p:strVal val="#ppt_y"/>
                                          </p:val>
                                        </p:tav>
                                      </p:tavLst>
                                    </p:anim>
                                  </p:childTnLst>
                                </p:cTn>
                              </p:par>
                              <p:par>
                                <p:cTn id="32" presetID="53" presetClass="entr" presetSubtype="16" fill="hold" grpId="0" nodeType="withEffect">
                                  <p:stCondLst>
                                    <p:cond delay="280"/>
                                  </p:stCondLst>
                                  <p:childTnLst>
                                    <p:set>
                                      <p:cBhvr>
                                        <p:cTn id="30" dur="1" fill="hold">
                                          <p:stCondLst>
                                            <p:cond delay="0"/>
                                          </p:stCondLst>
                                        </p:cTn>
                                        <p:tgtEl>
                                          <p:spTgt spid="15"/>
                                        </p:tgtEl>
                                        <p:attrNameLst>
                                          <p:attrName>style.visibility</p:attrName>
                                        </p:attrNameLst>
                                      </p:cBhvr>
                                      <p:to>
                                        <p:strVal val="visible"/>
                                      </p:to>
                                    </p:set>
                                    <p:anim calcmode="lin" valueType="num">
                                      <p:cBhvr>
                                        <p:cTn id="33" dur="600" decel="100000" fill="hold"/>
                                        <p:tgtEl>
                                          <p:spTgt spid="15"/>
                                        </p:tgtEl>
                                        <p:attrNameLst>
                                          <p:attrName>ppt_w</p:attrName>
                                        </p:attrNameLst>
                                      </p:cBhvr>
                                      <p:tavLst>
                                        <p:tav tm="0">
                                          <p:val>
                                            <p:strVal val="#ppt_w*0.7"/>
                                          </p:val>
                                        </p:tav>
                                        <p:tav tm="100000">
                                          <p:val>
                                            <p:strVal val="#ppt_w"/>
                                          </p:val>
                                        </p:tav>
                                      </p:tavLst>
                                    </p:anim>
                                    <p:anim calcmode="lin" valueType="num">
                                      <p:cBhvr>
                                        <p:cTn id="34" dur="600" decel="100000" fill="hold"/>
                                        <p:tgtEl>
                                          <p:spTgt spid="15"/>
                                        </p:tgtEl>
                                        <p:attrNameLst>
                                          <p:attrName>ppt_h</p:attrName>
                                        </p:attrNameLst>
                                      </p:cBhvr>
                                      <p:tavLst>
                                        <p:tav tm="0">
                                          <p:val>
                                            <p:strVal val="#ppt_h*0.7"/>
                                          </p:val>
                                        </p:tav>
                                        <p:tav tm="100000">
                                          <p:val>
                                            <p:strVal val="#ppt_h"/>
                                          </p:val>
                                        </p:tav>
                                      </p:tavLst>
                                    </p:anim>
                                    <p:animEffect transition="in" filter="fade">
                                      <p:cBhvr>
                                        <p:cTn id="31" dur="600"/>
                                        <p:tgtEl>
                                          <p:spTgt spid="15"/>
                                        </p:tgtEl>
                                      </p:cBhvr>
                                    </p:animEffect>
                                  </p:childTnLst>
                                </p:cTn>
                              </p:par>
                              <p:par>
                                <p:cTn id="37" presetID="42" presetClass="entr" presetSubtype="0" fill="hold" grpId="0" nodeType="withEffect">
                                  <p:stCondLst>
                                    <p:cond delay="28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50"/>
                                        <p:tgtEl>
                                          <p:spTgt spid="16"/>
                                        </p:tgtEl>
                                      </p:cBhvr>
                                    </p:animEffect>
                                    <p:anim calcmode="lin" valueType="num">
                                      <p:cBhvr>
                                        <p:cTn id="38" dur="550" decel="100000" fill="hold"/>
                                        <p:tgtEl>
                                          <p:spTgt spid="16"/>
                                        </p:tgtEl>
                                        <p:attrNameLst>
                                          <p:attrName>ppt_x</p:attrName>
                                        </p:attrNameLst>
                                      </p:cBhvr>
                                      <p:tavLst>
                                        <p:tav tm="0">
                                          <p:val>
                                            <p:strVal val="#ppt_x"/>
                                          </p:val>
                                        </p:tav>
                                        <p:tav tm="100000">
                                          <p:val>
                                            <p:strVal val="#ppt_x"/>
                                          </p:val>
                                        </p:tav>
                                      </p:tavLst>
                                    </p:anim>
                                    <p:anim calcmode="lin" valueType="num">
                                      <p:cBhvr>
                                        <p:cTn id="39" dur="550" decel="100000" fill="hold"/>
                                        <p:tgtEl>
                                          <p:spTgt spid="16"/>
                                        </p:tgtEl>
                                        <p:attrNameLst>
                                          <p:attrName>ppt_y</p:attrName>
                                        </p:attrNameLst>
                                      </p:cBhvr>
                                      <p:tavLst>
                                        <p:tav tm="0">
                                          <p:val>
                                            <p:strVal val="#ppt_y+0.04"/>
                                          </p:val>
                                        </p:tav>
                                        <p:tav tm="100000">
                                          <p:val>
                                            <p:strVal val="#ppt_y"/>
                                          </p:val>
                                        </p:tav>
                                      </p:tavLst>
                                    </p:anim>
                                  </p:childTnLst>
                                </p:cTn>
                              </p:par>
                              <p:par>
                                <p:cTn id="42" presetID="42" presetClass="entr" presetSubtype="0" fill="hold" grpId="0" nodeType="withEffect">
                                  <p:stCondLst>
                                    <p:cond delay="28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50"/>
                                        <p:tgtEl>
                                          <p:spTgt spid="17"/>
                                        </p:tgtEl>
                                      </p:cBhvr>
                                    </p:animEffect>
                                    <p:anim calcmode="lin" valueType="num">
                                      <p:cBhvr>
                                        <p:cTn id="43" dur="550" decel="100000" fill="hold"/>
                                        <p:tgtEl>
                                          <p:spTgt spid="17"/>
                                        </p:tgtEl>
                                        <p:attrNameLst>
                                          <p:attrName>ppt_x</p:attrName>
                                        </p:attrNameLst>
                                      </p:cBhvr>
                                      <p:tavLst>
                                        <p:tav tm="0">
                                          <p:val>
                                            <p:strVal val="#ppt_x"/>
                                          </p:val>
                                        </p:tav>
                                        <p:tav tm="100000">
                                          <p:val>
                                            <p:strVal val="#ppt_x"/>
                                          </p:val>
                                        </p:tav>
                                      </p:tavLst>
                                    </p:anim>
                                    <p:anim calcmode="lin" valueType="num">
                                      <p:cBhvr>
                                        <p:cTn id="44" dur="550" decel="100000" fill="hold"/>
                                        <p:tgtEl>
                                          <p:spTgt spid="17"/>
                                        </p:tgtEl>
                                        <p:attrNameLst>
                                          <p:attrName>ppt_y</p:attrName>
                                        </p:attrNameLst>
                                      </p:cBhvr>
                                      <p:tavLst>
                                        <p:tav tm="0">
                                          <p:val>
                                            <p:strVal val="#ppt_y+0.04"/>
                                          </p:val>
                                        </p:tav>
                                        <p:tav tm="100000">
                                          <p:val>
                                            <p:strVal val="#ppt_y"/>
                                          </p:val>
                                        </p:tav>
                                      </p:tavLst>
                                    </p:anim>
                                  </p:childTnLst>
                                </p:cTn>
                              </p:par>
                              <p:par>
                                <p:cTn id="47" presetID="42" presetClass="entr" presetSubtype="0" fill="hold" grpId="0" nodeType="withEffect">
                                  <p:stCondLst>
                                    <p:cond delay="41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50"/>
                                        <p:tgtEl>
                                          <p:spTgt spid="18"/>
                                        </p:tgtEl>
                                      </p:cBhvr>
                                    </p:animEffect>
                                    <p:anim calcmode="lin" valueType="num">
                                      <p:cBhvr>
                                        <p:cTn id="48" dur="550" decel="100000" fill="hold"/>
                                        <p:tgtEl>
                                          <p:spTgt spid="18"/>
                                        </p:tgtEl>
                                        <p:attrNameLst>
                                          <p:attrName>ppt_x</p:attrName>
                                        </p:attrNameLst>
                                      </p:cBhvr>
                                      <p:tavLst>
                                        <p:tav tm="0">
                                          <p:val>
                                            <p:strVal val="#ppt_x"/>
                                          </p:val>
                                        </p:tav>
                                        <p:tav tm="100000">
                                          <p:val>
                                            <p:strVal val="#ppt_x"/>
                                          </p:val>
                                        </p:tav>
                                      </p:tavLst>
                                    </p:anim>
                                    <p:anim calcmode="lin" valueType="num">
                                      <p:cBhvr>
                                        <p:cTn id="49" dur="550" decel="100000" fill="hold"/>
                                        <p:tgtEl>
                                          <p:spTgt spid="18"/>
                                        </p:tgtEl>
                                        <p:attrNameLst>
                                          <p:attrName>ppt_y</p:attrName>
                                        </p:attrNameLst>
                                      </p:cBhvr>
                                      <p:tavLst>
                                        <p:tav tm="0">
                                          <p:val>
                                            <p:strVal val="#ppt_y+0.04"/>
                                          </p:val>
                                        </p:tav>
                                        <p:tav tm="100000">
                                          <p:val>
                                            <p:strVal val="#ppt_y"/>
                                          </p:val>
                                        </p:tav>
                                      </p:tavLst>
                                    </p:anim>
                                  </p:childTnLst>
                                </p:cTn>
                              </p:par>
                              <p:par>
                                <p:cTn id="52" presetID="53" presetClass="entr" presetSubtype="16" fill="hold" grpId="0" nodeType="withEffect">
                                  <p:stCondLst>
                                    <p:cond delay="410"/>
                                  </p:stCondLst>
                                  <p:childTnLst>
                                    <p:set>
                                      <p:cBhvr>
                                        <p:cTn id="50" dur="1" fill="hold">
                                          <p:stCondLst>
                                            <p:cond delay="0"/>
                                          </p:stCondLst>
                                        </p:cTn>
                                        <p:tgtEl>
                                          <p:spTgt spid="19"/>
                                        </p:tgtEl>
                                        <p:attrNameLst>
                                          <p:attrName>style.visibility</p:attrName>
                                        </p:attrNameLst>
                                      </p:cBhvr>
                                      <p:to>
                                        <p:strVal val="visible"/>
                                      </p:to>
                                    </p:set>
                                    <p:anim calcmode="lin" valueType="num">
                                      <p:cBhvr>
                                        <p:cTn id="53" dur="600" decel="100000" fill="hold"/>
                                        <p:tgtEl>
                                          <p:spTgt spid="19"/>
                                        </p:tgtEl>
                                        <p:attrNameLst>
                                          <p:attrName>ppt_w</p:attrName>
                                        </p:attrNameLst>
                                      </p:cBhvr>
                                      <p:tavLst>
                                        <p:tav tm="0">
                                          <p:val>
                                            <p:strVal val="#ppt_w*0.7"/>
                                          </p:val>
                                        </p:tav>
                                        <p:tav tm="100000">
                                          <p:val>
                                            <p:strVal val="#ppt_w"/>
                                          </p:val>
                                        </p:tav>
                                      </p:tavLst>
                                    </p:anim>
                                    <p:anim calcmode="lin" valueType="num">
                                      <p:cBhvr>
                                        <p:cTn id="54" dur="600" decel="100000" fill="hold"/>
                                        <p:tgtEl>
                                          <p:spTgt spid="19"/>
                                        </p:tgtEl>
                                        <p:attrNameLst>
                                          <p:attrName>ppt_h</p:attrName>
                                        </p:attrNameLst>
                                      </p:cBhvr>
                                      <p:tavLst>
                                        <p:tav tm="0">
                                          <p:val>
                                            <p:strVal val="#ppt_h*0.7"/>
                                          </p:val>
                                        </p:tav>
                                        <p:tav tm="100000">
                                          <p:val>
                                            <p:strVal val="#ppt_h"/>
                                          </p:val>
                                        </p:tav>
                                      </p:tavLst>
                                    </p:anim>
                                    <p:animEffect transition="in" filter="fade">
                                      <p:cBhvr>
                                        <p:cTn id="51" dur="600"/>
                                        <p:tgtEl>
                                          <p:spTgt spid="19"/>
                                        </p:tgtEl>
                                      </p:cBhvr>
                                    </p:animEffect>
                                  </p:childTnLst>
                                </p:cTn>
                              </p:par>
                              <p:par>
                                <p:cTn id="57" presetID="42" presetClass="entr" presetSubtype="0" fill="hold" grpId="0" nodeType="withEffect">
                                  <p:stCondLst>
                                    <p:cond delay="41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50"/>
                                        <p:tgtEl>
                                          <p:spTgt spid="20"/>
                                        </p:tgtEl>
                                      </p:cBhvr>
                                    </p:animEffect>
                                    <p:anim calcmode="lin" valueType="num">
                                      <p:cBhvr>
                                        <p:cTn id="58" dur="550" decel="100000" fill="hold"/>
                                        <p:tgtEl>
                                          <p:spTgt spid="20"/>
                                        </p:tgtEl>
                                        <p:attrNameLst>
                                          <p:attrName>ppt_x</p:attrName>
                                        </p:attrNameLst>
                                      </p:cBhvr>
                                      <p:tavLst>
                                        <p:tav tm="0">
                                          <p:val>
                                            <p:strVal val="#ppt_x"/>
                                          </p:val>
                                        </p:tav>
                                        <p:tav tm="100000">
                                          <p:val>
                                            <p:strVal val="#ppt_x"/>
                                          </p:val>
                                        </p:tav>
                                      </p:tavLst>
                                    </p:anim>
                                    <p:anim calcmode="lin" valueType="num">
                                      <p:cBhvr>
                                        <p:cTn id="59" dur="550" decel="100000" fill="hold"/>
                                        <p:tgtEl>
                                          <p:spTgt spid="20"/>
                                        </p:tgtEl>
                                        <p:attrNameLst>
                                          <p:attrName>ppt_y</p:attrName>
                                        </p:attrNameLst>
                                      </p:cBhvr>
                                      <p:tavLst>
                                        <p:tav tm="0">
                                          <p:val>
                                            <p:strVal val="#ppt_y+0.04"/>
                                          </p:val>
                                        </p:tav>
                                        <p:tav tm="100000">
                                          <p:val>
                                            <p:strVal val="#ppt_y"/>
                                          </p:val>
                                        </p:tav>
                                      </p:tavLst>
                                    </p:anim>
                                  </p:childTnLst>
                                </p:cTn>
                              </p:par>
                              <p:par>
                                <p:cTn id="62" presetID="42" presetClass="entr" presetSubtype="0" fill="hold" grpId="0" nodeType="withEffect">
                                  <p:stCondLst>
                                    <p:cond delay="41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50"/>
                                        <p:tgtEl>
                                          <p:spTgt spid="21"/>
                                        </p:tgtEl>
                                      </p:cBhvr>
                                    </p:animEffect>
                                    <p:anim calcmode="lin" valueType="num">
                                      <p:cBhvr>
                                        <p:cTn id="63" dur="550" decel="100000" fill="hold"/>
                                        <p:tgtEl>
                                          <p:spTgt spid="21"/>
                                        </p:tgtEl>
                                        <p:attrNameLst>
                                          <p:attrName>ppt_x</p:attrName>
                                        </p:attrNameLst>
                                      </p:cBhvr>
                                      <p:tavLst>
                                        <p:tav tm="0">
                                          <p:val>
                                            <p:strVal val="#ppt_x"/>
                                          </p:val>
                                        </p:tav>
                                        <p:tav tm="100000">
                                          <p:val>
                                            <p:strVal val="#ppt_x"/>
                                          </p:val>
                                        </p:tav>
                                      </p:tavLst>
                                    </p:anim>
                                    <p:anim calcmode="lin" valueType="num">
                                      <p:cBhvr>
                                        <p:cTn id="64" dur="550" decel="100000" fill="hold"/>
                                        <p:tgtEl>
                                          <p:spTgt spid="21"/>
                                        </p:tgtEl>
                                        <p:attrNameLst>
                                          <p:attrName>ppt_y</p:attrName>
                                        </p:attrNameLst>
                                      </p:cBhvr>
                                      <p:tavLst>
                                        <p:tav tm="0">
                                          <p:val>
                                            <p:strVal val="#ppt_y+0.04"/>
                                          </p:val>
                                        </p:tav>
                                        <p:tav tm="100000">
                                          <p:val>
                                            <p:strVal val="#ppt_y"/>
                                          </p:val>
                                        </p:tav>
                                      </p:tavLst>
                                    </p:anim>
                                  </p:childTnLst>
                                </p:cTn>
                              </p:par>
                              <p:par>
                                <p:cTn id="67" presetID="42" presetClass="entr" presetSubtype="0" fill="hold" grpId="0" nodeType="withEffect">
                                  <p:stCondLst>
                                    <p:cond delay="54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50"/>
                                        <p:tgtEl>
                                          <p:spTgt spid="22"/>
                                        </p:tgtEl>
                                      </p:cBhvr>
                                    </p:animEffect>
                                    <p:anim calcmode="lin" valueType="num">
                                      <p:cBhvr>
                                        <p:cTn id="68" dur="550" decel="100000" fill="hold"/>
                                        <p:tgtEl>
                                          <p:spTgt spid="22"/>
                                        </p:tgtEl>
                                        <p:attrNameLst>
                                          <p:attrName>ppt_x</p:attrName>
                                        </p:attrNameLst>
                                      </p:cBhvr>
                                      <p:tavLst>
                                        <p:tav tm="0">
                                          <p:val>
                                            <p:strVal val="#ppt_x"/>
                                          </p:val>
                                        </p:tav>
                                        <p:tav tm="100000">
                                          <p:val>
                                            <p:strVal val="#ppt_x"/>
                                          </p:val>
                                        </p:tav>
                                      </p:tavLst>
                                    </p:anim>
                                    <p:anim calcmode="lin" valueType="num">
                                      <p:cBhvr>
                                        <p:cTn id="69" dur="550" decel="100000" fill="hold"/>
                                        <p:tgtEl>
                                          <p:spTgt spid="22"/>
                                        </p:tgtEl>
                                        <p:attrNameLst>
                                          <p:attrName>ppt_y</p:attrName>
                                        </p:attrNameLst>
                                      </p:cBhvr>
                                      <p:tavLst>
                                        <p:tav tm="0">
                                          <p:val>
                                            <p:strVal val="#ppt_y+0.04"/>
                                          </p:val>
                                        </p:tav>
                                        <p:tav tm="100000">
                                          <p:val>
                                            <p:strVal val="#ppt_y"/>
                                          </p:val>
                                        </p:tav>
                                      </p:tavLst>
                                    </p:anim>
                                  </p:childTnLst>
                                </p:cTn>
                              </p:par>
                              <p:par>
                                <p:cTn id="72" presetID="42" presetClass="entr" presetSubtype="0" fill="hold" grpId="0" nodeType="withEffect">
                                  <p:stCondLst>
                                    <p:cond delay="54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50"/>
                                        <p:tgtEl>
                                          <p:spTgt spid="23"/>
                                        </p:tgtEl>
                                      </p:cBhvr>
                                    </p:animEffect>
                                    <p:anim calcmode="lin" valueType="num">
                                      <p:cBhvr>
                                        <p:cTn id="73" dur="550" decel="100000" fill="hold"/>
                                        <p:tgtEl>
                                          <p:spTgt spid="23"/>
                                        </p:tgtEl>
                                        <p:attrNameLst>
                                          <p:attrName>ppt_x</p:attrName>
                                        </p:attrNameLst>
                                      </p:cBhvr>
                                      <p:tavLst>
                                        <p:tav tm="0">
                                          <p:val>
                                            <p:strVal val="#ppt_x"/>
                                          </p:val>
                                        </p:tav>
                                        <p:tav tm="100000">
                                          <p:val>
                                            <p:strVal val="#ppt_x"/>
                                          </p:val>
                                        </p:tav>
                                      </p:tavLst>
                                    </p:anim>
                                    <p:anim calcmode="lin" valueType="num">
                                      <p:cBhvr>
                                        <p:cTn id="74" dur="550" decel="100000" fill="hold"/>
                                        <p:tgtEl>
                                          <p:spTgt spid="23"/>
                                        </p:tgtEl>
                                        <p:attrNameLst>
                                          <p:attrName>ppt_y</p:attrName>
                                        </p:attrNameLst>
                                      </p:cBhvr>
                                      <p:tavLst>
                                        <p:tav tm="0">
                                          <p:val>
                                            <p:strVal val="#ppt_y+0.04"/>
                                          </p:val>
                                        </p:tav>
                                        <p:tav tm="100000">
                                          <p:val>
                                            <p:strVal val="#ppt_y"/>
                                          </p:val>
                                        </p:tav>
                                      </p:tavLst>
                                    </p:anim>
                                  </p:childTnLst>
                                </p:cTn>
                              </p:par>
                              <p:par>
                                <p:cTn id="77" presetID="22" presetClass="entr" presetSubtype="8" fill="hold" grpId="0" nodeType="withEffect">
                                  <p:stCondLst>
                                    <p:cond delay="670"/>
                                  </p:stCondLst>
                                  <p:childTnLst>
                                    <p:set>
                                      <p:cBhvr>
                                        <p:cTn id="75" dur="1" fill="hold">
                                          <p:stCondLst>
                                            <p:cond delay="0"/>
                                          </p:stCondLst>
                                        </p:cTn>
                                        <p:tgtEl>
                                          <p:spTgt spid="24"/>
                                        </p:tgtEl>
                                        <p:attrNameLst>
                                          <p:attrName>style.visibility</p:attrName>
                                        </p:attrNameLst>
                                      </p:cBhvr>
                                      <p:to>
                                        <p:strVal val="visible"/>
                                      </p:to>
                                    </p:set>
                                    <p:animEffect transition="in" filter="wipe(left)">
                                      <p:cBhvr>
                                        <p:cTn id="78" dur="900"/>
                                        <p:tgtEl>
                                          <p:spTgt spid="24"/>
                                        </p:tgtEl>
                                      </p:cBhvr>
                                    </p:animEffect>
                                  </p:childTnLst>
                                </p:cTn>
                              </p:par>
                              <p:par>
                                <p:cTn id="81" presetID="53" presetClass="entr" presetSubtype="16" fill="hold" grpId="0" nodeType="withEffect">
                                  <p:stCondLst>
                                    <p:cond delay="800"/>
                                  </p:stCondLst>
                                  <p:childTnLst>
                                    <p:set>
                                      <p:cBhvr>
                                        <p:cTn id="79" dur="1" fill="hold">
                                          <p:stCondLst>
                                            <p:cond delay="0"/>
                                          </p:stCondLst>
                                        </p:cTn>
                                        <p:tgtEl>
                                          <p:spTgt spid="25"/>
                                        </p:tgtEl>
                                        <p:attrNameLst>
                                          <p:attrName>style.visibility</p:attrName>
                                        </p:attrNameLst>
                                      </p:cBhvr>
                                      <p:to>
                                        <p:strVal val="visible"/>
                                      </p:to>
                                    </p:set>
                                    <p:anim calcmode="lin" valueType="num">
                                      <p:cBhvr>
                                        <p:cTn id="82" dur="600" decel="100000" fill="hold"/>
                                        <p:tgtEl>
                                          <p:spTgt spid="25"/>
                                        </p:tgtEl>
                                        <p:attrNameLst>
                                          <p:attrName>ppt_w</p:attrName>
                                        </p:attrNameLst>
                                      </p:cBhvr>
                                      <p:tavLst>
                                        <p:tav tm="0">
                                          <p:val>
                                            <p:strVal val="#ppt_w*0.7"/>
                                          </p:val>
                                        </p:tav>
                                        <p:tav tm="100000">
                                          <p:val>
                                            <p:strVal val="#ppt_w"/>
                                          </p:val>
                                        </p:tav>
                                      </p:tavLst>
                                    </p:anim>
                                    <p:anim calcmode="lin" valueType="num">
                                      <p:cBhvr>
                                        <p:cTn id="83" dur="600" decel="100000" fill="hold"/>
                                        <p:tgtEl>
                                          <p:spTgt spid="25"/>
                                        </p:tgtEl>
                                        <p:attrNameLst>
                                          <p:attrName>ppt_h</p:attrName>
                                        </p:attrNameLst>
                                      </p:cBhvr>
                                      <p:tavLst>
                                        <p:tav tm="0">
                                          <p:val>
                                            <p:strVal val="#ppt_h*0.7"/>
                                          </p:val>
                                        </p:tav>
                                        <p:tav tm="100000">
                                          <p:val>
                                            <p:strVal val="#ppt_h"/>
                                          </p:val>
                                        </p:tav>
                                      </p:tavLst>
                                    </p:anim>
                                    <p:animEffect transition="in" filter="fade">
                                      <p:cBhvr>
                                        <p:cTn id="80" dur="600"/>
                                        <p:tgtEl>
                                          <p:spTgt spid="25"/>
                                        </p:tgtEl>
                                      </p:cBhvr>
                                    </p:animEffect>
                                  </p:childTnLst>
                                </p:cTn>
                              </p:par>
                              <p:par>
                                <p:cTn id="86" presetID="42" presetClass="entr" presetSubtype="0" fill="hold" grpId="0" nodeType="withEffect">
                                  <p:stCondLst>
                                    <p:cond delay="800"/>
                                  </p:stCondLst>
                                  <p:childTnLst>
                                    <p:set>
                                      <p:cBhvr>
                                        <p:cTn id="84" dur="1" fill="hold">
                                          <p:stCondLst>
                                            <p:cond delay="0"/>
                                          </p:stCondLst>
                                        </p:cTn>
                                        <p:tgtEl>
                                          <p:spTgt spid="26"/>
                                        </p:tgtEl>
                                        <p:attrNameLst>
                                          <p:attrName>style.visibility</p:attrName>
                                        </p:attrNameLst>
                                      </p:cBhvr>
                                      <p:to>
                                        <p:strVal val="visible"/>
                                      </p:to>
                                    </p:set>
                                    <p:animEffect transition="in" filter="fade">
                                      <p:cBhvr>
                                        <p:cTn id="85" dur="550"/>
                                        <p:tgtEl>
                                          <p:spTgt spid="26"/>
                                        </p:tgtEl>
                                      </p:cBhvr>
                                    </p:animEffect>
                                    <p:anim calcmode="lin" valueType="num">
                                      <p:cBhvr>
                                        <p:cTn id="87" dur="550" decel="100000" fill="hold"/>
                                        <p:tgtEl>
                                          <p:spTgt spid="26"/>
                                        </p:tgtEl>
                                        <p:attrNameLst>
                                          <p:attrName>ppt_x</p:attrName>
                                        </p:attrNameLst>
                                      </p:cBhvr>
                                      <p:tavLst>
                                        <p:tav tm="0">
                                          <p:val>
                                            <p:strVal val="#ppt_x"/>
                                          </p:val>
                                        </p:tav>
                                        <p:tav tm="100000">
                                          <p:val>
                                            <p:strVal val="#ppt_x"/>
                                          </p:val>
                                        </p:tav>
                                      </p:tavLst>
                                    </p:anim>
                                    <p:anim calcmode="lin" valueType="num">
                                      <p:cBhvr>
                                        <p:cTn id="88" dur="550" decel="100000" fill="hold"/>
                                        <p:tgtEl>
                                          <p:spTgt spid="26"/>
                                        </p:tgtEl>
                                        <p:attrNameLst>
                                          <p:attrName>ppt_y</p:attrName>
                                        </p:attrNameLst>
                                      </p:cBhvr>
                                      <p:tavLst>
                                        <p:tav tm="0">
                                          <p:val>
                                            <p:strVal val="#ppt_y+0.04"/>
                                          </p:val>
                                        </p:tav>
                                        <p:tav tm="100000">
                                          <p:val>
                                            <p:strVal val="#ppt_y"/>
                                          </p:val>
                                        </p:tav>
                                      </p:tavLst>
                                    </p:anim>
                                  </p:childTnLst>
                                </p:cTn>
                              </p:par>
                              <p:par>
                                <p:cTn id="91" presetID="42" presetClass="entr" presetSubtype="0" fill="hold" grpId="0" nodeType="withEffect">
                                  <p:stCondLst>
                                    <p:cond delay="800"/>
                                  </p:stCondLst>
                                  <p:childTnLst>
                                    <p:set>
                                      <p:cBhvr>
                                        <p:cTn id="89" dur="1" fill="hold">
                                          <p:stCondLst>
                                            <p:cond delay="0"/>
                                          </p:stCondLst>
                                        </p:cTn>
                                        <p:tgtEl>
                                          <p:spTgt spid="27"/>
                                        </p:tgtEl>
                                        <p:attrNameLst>
                                          <p:attrName>style.visibility</p:attrName>
                                        </p:attrNameLst>
                                      </p:cBhvr>
                                      <p:to>
                                        <p:strVal val="visible"/>
                                      </p:to>
                                    </p:set>
                                    <p:animEffect transition="in" filter="fade">
                                      <p:cBhvr>
                                        <p:cTn id="90" dur="550"/>
                                        <p:tgtEl>
                                          <p:spTgt spid="27"/>
                                        </p:tgtEl>
                                      </p:cBhvr>
                                    </p:animEffect>
                                    <p:anim calcmode="lin" valueType="num">
                                      <p:cBhvr>
                                        <p:cTn id="92" dur="550" decel="100000" fill="hold"/>
                                        <p:tgtEl>
                                          <p:spTgt spid="27"/>
                                        </p:tgtEl>
                                        <p:attrNameLst>
                                          <p:attrName>ppt_x</p:attrName>
                                        </p:attrNameLst>
                                      </p:cBhvr>
                                      <p:tavLst>
                                        <p:tav tm="0">
                                          <p:val>
                                            <p:strVal val="#ppt_x"/>
                                          </p:val>
                                        </p:tav>
                                        <p:tav tm="100000">
                                          <p:val>
                                            <p:strVal val="#ppt_x"/>
                                          </p:val>
                                        </p:tav>
                                      </p:tavLst>
                                    </p:anim>
                                    <p:anim calcmode="lin" valueType="num">
                                      <p:cBhvr>
                                        <p:cTn id="93" dur="550" decel="100000" fill="hold"/>
                                        <p:tgtEl>
                                          <p:spTgt spid="27"/>
                                        </p:tgtEl>
                                        <p:attrNameLst>
                                          <p:attrName>ppt_y</p:attrName>
                                        </p:attrNameLst>
                                      </p:cBhvr>
                                      <p:tavLst>
                                        <p:tav tm="0">
                                          <p:val>
                                            <p:strVal val="#ppt_y+0.04"/>
                                          </p:val>
                                        </p:tav>
                                        <p:tav tm="100000">
                                          <p:val>
                                            <p:strVal val="#ppt_y"/>
                                          </p:val>
                                        </p:tav>
                                      </p:tavLst>
                                    </p:anim>
                                  </p:childTnLst>
                                </p:cTn>
                              </p:par>
                              <p:par>
                                <p:cTn id="96" presetID="53" presetClass="entr" presetSubtype="16" fill="hold" grpId="0" nodeType="withEffect">
                                  <p:stCondLst>
                                    <p:cond delay="930"/>
                                  </p:stCondLst>
                                  <p:childTnLst>
                                    <p:set>
                                      <p:cBhvr>
                                        <p:cTn id="94" dur="1" fill="hold">
                                          <p:stCondLst>
                                            <p:cond delay="0"/>
                                          </p:stCondLst>
                                        </p:cTn>
                                        <p:tgtEl>
                                          <p:spTgt spid="28"/>
                                        </p:tgtEl>
                                        <p:attrNameLst>
                                          <p:attrName>style.visibility</p:attrName>
                                        </p:attrNameLst>
                                      </p:cBhvr>
                                      <p:to>
                                        <p:strVal val="visible"/>
                                      </p:to>
                                    </p:set>
                                    <p:anim calcmode="lin" valueType="num">
                                      <p:cBhvr>
                                        <p:cTn id="97" dur="600" decel="100000" fill="hold"/>
                                        <p:tgtEl>
                                          <p:spTgt spid="28"/>
                                        </p:tgtEl>
                                        <p:attrNameLst>
                                          <p:attrName>ppt_w</p:attrName>
                                        </p:attrNameLst>
                                      </p:cBhvr>
                                      <p:tavLst>
                                        <p:tav tm="0">
                                          <p:val>
                                            <p:strVal val="#ppt_w*0.7"/>
                                          </p:val>
                                        </p:tav>
                                        <p:tav tm="100000">
                                          <p:val>
                                            <p:strVal val="#ppt_w"/>
                                          </p:val>
                                        </p:tav>
                                      </p:tavLst>
                                    </p:anim>
                                    <p:anim calcmode="lin" valueType="num">
                                      <p:cBhvr>
                                        <p:cTn id="98" dur="600" decel="100000" fill="hold"/>
                                        <p:tgtEl>
                                          <p:spTgt spid="28"/>
                                        </p:tgtEl>
                                        <p:attrNameLst>
                                          <p:attrName>ppt_h</p:attrName>
                                        </p:attrNameLst>
                                      </p:cBhvr>
                                      <p:tavLst>
                                        <p:tav tm="0">
                                          <p:val>
                                            <p:strVal val="#ppt_h*0.7"/>
                                          </p:val>
                                        </p:tav>
                                        <p:tav tm="100000">
                                          <p:val>
                                            <p:strVal val="#ppt_h"/>
                                          </p:val>
                                        </p:tav>
                                      </p:tavLst>
                                    </p:anim>
                                    <p:animEffect transition="in" filter="fade">
                                      <p:cBhvr>
                                        <p:cTn id="95" dur="600"/>
                                        <p:tgtEl>
                                          <p:spTgt spid="28"/>
                                        </p:tgtEl>
                                      </p:cBhvr>
                                    </p:animEffect>
                                  </p:childTnLst>
                                </p:cTn>
                              </p:par>
                              <p:par>
                                <p:cTn id="101" presetID="42" presetClass="entr" presetSubtype="0" fill="hold" grpId="0" nodeType="withEffect">
                                  <p:stCondLst>
                                    <p:cond delay="930"/>
                                  </p:stCondLst>
                                  <p:childTnLst>
                                    <p:set>
                                      <p:cBhvr>
                                        <p:cTn id="99" dur="1" fill="hold">
                                          <p:stCondLst>
                                            <p:cond delay="0"/>
                                          </p:stCondLst>
                                        </p:cTn>
                                        <p:tgtEl>
                                          <p:spTgt spid="29"/>
                                        </p:tgtEl>
                                        <p:attrNameLst>
                                          <p:attrName>style.visibility</p:attrName>
                                        </p:attrNameLst>
                                      </p:cBhvr>
                                      <p:to>
                                        <p:strVal val="visible"/>
                                      </p:to>
                                    </p:set>
                                    <p:animEffect transition="in" filter="fade">
                                      <p:cBhvr>
                                        <p:cTn id="100" dur="550"/>
                                        <p:tgtEl>
                                          <p:spTgt spid="29"/>
                                        </p:tgtEl>
                                      </p:cBhvr>
                                    </p:animEffect>
                                    <p:anim calcmode="lin" valueType="num">
                                      <p:cBhvr>
                                        <p:cTn id="102" dur="550" decel="100000" fill="hold"/>
                                        <p:tgtEl>
                                          <p:spTgt spid="29"/>
                                        </p:tgtEl>
                                        <p:attrNameLst>
                                          <p:attrName>ppt_x</p:attrName>
                                        </p:attrNameLst>
                                      </p:cBhvr>
                                      <p:tavLst>
                                        <p:tav tm="0">
                                          <p:val>
                                            <p:strVal val="#ppt_x"/>
                                          </p:val>
                                        </p:tav>
                                        <p:tav tm="100000">
                                          <p:val>
                                            <p:strVal val="#ppt_x"/>
                                          </p:val>
                                        </p:tav>
                                      </p:tavLst>
                                    </p:anim>
                                    <p:anim calcmode="lin" valueType="num">
                                      <p:cBhvr>
                                        <p:cTn id="103" dur="550" decel="100000" fill="hold"/>
                                        <p:tgtEl>
                                          <p:spTgt spid="29"/>
                                        </p:tgtEl>
                                        <p:attrNameLst>
                                          <p:attrName>ppt_y</p:attrName>
                                        </p:attrNameLst>
                                      </p:cBhvr>
                                      <p:tavLst>
                                        <p:tav tm="0">
                                          <p:val>
                                            <p:strVal val="#ppt_y+0.04"/>
                                          </p:val>
                                        </p:tav>
                                        <p:tav tm="100000">
                                          <p:val>
                                            <p:strVal val="#ppt_y"/>
                                          </p:val>
                                        </p:tav>
                                      </p:tavLst>
                                    </p:anim>
                                  </p:childTnLst>
                                </p:cTn>
                              </p:par>
                              <p:par>
                                <p:cTn id="106" presetID="42" presetClass="entr" presetSubtype="0" fill="hold" grpId="0" nodeType="withEffect">
                                  <p:stCondLst>
                                    <p:cond delay="930"/>
                                  </p:stCondLst>
                                  <p:childTnLst>
                                    <p:set>
                                      <p:cBhvr>
                                        <p:cTn id="104" dur="1" fill="hold">
                                          <p:stCondLst>
                                            <p:cond delay="0"/>
                                          </p:stCondLst>
                                        </p:cTn>
                                        <p:tgtEl>
                                          <p:spTgt spid="30"/>
                                        </p:tgtEl>
                                        <p:attrNameLst>
                                          <p:attrName>style.visibility</p:attrName>
                                        </p:attrNameLst>
                                      </p:cBhvr>
                                      <p:to>
                                        <p:strVal val="visible"/>
                                      </p:to>
                                    </p:set>
                                    <p:animEffect transition="in" filter="fade">
                                      <p:cBhvr>
                                        <p:cTn id="105" dur="550"/>
                                        <p:tgtEl>
                                          <p:spTgt spid="30"/>
                                        </p:tgtEl>
                                      </p:cBhvr>
                                    </p:animEffect>
                                    <p:anim calcmode="lin" valueType="num">
                                      <p:cBhvr>
                                        <p:cTn id="107" dur="550" decel="100000" fill="hold"/>
                                        <p:tgtEl>
                                          <p:spTgt spid="30"/>
                                        </p:tgtEl>
                                        <p:attrNameLst>
                                          <p:attrName>ppt_x</p:attrName>
                                        </p:attrNameLst>
                                      </p:cBhvr>
                                      <p:tavLst>
                                        <p:tav tm="0">
                                          <p:val>
                                            <p:strVal val="#ppt_x"/>
                                          </p:val>
                                        </p:tav>
                                        <p:tav tm="100000">
                                          <p:val>
                                            <p:strVal val="#ppt_x"/>
                                          </p:val>
                                        </p:tav>
                                      </p:tavLst>
                                    </p:anim>
                                    <p:anim calcmode="lin" valueType="num">
                                      <p:cBhvr>
                                        <p:cTn id="108" dur="550" decel="100000" fill="hold"/>
                                        <p:tgtEl>
                                          <p:spTgt spid="30"/>
                                        </p:tgtEl>
                                        <p:attrNameLst>
                                          <p:attrName>ppt_y</p:attrName>
                                        </p:attrNameLst>
                                      </p:cBhvr>
                                      <p:tavLst>
                                        <p:tav tm="0">
                                          <p:val>
                                            <p:strVal val="#ppt_y+0.04"/>
                                          </p:val>
                                        </p:tav>
                                        <p:tav tm="100000">
                                          <p:val>
                                            <p:strVal val="#ppt_y"/>
                                          </p:val>
                                        </p:tav>
                                      </p:tavLst>
                                    </p:anim>
                                  </p:childTnLst>
                                </p:cTn>
                              </p:par>
                              <p:par>
                                <p:cTn id="111" presetID="53" presetClass="entr" presetSubtype="16" fill="hold" grpId="0" nodeType="withEffect">
                                  <p:stCondLst>
                                    <p:cond delay="1060"/>
                                  </p:stCondLst>
                                  <p:childTnLst>
                                    <p:set>
                                      <p:cBhvr>
                                        <p:cTn id="109" dur="1" fill="hold">
                                          <p:stCondLst>
                                            <p:cond delay="0"/>
                                          </p:stCondLst>
                                        </p:cTn>
                                        <p:tgtEl>
                                          <p:spTgt spid="31"/>
                                        </p:tgtEl>
                                        <p:attrNameLst>
                                          <p:attrName>style.visibility</p:attrName>
                                        </p:attrNameLst>
                                      </p:cBhvr>
                                      <p:to>
                                        <p:strVal val="visible"/>
                                      </p:to>
                                    </p:set>
                                    <p:anim calcmode="lin" valueType="num">
                                      <p:cBhvr>
                                        <p:cTn id="112" dur="600" decel="100000" fill="hold"/>
                                        <p:tgtEl>
                                          <p:spTgt spid="31"/>
                                        </p:tgtEl>
                                        <p:attrNameLst>
                                          <p:attrName>ppt_w</p:attrName>
                                        </p:attrNameLst>
                                      </p:cBhvr>
                                      <p:tavLst>
                                        <p:tav tm="0">
                                          <p:val>
                                            <p:strVal val="#ppt_w*0.7"/>
                                          </p:val>
                                        </p:tav>
                                        <p:tav tm="100000">
                                          <p:val>
                                            <p:strVal val="#ppt_w"/>
                                          </p:val>
                                        </p:tav>
                                      </p:tavLst>
                                    </p:anim>
                                    <p:anim calcmode="lin" valueType="num">
                                      <p:cBhvr>
                                        <p:cTn id="113" dur="600" decel="100000" fill="hold"/>
                                        <p:tgtEl>
                                          <p:spTgt spid="31"/>
                                        </p:tgtEl>
                                        <p:attrNameLst>
                                          <p:attrName>ppt_h</p:attrName>
                                        </p:attrNameLst>
                                      </p:cBhvr>
                                      <p:tavLst>
                                        <p:tav tm="0">
                                          <p:val>
                                            <p:strVal val="#ppt_h*0.7"/>
                                          </p:val>
                                        </p:tav>
                                        <p:tav tm="100000">
                                          <p:val>
                                            <p:strVal val="#ppt_h"/>
                                          </p:val>
                                        </p:tav>
                                      </p:tavLst>
                                    </p:anim>
                                    <p:animEffect transition="in" filter="fade">
                                      <p:cBhvr>
                                        <p:cTn id="110" dur="600"/>
                                        <p:tgtEl>
                                          <p:spTgt spid="31"/>
                                        </p:tgtEl>
                                      </p:cBhvr>
                                    </p:animEffect>
                                  </p:childTnLst>
                                </p:cTn>
                              </p:par>
                              <p:par>
                                <p:cTn id="116" presetID="42" presetClass="entr" presetSubtype="0" fill="hold" grpId="0" nodeType="withEffect">
                                  <p:stCondLst>
                                    <p:cond delay="1060"/>
                                  </p:stCondLst>
                                  <p:childTnLst>
                                    <p:set>
                                      <p:cBhvr>
                                        <p:cTn id="114" dur="1" fill="hold">
                                          <p:stCondLst>
                                            <p:cond delay="0"/>
                                          </p:stCondLst>
                                        </p:cTn>
                                        <p:tgtEl>
                                          <p:spTgt spid="32"/>
                                        </p:tgtEl>
                                        <p:attrNameLst>
                                          <p:attrName>style.visibility</p:attrName>
                                        </p:attrNameLst>
                                      </p:cBhvr>
                                      <p:to>
                                        <p:strVal val="visible"/>
                                      </p:to>
                                    </p:set>
                                    <p:animEffect transition="in" filter="fade">
                                      <p:cBhvr>
                                        <p:cTn id="115" dur="550"/>
                                        <p:tgtEl>
                                          <p:spTgt spid="32"/>
                                        </p:tgtEl>
                                      </p:cBhvr>
                                    </p:animEffect>
                                    <p:anim calcmode="lin" valueType="num">
                                      <p:cBhvr>
                                        <p:cTn id="117" dur="550" decel="100000" fill="hold"/>
                                        <p:tgtEl>
                                          <p:spTgt spid="32"/>
                                        </p:tgtEl>
                                        <p:attrNameLst>
                                          <p:attrName>ppt_x</p:attrName>
                                        </p:attrNameLst>
                                      </p:cBhvr>
                                      <p:tavLst>
                                        <p:tav tm="0">
                                          <p:val>
                                            <p:strVal val="#ppt_x"/>
                                          </p:val>
                                        </p:tav>
                                        <p:tav tm="100000">
                                          <p:val>
                                            <p:strVal val="#ppt_x"/>
                                          </p:val>
                                        </p:tav>
                                      </p:tavLst>
                                    </p:anim>
                                    <p:anim calcmode="lin" valueType="num">
                                      <p:cBhvr>
                                        <p:cTn id="118" dur="550" decel="100000" fill="hold"/>
                                        <p:tgtEl>
                                          <p:spTgt spid="32"/>
                                        </p:tgtEl>
                                        <p:attrNameLst>
                                          <p:attrName>ppt_y</p:attrName>
                                        </p:attrNameLst>
                                      </p:cBhvr>
                                      <p:tavLst>
                                        <p:tav tm="0">
                                          <p:val>
                                            <p:strVal val="#ppt_y+0.04"/>
                                          </p:val>
                                        </p:tav>
                                        <p:tav tm="100000">
                                          <p:val>
                                            <p:strVal val="#ppt_y"/>
                                          </p:val>
                                        </p:tav>
                                      </p:tavLst>
                                    </p:anim>
                                  </p:childTnLst>
                                </p:cTn>
                              </p:par>
                              <p:par>
                                <p:cTn id="121" presetID="42" presetClass="entr" presetSubtype="0" fill="hold" grpId="0" nodeType="withEffect">
                                  <p:stCondLst>
                                    <p:cond delay="1060"/>
                                  </p:stCondLst>
                                  <p:childTnLst>
                                    <p:set>
                                      <p:cBhvr>
                                        <p:cTn id="119" dur="1" fill="hold">
                                          <p:stCondLst>
                                            <p:cond delay="0"/>
                                          </p:stCondLst>
                                        </p:cTn>
                                        <p:tgtEl>
                                          <p:spTgt spid="33"/>
                                        </p:tgtEl>
                                        <p:attrNameLst>
                                          <p:attrName>style.visibility</p:attrName>
                                        </p:attrNameLst>
                                      </p:cBhvr>
                                      <p:to>
                                        <p:strVal val="visible"/>
                                      </p:to>
                                    </p:set>
                                    <p:animEffect transition="in" filter="fade">
                                      <p:cBhvr>
                                        <p:cTn id="120" dur="550"/>
                                        <p:tgtEl>
                                          <p:spTgt spid="33"/>
                                        </p:tgtEl>
                                      </p:cBhvr>
                                    </p:animEffect>
                                    <p:anim calcmode="lin" valueType="num">
                                      <p:cBhvr>
                                        <p:cTn id="122" dur="550" decel="100000" fill="hold"/>
                                        <p:tgtEl>
                                          <p:spTgt spid="33"/>
                                        </p:tgtEl>
                                        <p:attrNameLst>
                                          <p:attrName>ppt_x</p:attrName>
                                        </p:attrNameLst>
                                      </p:cBhvr>
                                      <p:tavLst>
                                        <p:tav tm="0">
                                          <p:val>
                                            <p:strVal val="#ppt_x"/>
                                          </p:val>
                                        </p:tav>
                                        <p:tav tm="100000">
                                          <p:val>
                                            <p:strVal val="#ppt_x"/>
                                          </p:val>
                                        </p:tav>
                                      </p:tavLst>
                                    </p:anim>
                                    <p:anim calcmode="lin" valueType="num">
                                      <p:cBhvr>
                                        <p:cTn id="123" dur="550" decel="100000" fill="hold"/>
                                        <p:tgtEl>
                                          <p:spTgt spid="33"/>
                                        </p:tgtEl>
                                        <p:attrNameLst>
                                          <p:attrName>ppt_y</p:attrName>
                                        </p:attrNameLst>
                                      </p:cBhvr>
                                      <p:tavLst>
                                        <p:tav tm="0">
                                          <p:val>
                                            <p:strVal val="#ppt_y+0.04"/>
                                          </p:val>
                                        </p:tav>
                                        <p:tav tm="100000">
                                          <p:val>
                                            <p:strVal val="#ppt_y"/>
                                          </p:val>
                                        </p:tav>
                                      </p:tavLst>
                                    </p:anim>
                                  </p:childTnLst>
                                </p:cTn>
                              </p:par>
                              <p:par>
                                <p:cTn id="126" presetID="53" presetClass="entr" presetSubtype="16" fill="hold" grpId="0" nodeType="withEffect">
                                  <p:stCondLst>
                                    <p:cond delay="1190"/>
                                  </p:stCondLst>
                                  <p:childTnLst>
                                    <p:set>
                                      <p:cBhvr>
                                        <p:cTn id="124" dur="1" fill="hold">
                                          <p:stCondLst>
                                            <p:cond delay="0"/>
                                          </p:stCondLst>
                                        </p:cTn>
                                        <p:tgtEl>
                                          <p:spTgt spid="34"/>
                                        </p:tgtEl>
                                        <p:attrNameLst>
                                          <p:attrName>style.visibility</p:attrName>
                                        </p:attrNameLst>
                                      </p:cBhvr>
                                      <p:to>
                                        <p:strVal val="visible"/>
                                      </p:to>
                                    </p:set>
                                    <p:anim calcmode="lin" valueType="num">
                                      <p:cBhvr>
                                        <p:cTn id="127" dur="600" decel="100000" fill="hold"/>
                                        <p:tgtEl>
                                          <p:spTgt spid="34"/>
                                        </p:tgtEl>
                                        <p:attrNameLst>
                                          <p:attrName>ppt_w</p:attrName>
                                        </p:attrNameLst>
                                      </p:cBhvr>
                                      <p:tavLst>
                                        <p:tav tm="0">
                                          <p:val>
                                            <p:strVal val="#ppt_w*0.7"/>
                                          </p:val>
                                        </p:tav>
                                        <p:tav tm="100000">
                                          <p:val>
                                            <p:strVal val="#ppt_w"/>
                                          </p:val>
                                        </p:tav>
                                      </p:tavLst>
                                    </p:anim>
                                    <p:anim calcmode="lin" valueType="num">
                                      <p:cBhvr>
                                        <p:cTn id="128" dur="600" decel="100000" fill="hold"/>
                                        <p:tgtEl>
                                          <p:spTgt spid="34"/>
                                        </p:tgtEl>
                                        <p:attrNameLst>
                                          <p:attrName>ppt_h</p:attrName>
                                        </p:attrNameLst>
                                      </p:cBhvr>
                                      <p:tavLst>
                                        <p:tav tm="0">
                                          <p:val>
                                            <p:strVal val="#ppt_h*0.7"/>
                                          </p:val>
                                        </p:tav>
                                        <p:tav tm="100000">
                                          <p:val>
                                            <p:strVal val="#ppt_h"/>
                                          </p:val>
                                        </p:tav>
                                      </p:tavLst>
                                    </p:anim>
                                    <p:animEffect transition="in" filter="fade">
                                      <p:cBhvr>
                                        <p:cTn id="125" dur="600"/>
                                        <p:tgtEl>
                                          <p:spTgt spid="34"/>
                                        </p:tgtEl>
                                      </p:cBhvr>
                                    </p:animEffect>
                                  </p:childTnLst>
                                </p:cTn>
                              </p:par>
                              <p:par>
                                <p:cTn id="131" presetID="42" presetClass="entr" presetSubtype="0" fill="hold" grpId="0" nodeType="withEffect">
                                  <p:stCondLst>
                                    <p:cond delay="1190"/>
                                  </p:stCondLst>
                                  <p:childTnLst>
                                    <p:set>
                                      <p:cBhvr>
                                        <p:cTn id="129" dur="1" fill="hold">
                                          <p:stCondLst>
                                            <p:cond delay="0"/>
                                          </p:stCondLst>
                                        </p:cTn>
                                        <p:tgtEl>
                                          <p:spTgt spid="35"/>
                                        </p:tgtEl>
                                        <p:attrNameLst>
                                          <p:attrName>style.visibility</p:attrName>
                                        </p:attrNameLst>
                                      </p:cBhvr>
                                      <p:to>
                                        <p:strVal val="visible"/>
                                      </p:to>
                                    </p:set>
                                    <p:animEffect transition="in" filter="fade">
                                      <p:cBhvr>
                                        <p:cTn id="130" dur="550"/>
                                        <p:tgtEl>
                                          <p:spTgt spid="35"/>
                                        </p:tgtEl>
                                      </p:cBhvr>
                                    </p:animEffect>
                                    <p:anim calcmode="lin" valueType="num">
                                      <p:cBhvr>
                                        <p:cTn id="132" dur="550" decel="100000" fill="hold"/>
                                        <p:tgtEl>
                                          <p:spTgt spid="35"/>
                                        </p:tgtEl>
                                        <p:attrNameLst>
                                          <p:attrName>ppt_x</p:attrName>
                                        </p:attrNameLst>
                                      </p:cBhvr>
                                      <p:tavLst>
                                        <p:tav tm="0">
                                          <p:val>
                                            <p:strVal val="#ppt_x"/>
                                          </p:val>
                                        </p:tav>
                                        <p:tav tm="100000">
                                          <p:val>
                                            <p:strVal val="#ppt_x"/>
                                          </p:val>
                                        </p:tav>
                                      </p:tavLst>
                                    </p:anim>
                                    <p:anim calcmode="lin" valueType="num">
                                      <p:cBhvr>
                                        <p:cTn id="133" dur="550" decel="100000" fill="hold"/>
                                        <p:tgtEl>
                                          <p:spTgt spid="35"/>
                                        </p:tgtEl>
                                        <p:attrNameLst>
                                          <p:attrName>ppt_y</p:attrName>
                                        </p:attrNameLst>
                                      </p:cBhvr>
                                      <p:tavLst>
                                        <p:tav tm="0">
                                          <p:val>
                                            <p:strVal val="#ppt_y+0.04"/>
                                          </p:val>
                                        </p:tav>
                                        <p:tav tm="100000">
                                          <p:val>
                                            <p:strVal val="#ppt_y"/>
                                          </p:val>
                                        </p:tav>
                                      </p:tavLst>
                                    </p:anim>
                                  </p:childTnLst>
                                </p:cTn>
                              </p:par>
                              <p:par>
                                <p:cTn id="136" presetID="42" presetClass="entr" presetSubtype="0" fill="hold" grpId="0" nodeType="withEffect">
                                  <p:stCondLst>
                                    <p:cond delay="1190"/>
                                  </p:stCondLst>
                                  <p:childTnLst>
                                    <p:set>
                                      <p:cBhvr>
                                        <p:cTn id="134" dur="1" fill="hold">
                                          <p:stCondLst>
                                            <p:cond delay="0"/>
                                          </p:stCondLst>
                                        </p:cTn>
                                        <p:tgtEl>
                                          <p:spTgt spid="36"/>
                                        </p:tgtEl>
                                        <p:attrNameLst>
                                          <p:attrName>style.visibility</p:attrName>
                                        </p:attrNameLst>
                                      </p:cBhvr>
                                      <p:to>
                                        <p:strVal val="visible"/>
                                      </p:to>
                                    </p:set>
                                    <p:animEffect transition="in" filter="fade">
                                      <p:cBhvr>
                                        <p:cTn id="135" dur="550"/>
                                        <p:tgtEl>
                                          <p:spTgt spid="36"/>
                                        </p:tgtEl>
                                      </p:cBhvr>
                                    </p:animEffect>
                                    <p:anim calcmode="lin" valueType="num">
                                      <p:cBhvr>
                                        <p:cTn id="137" dur="550" decel="100000" fill="hold"/>
                                        <p:tgtEl>
                                          <p:spTgt spid="36"/>
                                        </p:tgtEl>
                                        <p:attrNameLst>
                                          <p:attrName>ppt_x</p:attrName>
                                        </p:attrNameLst>
                                      </p:cBhvr>
                                      <p:tavLst>
                                        <p:tav tm="0">
                                          <p:val>
                                            <p:strVal val="#ppt_x"/>
                                          </p:val>
                                        </p:tav>
                                        <p:tav tm="100000">
                                          <p:val>
                                            <p:strVal val="#ppt_x"/>
                                          </p:val>
                                        </p:tav>
                                      </p:tavLst>
                                    </p:anim>
                                    <p:anim calcmode="lin" valueType="num">
                                      <p:cBhvr>
                                        <p:cTn id="138" dur="550" decel="100000" fill="hold"/>
                                        <p:tgtEl>
                                          <p:spTgt spid="36"/>
                                        </p:tgtEl>
                                        <p:attrNameLst>
                                          <p:attrName>ppt_y</p:attrName>
                                        </p:attrNameLst>
                                      </p:cBhvr>
                                      <p:tavLst>
                                        <p:tav tm="0">
                                          <p:val>
                                            <p:strVal val="#ppt_y+0.04"/>
                                          </p:val>
                                        </p:tav>
                                        <p:tav tm="100000">
                                          <p:val>
                                            <p:strVal val="#ppt_y"/>
                                          </p:val>
                                        </p:tav>
                                      </p:tavLst>
                                    </p:anim>
                                  </p:childTnLst>
                                </p:cTn>
                              </p:par>
                              <p:par>
                                <p:cTn id="141" presetID="10" presetClass="entr" presetSubtype="0" fill="hold" grpId="0" nodeType="withEffect">
                                  <p:stCondLst>
                                    <p:cond delay="1320"/>
                                  </p:stCondLst>
                                  <p:childTnLst>
                                    <p:set>
                                      <p:cBhvr>
                                        <p:cTn id="139" dur="1" fill="hold">
                                          <p:stCondLst>
                                            <p:cond delay="0"/>
                                          </p:stCondLst>
                                        </p:cTn>
                                        <p:tgtEl>
                                          <p:spTgt spid="37"/>
                                        </p:tgtEl>
                                        <p:attrNameLst>
                                          <p:attrName>style.visibility</p:attrName>
                                        </p:attrNameLst>
                                      </p:cBhvr>
                                      <p:to>
                                        <p:strVal val="visible"/>
                                      </p:to>
                                    </p:set>
                                    <p:animEffect transition="in" filter="fade">
                                      <p:cBhvr>
                                        <p:cTn id="140" dur="550"/>
                                        <p:tgtEl>
                                          <p:spTgt spid="37"/>
                                        </p:tgtEl>
                                      </p:cBhvr>
                                    </p:animEffect>
                                  </p:childTnLst>
                                </p:cTn>
                              </p:par>
                              <p:par>
                                <p:cTn id="144" presetID="53" presetClass="entr" presetSubtype="16" fill="hold" grpId="0" nodeType="withEffect">
                                  <p:stCondLst>
                                    <p:cond delay="1450"/>
                                  </p:stCondLst>
                                  <p:childTnLst>
                                    <p:set>
                                      <p:cBhvr>
                                        <p:cTn id="142" dur="1" fill="hold">
                                          <p:stCondLst>
                                            <p:cond delay="0"/>
                                          </p:stCondLst>
                                        </p:cTn>
                                        <p:tgtEl>
                                          <p:spTgt spid="39"/>
                                        </p:tgtEl>
                                        <p:attrNameLst>
                                          <p:attrName>style.visibility</p:attrName>
                                        </p:attrNameLst>
                                      </p:cBhvr>
                                      <p:to>
                                        <p:strVal val="visible"/>
                                      </p:to>
                                    </p:set>
                                    <p:anim calcmode="lin" valueType="num">
                                      <p:cBhvr>
                                        <p:cTn id="145" dur="600" decel="100000" fill="hold"/>
                                        <p:tgtEl>
                                          <p:spTgt spid="39"/>
                                        </p:tgtEl>
                                        <p:attrNameLst>
                                          <p:attrName>ppt_w</p:attrName>
                                        </p:attrNameLst>
                                      </p:cBhvr>
                                      <p:tavLst>
                                        <p:tav tm="0">
                                          <p:val>
                                            <p:strVal val="#ppt_w*0.7"/>
                                          </p:val>
                                        </p:tav>
                                        <p:tav tm="100000">
                                          <p:val>
                                            <p:strVal val="#ppt_w"/>
                                          </p:val>
                                        </p:tav>
                                      </p:tavLst>
                                    </p:anim>
                                    <p:anim calcmode="lin" valueType="num">
                                      <p:cBhvr>
                                        <p:cTn id="146" dur="600" decel="100000" fill="hold"/>
                                        <p:tgtEl>
                                          <p:spTgt spid="39"/>
                                        </p:tgtEl>
                                        <p:attrNameLst>
                                          <p:attrName>ppt_h</p:attrName>
                                        </p:attrNameLst>
                                      </p:cBhvr>
                                      <p:tavLst>
                                        <p:tav tm="0">
                                          <p:val>
                                            <p:strVal val="#ppt_h*0.7"/>
                                          </p:val>
                                        </p:tav>
                                        <p:tav tm="100000">
                                          <p:val>
                                            <p:strVal val="#ppt_h"/>
                                          </p:val>
                                        </p:tav>
                                      </p:tavLst>
                                    </p:anim>
                                    <p:animEffect transition="in" filter="fade">
                                      <p:cBhvr>
                                        <p:cTn id="143" dur="6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6" grpId="0" animBg="1"/>
      <p:bldP spid="17" grpId="0" animBg="1"/>
      <p:bldP spid="18" grpId="0" animBg="1"/>
      <p:bldP spid="20" grpId="0" animBg="1"/>
      <p:bldP spid="21" grpId="0" animBg="1"/>
      <p:bldP spid="22" grpId="0" animBg="1"/>
      <p:bldP spid="23" grpId="0" animBg="1"/>
      <p:bldP spid="24" grpId="0" animBg="1"/>
      <p:bldP spid="25" grpId="0" animBg="1"/>
      <p:bldP spid="27" grpId="0" animBg="1"/>
      <p:bldP spid="28" grpId="0" animBg="1"/>
      <p:bldP spid="30" grpId="0" animBg="1"/>
      <p:bldP spid="31" grpId="0" animBg="1"/>
      <p:bldP spid="33" grpId="0" animBg="1"/>
      <p:bldP spid="34" grpId="0" animBg="1"/>
      <p:bldP spid="36" grpId="0" animBg="1"/>
      <p:bldP spid="37" grpId="0" animBg="1"/>
    </p:bldLst>
  </p:timing>
</p:sld>
</file>

<file path=ppt/slides/slide11.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11">
    <p:bg>
      <p:bgPr>
        <a:solidFill>
          <a:srgbClr val="0A0405"/>
        </a:solidFill>
      </p:bgPr>
    </p:bg>
    <p:spTree>
      <p:nvGrpSpPr>
        <p:cNvPr id="1" name=""/>
        <p:cNvGrpSpPr/>
        <p:nvPr/>
      </p:nvGrpSpPr>
      <p:grpSpPr>
        <a:xfrm>
          <a:off x="0" y="0"/>
          <a:ext cx="0" cy="0"/>
          <a:chOff x="0" y="0"/>
          <a:chExt cx="0" cy="0"/>
        </a:xfrm>
      </p:grpSpPr>
      <p:pic>
        <p:nvPicPr>
          <p:cNvPr id="2" name="!!bg" descr="Vaccine vial and syringe in red light">    </p:cNvPr>
          <p:cNvPicPr>
            <a:picLocks noChangeAspect="1"/>
          </p:cNvPicPr>
          <p:nvPr/>
        </p:nvPicPr>
        <p:blipFill>
          <a:blip r:embed="rId1"/>
          <a:stretch>
            <a:fillRect/>
          </a:stretch>
        </p:blipFill>
        <p:spPr>
          <a:xfrm>
            <a:off x="0" y="0"/>
            <a:ext cx="12191695" cy="6858000"/>
          </a:xfrm>
          <a:prstGeom prst="rect">
            <a:avLst/>
          </a:prstGeom>
        </p:spPr>
      </p:pic>
      <p:pic>
        <p:nvPicPr>
          <p:cNvPr id="3" name="!!shade" descr="/home/user/mdist-tracker/presentations/malaria/build/shade_L.png">    </p:cNvPr>
          <p:cNvPicPr>
            <a:picLocks noChangeAspect="1"/>
          </p:cNvPicPr>
          <p:nvPr/>
        </p:nvPicPr>
        <p:blipFill>
          <a:blip r:embed="rId2"/>
          <a:stretch>
            <a:fillRect/>
          </a:stretch>
        </p:blipFill>
        <p:spPr>
          <a:xfrm>
            <a:off x="0" y="0"/>
            <a:ext cx="12191695" cy="6858000"/>
          </a:xfrm>
          <a:prstGeom prst="rect">
            <a:avLst/>
          </a:prstGeom>
        </p:spPr>
      </p:pic>
      <p:sp>
        <p:nvSpPr>
          <p:cNvPr id="4" name="!!pill"/>
          <p:cNvSpPr/>
          <p:nvPr/>
        </p:nvSpPr>
        <p:spPr>
          <a:xfrm>
            <a:off x="548640" y="411480"/>
            <a:ext cx="2168957" cy="274320"/>
          </a:xfrm>
          <a:prstGeom prst="roundRect">
            <a:avLst>
              <a:gd name="adj" fmla="val 50000"/>
            </a:avLst>
          </a:prstGeom>
          <a:solidFill>
            <a:srgbClr val="0A0405">
              <a:alpha val="65000"/>
            </a:srgbClr>
          </a:solidFill>
          <a:ln w="9525">
            <a:solidFill>
              <a:srgbClr val="7A3038"/>
            </a:solidFill>
            <a:prstDash val="solid"/>
          </a:ln>
        </p:spPr>
      </p:sp>
      <p:sp>
        <p:nvSpPr>
          <p:cNvPr id="5" name="!!pilltext"/>
          <p:cNvSpPr txBox="1"/>
          <p:nvPr/>
        </p:nvSpPr>
        <p:spPr>
          <a:xfrm>
            <a:off x="548640" y="411480"/>
            <a:ext cx="2168957" cy="274320"/>
          </a:xfrm>
          <a:prstGeom prst="rect">
            <a:avLst/>
          </a:prstGeom>
          <a:noFill/>
          <a:ln/>
        </p:spPr>
        <p:txBody>
          <a:bodyPr wrap="square" lIns="0" tIns="0" rIns="0" bIns="0" rtlCol="0" anchor="ctr"/>
          <a:lstStyle/>
          <a:p>
            <a:pPr algn="ctr" indent="0" marL="0">
              <a:buNone/>
            </a:pPr>
            <a:r>
              <a:rPr lang="en-US" sz="1000" b="1" spc="150" kern="0" dirty="0">
                <a:solidFill>
                  <a:srgbClr val="C9B2AE"/>
                </a:solidFill>
                <a:latin typeface="Arial" pitchFamily="34" charset="0"/>
                <a:ea typeface="Arial" pitchFamily="34" charset="-122"/>
                <a:cs typeface="Arial" pitchFamily="34" charset="-120"/>
              </a:rPr>
              <a:t>04 · FIGHTING BACK</a:t>
            </a:r>
            <a:endParaRPr lang="en-US" sz="1000" dirty="0"/>
          </a:p>
        </p:txBody>
      </p:sp>
      <p:pic>
        <p:nvPicPr>
          <p:cNvPr id="6" name="!!title" descr="The vaccine">    </p:cNvPr>
          <p:cNvPicPr>
            <a:picLocks noChangeAspect="1"/>
          </p:cNvPicPr>
          <p:nvPr/>
        </p:nvPicPr>
        <p:blipFill>
          <a:blip r:embed="rId3"/>
          <a:stretch>
            <a:fillRect/>
          </a:stretch>
        </p:blipFill>
        <p:spPr>
          <a:xfrm>
            <a:off x="521208" y="822960"/>
            <a:ext cx="4212580" cy="530721"/>
          </a:xfrm>
          <a:prstGeom prst="rect">
            <a:avLst/>
          </a:prstGeom>
        </p:spPr>
      </p:pic>
      <p:pic>
        <p:nvPicPr>
          <p:cNvPr id="7" name="!!crest" descr="MDIS Tashkent crest">    </p:cNvPr>
          <p:cNvPicPr>
            <a:picLocks noChangeAspect="1"/>
          </p:cNvPicPr>
          <p:nvPr/>
        </p:nvPicPr>
        <p:blipFill>
          <a:blip r:embed="rId4"/>
          <a:stretch>
            <a:fillRect/>
          </a:stretch>
        </p:blipFill>
        <p:spPr>
          <a:xfrm>
            <a:off x="11249708" y="384048"/>
            <a:ext cx="393347" cy="384048"/>
          </a:xfrm>
          <a:prstGeom prst="rect">
            <a:avLst/>
          </a:prstGeom>
        </p:spPr>
      </p:pic>
      <p:sp>
        <p:nvSpPr>
          <p:cNvPr id="8" name="Text 2"/>
          <p:cNvSpPr txBox="1"/>
          <p:nvPr/>
        </p:nvSpPr>
        <p:spPr>
          <a:xfrm>
            <a:off x="548640" y="6382512"/>
            <a:ext cx="7863840" cy="256032"/>
          </a:xfrm>
          <a:prstGeom prst="rect">
            <a:avLst/>
          </a:prstGeom>
          <a:noFill/>
          <a:ln/>
        </p:spPr>
        <p:txBody>
          <a:bodyPr wrap="square" lIns="0" tIns="0" rIns="0" bIns="0" rtlCol="0" anchor="ctr"/>
          <a:lstStyle/>
          <a:p>
            <a:pPr indent="0" marL="0">
              <a:buNone/>
            </a:pPr>
            <a:r>
              <a:rPr lang="en-US" sz="1000" dirty="0">
                <a:solidFill>
                  <a:srgbClr val="9C8380"/>
                </a:solidFill>
                <a:latin typeface="Arial" pitchFamily="34" charset="0"/>
                <a:ea typeface="Arial" pitchFamily="34" charset="-122"/>
                <a:cs typeface="Arial" pitchFamily="34" charset="-120"/>
              </a:rPr>
              <a:t>Source: World Health Organization (2021; 2023b; 2025b); University of Oxford (2023)</a:t>
            </a:r>
            <a:endParaRPr lang="en-US" sz="1000" dirty="0"/>
          </a:p>
        </p:txBody>
      </p:sp>
      <p:sp>
        <p:nvSpPr>
          <p:cNvPr id="9" name="Text 3"/>
          <p:cNvSpPr txBox="1"/>
          <p:nvPr/>
        </p:nvSpPr>
        <p:spPr>
          <a:xfrm>
            <a:off x="7802575" y="6382512"/>
            <a:ext cx="3840480" cy="256032"/>
          </a:xfrm>
          <a:prstGeom prst="rect">
            <a:avLst/>
          </a:prstGeom>
          <a:noFill/>
          <a:ln/>
        </p:spPr>
        <p:txBody>
          <a:bodyPr wrap="square" lIns="0" tIns="0" rIns="0" bIns="0" rtlCol="0" anchor="ctr"/>
          <a:lstStyle/>
          <a:p>
            <a:pPr algn="r" indent="0" marL="0">
              <a:buNone/>
            </a:pPr>
            <a:r>
              <a:rPr lang="en-US" sz="1000" b="1" spc="100" kern="0" dirty="0">
                <a:solidFill>
                  <a:srgbClr val="C9B2AE"/>
                </a:solidFill>
                <a:latin typeface="Arial" pitchFamily="34" charset="0"/>
                <a:ea typeface="Arial" pitchFamily="34" charset="-122"/>
                <a:cs typeface="Arial" pitchFamily="34" charset="-120"/>
              </a:rPr>
              <a:t>AKMALBEK ABDURAIMOV   ·   11 / 16</a:t>
            </a:r>
            <a:endParaRPr lang="en-US" sz="1000" dirty="0"/>
          </a:p>
        </p:txBody>
      </p:sp>
      <p:sp>
        <p:nvSpPr>
          <p:cNvPr id="10" name="fx:1:up:c0"/>
          <p:cNvSpPr/>
          <p:nvPr/>
        </p:nvSpPr>
        <p:spPr>
          <a:xfrm>
            <a:off x="548640" y="1783080"/>
            <a:ext cx="3154680" cy="2880360"/>
          </a:xfrm>
          <a:prstGeom prst="roundRect">
            <a:avLst>
              <a:gd name="adj" fmla="val 2857"/>
            </a:avLst>
          </a:prstGeom>
          <a:solidFill>
            <a:srgbClr val="1C080B">
              <a:alpha val="78000"/>
            </a:srgbClr>
          </a:solidFill>
          <a:ln w="9525">
            <a:solidFill>
              <a:srgbClr val="7A3038"/>
            </a:solidFill>
            <a:prstDash val="solid"/>
          </a:ln>
        </p:spPr>
      </p:sp>
      <p:sp>
        <p:nvSpPr>
          <p:cNvPr id="11" name="fx:1:up:tag0"/>
          <p:cNvSpPr/>
          <p:nvPr/>
        </p:nvSpPr>
        <p:spPr>
          <a:xfrm>
            <a:off x="777240" y="2011680"/>
            <a:ext cx="1978762" cy="274320"/>
          </a:xfrm>
          <a:prstGeom prst="roundRect">
            <a:avLst>
              <a:gd name="adj" fmla="val 50000"/>
            </a:avLst>
          </a:prstGeom>
          <a:solidFill>
            <a:srgbClr val="0A0405">
              <a:alpha val="65000"/>
            </a:srgbClr>
          </a:solidFill>
          <a:ln w="9525">
            <a:solidFill>
              <a:srgbClr val="E5333D"/>
            </a:solidFill>
            <a:prstDash val="solid"/>
          </a:ln>
        </p:spPr>
      </p:sp>
      <p:sp>
        <p:nvSpPr>
          <p:cNvPr id="12" name="fx:1:up:tagt0"/>
          <p:cNvSpPr txBox="1"/>
          <p:nvPr/>
        </p:nvSpPr>
        <p:spPr>
          <a:xfrm>
            <a:off x="777240" y="2011680"/>
            <a:ext cx="1978762" cy="274320"/>
          </a:xfrm>
          <a:prstGeom prst="rect">
            <a:avLst/>
          </a:prstGeom>
          <a:noFill/>
          <a:ln/>
        </p:spPr>
        <p:txBody>
          <a:bodyPr wrap="square" lIns="0" tIns="0" rIns="0" bIns="0" rtlCol="0" anchor="ctr"/>
          <a:lstStyle/>
          <a:p>
            <a:pPr algn="ctr" indent="0" marL="0">
              <a:buNone/>
            </a:pPr>
            <a:r>
              <a:rPr lang="en-US" sz="1000" b="1" spc="150" kern="0" dirty="0">
                <a:solidFill>
                  <a:srgbClr val="F4ECE8"/>
                </a:solidFill>
                <a:latin typeface="Arial" pitchFamily="34" charset="0"/>
                <a:ea typeface="Arial" pitchFamily="34" charset="-122"/>
                <a:cs typeface="Arial" pitchFamily="34" charset="-120"/>
              </a:rPr>
              <a:t>FIRST · WHO 2021</a:t>
            </a:r>
            <a:endParaRPr lang="en-US" sz="1000" dirty="0"/>
          </a:p>
        </p:txBody>
      </p:sp>
      <p:pic>
        <p:nvPicPr>
          <p:cNvPr id="13" name="fx:1:up:n0" descr="RTS,S">    </p:cNvPr>
          <p:cNvPicPr>
            <a:picLocks noChangeAspect="1"/>
          </p:cNvPicPr>
          <p:nvPr/>
        </p:nvPicPr>
        <p:blipFill>
          <a:blip r:embed="rId5"/>
          <a:stretch>
            <a:fillRect/>
          </a:stretch>
        </p:blipFill>
        <p:spPr>
          <a:xfrm>
            <a:off x="749808" y="2468880"/>
            <a:ext cx="1444377" cy="418802"/>
          </a:xfrm>
          <a:prstGeom prst="rect">
            <a:avLst/>
          </a:prstGeom>
        </p:spPr>
      </p:pic>
      <p:sp>
        <p:nvSpPr>
          <p:cNvPr id="14" name="fx:1:up:s0"/>
          <p:cNvSpPr txBox="1"/>
          <p:nvPr/>
        </p:nvSpPr>
        <p:spPr>
          <a:xfrm>
            <a:off x="777240" y="3044952"/>
            <a:ext cx="2697480" cy="219456"/>
          </a:xfrm>
          <a:prstGeom prst="rect">
            <a:avLst/>
          </a:prstGeom>
          <a:noFill/>
          <a:ln/>
        </p:spPr>
        <p:txBody>
          <a:bodyPr wrap="square" lIns="0" tIns="0" rIns="0" bIns="0" rtlCol="0" anchor="t"/>
          <a:lstStyle/>
          <a:p>
            <a:pPr indent="0" marL="0">
              <a:buNone/>
            </a:pPr>
            <a:r>
              <a:rPr lang="en-US" sz="1000" b="1" spc="150" kern="0" dirty="0">
                <a:solidFill>
                  <a:srgbClr val="E5333D"/>
                </a:solidFill>
                <a:latin typeface="Arial" pitchFamily="34" charset="0"/>
                <a:ea typeface="Arial" pitchFamily="34" charset="-122"/>
                <a:cs typeface="Arial" pitchFamily="34" charset="-120"/>
              </a:rPr>
              <a:t>AS01 · GSK</a:t>
            </a:r>
            <a:endParaRPr lang="en-US" sz="1000" dirty="0"/>
          </a:p>
        </p:txBody>
      </p:sp>
      <p:sp>
        <p:nvSpPr>
          <p:cNvPr id="15" name="fx:1:up:b0"/>
          <p:cNvSpPr txBox="1"/>
          <p:nvPr/>
        </p:nvSpPr>
        <p:spPr>
          <a:xfrm>
            <a:off x="777240" y="3355848"/>
            <a:ext cx="2697480" cy="1188720"/>
          </a:xfrm>
          <a:prstGeom prst="rect">
            <a:avLst/>
          </a:prstGeom>
          <a:noFill/>
          <a:ln/>
        </p:spPr>
        <p:txBody>
          <a:bodyPr wrap="square" lIns="0" tIns="0" rIns="0" bIns="0" rtlCol="0" anchor="t"/>
          <a:lstStyle/>
          <a:p>
            <a:pPr indent="0" marL="0">
              <a:buNone/>
            </a:pPr>
            <a:r>
              <a:rPr lang="en-US" sz="1300" dirty="0">
                <a:solidFill>
                  <a:srgbClr val="F4ECE8"/>
                </a:solidFill>
                <a:latin typeface="Arial" pitchFamily="34" charset="0"/>
                <a:ea typeface="Arial" pitchFamily="34" charset="-122"/>
                <a:cs typeface="Arial" pitchFamily="34" charset="-120"/>
              </a:rPr>
              <a:t>30 years of research. Recommended for children in October 2021: “a historic moment”.</a:t>
            </a:r>
            <a:endParaRPr lang="en-US" sz="1300" dirty="0"/>
          </a:p>
        </p:txBody>
      </p:sp>
      <p:sp>
        <p:nvSpPr>
          <p:cNvPr id="16" name="fx:2:up:c1"/>
          <p:cNvSpPr/>
          <p:nvPr/>
        </p:nvSpPr>
        <p:spPr>
          <a:xfrm>
            <a:off x="3931920" y="1783080"/>
            <a:ext cx="3154680" cy="2880360"/>
          </a:xfrm>
          <a:prstGeom prst="roundRect">
            <a:avLst>
              <a:gd name="adj" fmla="val 2857"/>
            </a:avLst>
          </a:prstGeom>
          <a:solidFill>
            <a:srgbClr val="1C080B">
              <a:alpha val="78000"/>
            </a:srgbClr>
          </a:solidFill>
          <a:ln w="9525">
            <a:solidFill>
              <a:srgbClr val="7A3038"/>
            </a:solidFill>
            <a:prstDash val="solid"/>
          </a:ln>
        </p:spPr>
      </p:sp>
      <p:sp>
        <p:nvSpPr>
          <p:cNvPr id="17" name="fx:2:up:tag1"/>
          <p:cNvSpPr/>
          <p:nvPr/>
        </p:nvSpPr>
        <p:spPr>
          <a:xfrm>
            <a:off x="4160520" y="2011680"/>
            <a:ext cx="2073859" cy="274320"/>
          </a:xfrm>
          <a:prstGeom prst="roundRect">
            <a:avLst>
              <a:gd name="adj" fmla="val 50000"/>
            </a:avLst>
          </a:prstGeom>
          <a:solidFill>
            <a:srgbClr val="0A0405">
              <a:alpha val="65000"/>
            </a:srgbClr>
          </a:solidFill>
          <a:ln w="9525">
            <a:solidFill>
              <a:srgbClr val="E5333D"/>
            </a:solidFill>
            <a:prstDash val="solid"/>
          </a:ln>
        </p:spPr>
      </p:sp>
      <p:sp>
        <p:nvSpPr>
          <p:cNvPr id="18" name="fx:2:up:tagt1"/>
          <p:cNvSpPr txBox="1"/>
          <p:nvPr/>
        </p:nvSpPr>
        <p:spPr>
          <a:xfrm>
            <a:off x="4160520" y="2011680"/>
            <a:ext cx="2073859" cy="274320"/>
          </a:xfrm>
          <a:prstGeom prst="rect">
            <a:avLst/>
          </a:prstGeom>
          <a:noFill/>
          <a:ln/>
        </p:spPr>
        <p:txBody>
          <a:bodyPr wrap="square" lIns="0" tIns="0" rIns="0" bIns="0" rtlCol="0" anchor="ctr"/>
          <a:lstStyle/>
          <a:p>
            <a:pPr algn="ctr" indent="0" marL="0">
              <a:buNone/>
            </a:pPr>
            <a:r>
              <a:rPr lang="en-US" sz="1000" b="1" spc="150" kern="0" dirty="0">
                <a:solidFill>
                  <a:srgbClr val="F4ECE8"/>
                </a:solidFill>
                <a:latin typeface="Arial" pitchFamily="34" charset="0"/>
                <a:ea typeface="Arial" pitchFamily="34" charset="-122"/>
                <a:cs typeface="Arial" pitchFamily="34" charset="-120"/>
              </a:rPr>
              <a:t>SECOND · WHO 2023</a:t>
            </a:r>
            <a:endParaRPr lang="en-US" sz="1000" dirty="0"/>
          </a:p>
        </p:txBody>
      </p:sp>
      <p:pic>
        <p:nvPicPr>
          <p:cNvPr id="19" name="fx:2:up:n1" descr="R21">    </p:cNvPr>
          <p:cNvPicPr>
            <a:picLocks noChangeAspect="1"/>
          </p:cNvPicPr>
          <p:nvPr/>
        </p:nvPicPr>
        <p:blipFill>
          <a:blip r:embed="rId6"/>
          <a:stretch>
            <a:fillRect/>
          </a:stretch>
        </p:blipFill>
        <p:spPr>
          <a:xfrm>
            <a:off x="4133088" y="2468880"/>
            <a:ext cx="917377" cy="418802"/>
          </a:xfrm>
          <a:prstGeom prst="rect">
            <a:avLst/>
          </a:prstGeom>
        </p:spPr>
      </p:pic>
      <p:sp>
        <p:nvSpPr>
          <p:cNvPr id="20" name="fx:2:up:s1"/>
          <p:cNvSpPr txBox="1"/>
          <p:nvPr/>
        </p:nvSpPr>
        <p:spPr>
          <a:xfrm>
            <a:off x="4160520" y="3044952"/>
            <a:ext cx="2697480" cy="219456"/>
          </a:xfrm>
          <a:prstGeom prst="rect">
            <a:avLst/>
          </a:prstGeom>
          <a:noFill/>
          <a:ln/>
        </p:spPr>
        <p:txBody>
          <a:bodyPr wrap="square" lIns="0" tIns="0" rIns="0" bIns="0" rtlCol="0" anchor="t"/>
          <a:lstStyle/>
          <a:p>
            <a:pPr indent="0" marL="0">
              <a:buNone/>
            </a:pPr>
            <a:r>
              <a:rPr lang="en-US" sz="1000" b="1" spc="150" kern="0" dirty="0">
                <a:solidFill>
                  <a:srgbClr val="E5333D"/>
                </a:solidFill>
                <a:latin typeface="Arial" pitchFamily="34" charset="0"/>
                <a:ea typeface="Arial" pitchFamily="34" charset="-122"/>
                <a:cs typeface="Arial" pitchFamily="34" charset="-120"/>
              </a:rPr>
              <a:t>MATRIX-M · OXFORD</a:t>
            </a:r>
            <a:endParaRPr lang="en-US" sz="1000" dirty="0"/>
          </a:p>
        </p:txBody>
      </p:sp>
      <p:sp>
        <p:nvSpPr>
          <p:cNvPr id="21" name="fx:2:up:b1"/>
          <p:cNvSpPr txBox="1"/>
          <p:nvPr/>
        </p:nvSpPr>
        <p:spPr>
          <a:xfrm>
            <a:off x="4160520" y="3355848"/>
            <a:ext cx="2697480" cy="1188720"/>
          </a:xfrm>
          <a:prstGeom prst="rect">
            <a:avLst/>
          </a:prstGeom>
          <a:noFill/>
          <a:ln/>
        </p:spPr>
        <p:txBody>
          <a:bodyPr wrap="square" lIns="0" tIns="0" rIns="0" bIns="0" rtlCol="0" anchor="t"/>
          <a:lstStyle/>
          <a:p>
            <a:pPr indent="0" marL="0">
              <a:buNone/>
            </a:pPr>
            <a:r>
              <a:rPr lang="en-US" sz="1300" dirty="0">
                <a:solidFill>
                  <a:srgbClr val="F4ECE8"/>
                </a:solidFill>
                <a:latin typeface="Arial" pitchFamily="34" charset="0"/>
                <a:ea typeface="Arial" pitchFamily="34" charset="-122"/>
                <a:cs typeface="Arial" pitchFamily="34" charset="-120"/>
              </a:rPr>
              <a:t>−75% cases where malaria is seasonal. Cost-effective at US$ 2–4 per dose.</a:t>
            </a:r>
            <a:endParaRPr lang="en-US" sz="1300" dirty="0"/>
          </a:p>
        </p:txBody>
      </p:sp>
      <p:sp>
        <p:nvSpPr>
          <p:cNvPr id="22" name="fx:3:up:st0"/>
          <p:cNvSpPr/>
          <p:nvPr/>
        </p:nvSpPr>
        <p:spPr>
          <a:xfrm>
            <a:off x="548640" y="4846320"/>
            <a:ext cx="3154680" cy="1143000"/>
          </a:xfrm>
          <a:prstGeom prst="roundRect">
            <a:avLst>
              <a:gd name="adj" fmla="val 7200"/>
            </a:avLst>
          </a:prstGeom>
          <a:solidFill>
            <a:srgbClr val="1C080B">
              <a:alpha val="78000"/>
            </a:srgbClr>
          </a:solidFill>
          <a:ln w="9525">
            <a:solidFill>
              <a:srgbClr val="7A3038"/>
            </a:solidFill>
            <a:prstDash val="solid"/>
          </a:ln>
        </p:spPr>
      </p:sp>
      <p:pic>
        <p:nvPicPr>
          <p:cNvPr id="23" name="fx:3:zoom:sn0" descr="−13%">    </p:cNvPr>
          <p:cNvPicPr>
            <a:picLocks noChangeAspect="1"/>
          </p:cNvPicPr>
          <p:nvPr/>
        </p:nvPicPr>
        <p:blipFill>
          <a:blip r:embed="rId7"/>
          <a:stretch>
            <a:fillRect/>
          </a:stretch>
        </p:blipFill>
        <p:spPr>
          <a:xfrm>
            <a:off x="749808" y="5102352"/>
            <a:ext cx="1258044" cy="418802"/>
          </a:xfrm>
          <a:prstGeom prst="rect">
            <a:avLst/>
          </a:prstGeom>
        </p:spPr>
      </p:pic>
      <p:sp>
        <p:nvSpPr>
          <p:cNvPr id="24" name="fx:3:up:sb0"/>
          <p:cNvSpPr txBox="1"/>
          <p:nvPr/>
        </p:nvSpPr>
        <p:spPr>
          <a:xfrm>
            <a:off x="2190732" y="5010912"/>
            <a:ext cx="1311420" cy="822960"/>
          </a:xfrm>
          <a:prstGeom prst="rect">
            <a:avLst/>
          </a:prstGeom>
          <a:noFill/>
          <a:ln/>
        </p:spPr>
        <p:txBody>
          <a:bodyPr wrap="square" lIns="0" tIns="0" rIns="0" bIns="0" rtlCol="0" anchor="ctr"/>
          <a:lstStyle/>
          <a:p>
            <a:pPr indent="0" marL="0">
              <a:buNone/>
            </a:pPr>
            <a:r>
              <a:rPr lang="en-US" sz="1200" dirty="0">
                <a:solidFill>
                  <a:srgbClr val="C9B2AE"/>
                </a:solidFill>
                <a:latin typeface="Arial" pitchFamily="34" charset="0"/>
                <a:ea typeface="Arial" pitchFamily="34" charset="-122"/>
                <a:cs typeface="Arial" pitchFamily="34" charset="-120"/>
              </a:rPr>
              <a:t>child deaths from all causes in the pilot: Ghana, Kenya, Malawi</a:t>
            </a:r>
            <a:endParaRPr lang="en-US" sz="1200" dirty="0"/>
          </a:p>
        </p:txBody>
      </p:sp>
      <p:sp>
        <p:nvSpPr>
          <p:cNvPr id="25" name="fx:4:up:st1"/>
          <p:cNvSpPr/>
          <p:nvPr/>
        </p:nvSpPr>
        <p:spPr>
          <a:xfrm>
            <a:off x="3931920" y="4846320"/>
            <a:ext cx="3154680" cy="1143000"/>
          </a:xfrm>
          <a:prstGeom prst="roundRect">
            <a:avLst>
              <a:gd name="adj" fmla="val 7200"/>
            </a:avLst>
          </a:prstGeom>
          <a:solidFill>
            <a:srgbClr val="1C080B">
              <a:alpha val="78000"/>
            </a:srgbClr>
          </a:solidFill>
          <a:ln w="9525">
            <a:solidFill>
              <a:srgbClr val="7A3038"/>
            </a:solidFill>
            <a:prstDash val="solid"/>
          </a:ln>
        </p:spPr>
      </p:sp>
      <p:pic>
        <p:nvPicPr>
          <p:cNvPr id="26" name="fx:4:zoom:sn1" descr="24">    </p:cNvPr>
          <p:cNvPicPr>
            <a:picLocks noChangeAspect="1"/>
          </p:cNvPicPr>
          <p:nvPr/>
        </p:nvPicPr>
        <p:blipFill>
          <a:blip r:embed="rId8"/>
          <a:stretch>
            <a:fillRect/>
          </a:stretch>
        </p:blipFill>
        <p:spPr>
          <a:xfrm>
            <a:off x="4133088" y="5102352"/>
            <a:ext cx="593973" cy="418802"/>
          </a:xfrm>
          <a:prstGeom prst="rect">
            <a:avLst/>
          </a:prstGeom>
        </p:spPr>
      </p:pic>
      <p:sp>
        <p:nvSpPr>
          <p:cNvPr id="27" name="fx:4:up:sb1"/>
          <p:cNvSpPr txBox="1"/>
          <p:nvPr/>
        </p:nvSpPr>
        <p:spPr>
          <a:xfrm>
            <a:off x="4909941" y="5010912"/>
            <a:ext cx="1975491" cy="822960"/>
          </a:xfrm>
          <a:prstGeom prst="rect">
            <a:avLst/>
          </a:prstGeom>
          <a:noFill/>
          <a:ln/>
        </p:spPr>
        <p:txBody>
          <a:bodyPr wrap="square" lIns="0" tIns="0" rIns="0" bIns="0" rtlCol="0" anchor="ctr"/>
          <a:lstStyle/>
          <a:p>
            <a:pPr indent="0" marL="0">
              <a:buNone/>
            </a:pPr>
            <a:r>
              <a:rPr lang="en-US" sz="1200" dirty="0">
                <a:solidFill>
                  <a:srgbClr val="C9B2AE"/>
                </a:solidFill>
                <a:latin typeface="Arial" pitchFamily="34" charset="0"/>
                <a:ea typeface="Arial" pitchFamily="34" charset="-122"/>
                <a:cs typeface="Arial" pitchFamily="34" charset="-120"/>
              </a:rPr>
              <a:t>countries using malaria vaccines by October 2025</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42" presetClass="entr" presetSubtype="0" fill="hold" grpId="0" nodeType="afterEffect">
                                  <p:stCondLst>
                                    <p:cond delay="15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550"/>
                                        <p:tgtEl>
                                          <p:spTgt spid="10"/>
                                        </p:tgtEl>
                                      </p:cBhvr>
                                    </p:animEffect>
                                    <p:anim calcmode="lin" valueType="num">
                                      <p:cBhvr>
                                        <p:cTn id="8" dur="550" decel="100000" fill="hold"/>
                                        <p:tgtEl>
                                          <p:spTgt spid="10"/>
                                        </p:tgtEl>
                                        <p:attrNameLst>
                                          <p:attrName>ppt_x</p:attrName>
                                        </p:attrNameLst>
                                      </p:cBhvr>
                                      <p:tavLst>
                                        <p:tav tm="0">
                                          <p:val>
                                            <p:strVal val="#ppt_x"/>
                                          </p:val>
                                        </p:tav>
                                        <p:tav tm="100000">
                                          <p:val>
                                            <p:strVal val="#ppt_x"/>
                                          </p:val>
                                        </p:tav>
                                      </p:tavLst>
                                    </p:anim>
                                    <p:anim calcmode="lin" valueType="num">
                                      <p:cBhvr>
                                        <p:cTn id="9" dur="550" decel="100000" fill="hold"/>
                                        <p:tgtEl>
                                          <p:spTgt spid="10"/>
                                        </p:tgtEl>
                                        <p:attrNameLst>
                                          <p:attrName>ppt_y</p:attrName>
                                        </p:attrNameLst>
                                      </p:cBhvr>
                                      <p:tavLst>
                                        <p:tav tm="0">
                                          <p:val>
                                            <p:strVal val="#ppt_y+0.04"/>
                                          </p:val>
                                        </p:tav>
                                        <p:tav tm="100000">
                                          <p:val>
                                            <p:strVal val="#ppt_y"/>
                                          </p:val>
                                        </p:tav>
                                      </p:tavLst>
                                    </p:anim>
                                  </p:childTnLst>
                                </p:cTn>
                              </p:par>
                              <p:par>
                                <p:cTn id="12" presetID="42" presetClass="entr" presetSubtype="0" fill="hold" grpId="0" nodeType="withEffect">
                                  <p:stCondLst>
                                    <p:cond delay="15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50"/>
                                        <p:tgtEl>
                                          <p:spTgt spid="11"/>
                                        </p:tgtEl>
                                      </p:cBhvr>
                                    </p:animEffect>
                                    <p:anim calcmode="lin" valueType="num">
                                      <p:cBhvr>
                                        <p:cTn id="13" dur="550" decel="100000" fill="hold"/>
                                        <p:tgtEl>
                                          <p:spTgt spid="11"/>
                                        </p:tgtEl>
                                        <p:attrNameLst>
                                          <p:attrName>ppt_x</p:attrName>
                                        </p:attrNameLst>
                                      </p:cBhvr>
                                      <p:tavLst>
                                        <p:tav tm="0">
                                          <p:val>
                                            <p:strVal val="#ppt_x"/>
                                          </p:val>
                                        </p:tav>
                                        <p:tav tm="100000">
                                          <p:val>
                                            <p:strVal val="#ppt_x"/>
                                          </p:val>
                                        </p:tav>
                                      </p:tavLst>
                                    </p:anim>
                                    <p:anim calcmode="lin" valueType="num">
                                      <p:cBhvr>
                                        <p:cTn id="14" dur="550" decel="100000" fill="hold"/>
                                        <p:tgtEl>
                                          <p:spTgt spid="11"/>
                                        </p:tgtEl>
                                        <p:attrNameLst>
                                          <p:attrName>ppt_y</p:attrName>
                                        </p:attrNameLst>
                                      </p:cBhvr>
                                      <p:tavLst>
                                        <p:tav tm="0">
                                          <p:val>
                                            <p:strVal val="#ppt_y+0.04"/>
                                          </p:val>
                                        </p:tav>
                                        <p:tav tm="100000">
                                          <p:val>
                                            <p:strVal val="#ppt_y"/>
                                          </p:val>
                                        </p:tav>
                                      </p:tavLst>
                                    </p:anim>
                                  </p:childTnLst>
                                </p:cTn>
                              </p:par>
                              <p:par>
                                <p:cTn id="17" presetID="42" presetClass="entr" presetSubtype="0" fill="hold" grpId="0" nodeType="withEffect">
                                  <p:stCondLst>
                                    <p:cond delay="15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50"/>
                                        <p:tgtEl>
                                          <p:spTgt spid="12"/>
                                        </p:tgtEl>
                                      </p:cBhvr>
                                    </p:animEffect>
                                    <p:anim calcmode="lin" valueType="num">
                                      <p:cBhvr>
                                        <p:cTn id="18" dur="550" decel="100000" fill="hold"/>
                                        <p:tgtEl>
                                          <p:spTgt spid="12"/>
                                        </p:tgtEl>
                                        <p:attrNameLst>
                                          <p:attrName>ppt_x</p:attrName>
                                        </p:attrNameLst>
                                      </p:cBhvr>
                                      <p:tavLst>
                                        <p:tav tm="0">
                                          <p:val>
                                            <p:strVal val="#ppt_x"/>
                                          </p:val>
                                        </p:tav>
                                        <p:tav tm="100000">
                                          <p:val>
                                            <p:strVal val="#ppt_x"/>
                                          </p:val>
                                        </p:tav>
                                      </p:tavLst>
                                    </p:anim>
                                    <p:anim calcmode="lin" valueType="num">
                                      <p:cBhvr>
                                        <p:cTn id="19" dur="550" decel="100000" fill="hold"/>
                                        <p:tgtEl>
                                          <p:spTgt spid="12"/>
                                        </p:tgtEl>
                                        <p:attrNameLst>
                                          <p:attrName>ppt_y</p:attrName>
                                        </p:attrNameLst>
                                      </p:cBhvr>
                                      <p:tavLst>
                                        <p:tav tm="0">
                                          <p:val>
                                            <p:strVal val="#ppt_y+0.04"/>
                                          </p:val>
                                        </p:tav>
                                        <p:tav tm="100000">
                                          <p:val>
                                            <p:strVal val="#ppt_y"/>
                                          </p:val>
                                        </p:tav>
                                      </p:tavLst>
                                    </p:anim>
                                  </p:childTnLst>
                                </p:cTn>
                              </p:par>
                              <p:par>
                                <p:cTn id="22" presetID="42" presetClass="entr" presetSubtype="0" fill="hold" grpId="0" nodeType="withEffect">
                                  <p:stCondLst>
                                    <p:cond delay="15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50"/>
                                        <p:tgtEl>
                                          <p:spTgt spid="13"/>
                                        </p:tgtEl>
                                      </p:cBhvr>
                                    </p:animEffect>
                                    <p:anim calcmode="lin" valueType="num">
                                      <p:cBhvr>
                                        <p:cTn id="23" dur="550" decel="100000" fill="hold"/>
                                        <p:tgtEl>
                                          <p:spTgt spid="13"/>
                                        </p:tgtEl>
                                        <p:attrNameLst>
                                          <p:attrName>ppt_x</p:attrName>
                                        </p:attrNameLst>
                                      </p:cBhvr>
                                      <p:tavLst>
                                        <p:tav tm="0">
                                          <p:val>
                                            <p:strVal val="#ppt_x"/>
                                          </p:val>
                                        </p:tav>
                                        <p:tav tm="100000">
                                          <p:val>
                                            <p:strVal val="#ppt_x"/>
                                          </p:val>
                                        </p:tav>
                                      </p:tavLst>
                                    </p:anim>
                                    <p:anim calcmode="lin" valueType="num">
                                      <p:cBhvr>
                                        <p:cTn id="24" dur="550" decel="100000" fill="hold"/>
                                        <p:tgtEl>
                                          <p:spTgt spid="13"/>
                                        </p:tgtEl>
                                        <p:attrNameLst>
                                          <p:attrName>ppt_y</p:attrName>
                                        </p:attrNameLst>
                                      </p:cBhvr>
                                      <p:tavLst>
                                        <p:tav tm="0">
                                          <p:val>
                                            <p:strVal val="#ppt_y+0.04"/>
                                          </p:val>
                                        </p:tav>
                                        <p:tav tm="100000">
                                          <p:val>
                                            <p:strVal val="#ppt_y"/>
                                          </p:val>
                                        </p:tav>
                                      </p:tavLst>
                                    </p:anim>
                                  </p:childTnLst>
                                </p:cTn>
                              </p:par>
                              <p:par>
                                <p:cTn id="27" presetID="42" presetClass="entr" presetSubtype="0" fill="hold" grpId="0" nodeType="withEffect">
                                  <p:stCondLst>
                                    <p:cond delay="15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50"/>
                                        <p:tgtEl>
                                          <p:spTgt spid="14"/>
                                        </p:tgtEl>
                                      </p:cBhvr>
                                    </p:animEffect>
                                    <p:anim calcmode="lin" valueType="num">
                                      <p:cBhvr>
                                        <p:cTn id="28" dur="550" decel="100000" fill="hold"/>
                                        <p:tgtEl>
                                          <p:spTgt spid="14"/>
                                        </p:tgtEl>
                                        <p:attrNameLst>
                                          <p:attrName>ppt_x</p:attrName>
                                        </p:attrNameLst>
                                      </p:cBhvr>
                                      <p:tavLst>
                                        <p:tav tm="0">
                                          <p:val>
                                            <p:strVal val="#ppt_x"/>
                                          </p:val>
                                        </p:tav>
                                        <p:tav tm="100000">
                                          <p:val>
                                            <p:strVal val="#ppt_x"/>
                                          </p:val>
                                        </p:tav>
                                      </p:tavLst>
                                    </p:anim>
                                    <p:anim calcmode="lin" valueType="num">
                                      <p:cBhvr>
                                        <p:cTn id="29" dur="550" decel="100000" fill="hold"/>
                                        <p:tgtEl>
                                          <p:spTgt spid="14"/>
                                        </p:tgtEl>
                                        <p:attrNameLst>
                                          <p:attrName>ppt_y</p:attrName>
                                        </p:attrNameLst>
                                      </p:cBhvr>
                                      <p:tavLst>
                                        <p:tav tm="0">
                                          <p:val>
                                            <p:strVal val="#ppt_y+0.04"/>
                                          </p:val>
                                        </p:tav>
                                        <p:tav tm="100000">
                                          <p:val>
                                            <p:strVal val="#ppt_y"/>
                                          </p:val>
                                        </p:tav>
                                      </p:tavLst>
                                    </p:anim>
                                  </p:childTnLst>
                                </p:cTn>
                              </p:par>
                              <p:par>
                                <p:cTn id="32" presetID="42" presetClass="entr" presetSubtype="0" fill="hold" grpId="0" nodeType="withEffect">
                                  <p:stCondLst>
                                    <p:cond delay="15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50"/>
                                        <p:tgtEl>
                                          <p:spTgt spid="15"/>
                                        </p:tgtEl>
                                      </p:cBhvr>
                                    </p:animEffect>
                                    <p:anim calcmode="lin" valueType="num">
                                      <p:cBhvr>
                                        <p:cTn id="33" dur="550" decel="100000" fill="hold"/>
                                        <p:tgtEl>
                                          <p:spTgt spid="15"/>
                                        </p:tgtEl>
                                        <p:attrNameLst>
                                          <p:attrName>ppt_x</p:attrName>
                                        </p:attrNameLst>
                                      </p:cBhvr>
                                      <p:tavLst>
                                        <p:tav tm="0">
                                          <p:val>
                                            <p:strVal val="#ppt_x"/>
                                          </p:val>
                                        </p:tav>
                                        <p:tav tm="100000">
                                          <p:val>
                                            <p:strVal val="#ppt_x"/>
                                          </p:val>
                                        </p:tav>
                                      </p:tavLst>
                                    </p:anim>
                                    <p:anim calcmode="lin" valueType="num">
                                      <p:cBhvr>
                                        <p:cTn id="34" dur="550" decel="100000" fill="hold"/>
                                        <p:tgtEl>
                                          <p:spTgt spid="15"/>
                                        </p:tgtEl>
                                        <p:attrNameLst>
                                          <p:attrName>ppt_y</p:attrName>
                                        </p:attrNameLst>
                                      </p:cBhvr>
                                      <p:tavLst>
                                        <p:tav tm="0">
                                          <p:val>
                                            <p:strVal val="#ppt_y+0.04"/>
                                          </p:val>
                                        </p:tav>
                                        <p:tav tm="100000">
                                          <p:val>
                                            <p:strVal val="#ppt_y"/>
                                          </p:val>
                                        </p:tav>
                                      </p:tavLst>
                                    </p:anim>
                                  </p:childTnLst>
                                </p:cTn>
                              </p:par>
                              <p:par>
                                <p:cTn id="37" presetID="42" presetClass="entr" presetSubtype="0" fill="hold" grpId="0" nodeType="withEffect">
                                  <p:stCondLst>
                                    <p:cond delay="28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50"/>
                                        <p:tgtEl>
                                          <p:spTgt spid="16"/>
                                        </p:tgtEl>
                                      </p:cBhvr>
                                    </p:animEffect>
                                    <p:anim calcmode="lin" valueType="num">
                                      <p:cBhvr>
                                        <p:cTn id="38" dur="550" decel="100000" fill="hold"/>
                                        <p:tgtEl>
                                          <p:spTgt spid="16"/>
                                        </p:tgtEl>
                                        <p:attrNameLst>
                                          <p:attrName>ppt_x</p:attrName>
                                        </p:attrNameLst>
                                      </p:cBhvr>
                                      <p:tavLst>
                                        <p:tav tm="0">
                                          <p:val>
                                            <p:strVal val="#ppt_x"/>
                                          </p:val>
                                        </p:tav>
                                        <p:tav tm="100000">
                                          <p:val>
                                            <p:strVal val="#ppt_x"/>
                                          </p:val>
                                        </p:tav>
                                      </p:tavLst>
                                    </p:anim>
                                    <p:anim calcmode="lin" valueType="num">
                                      <p:cBhvr>
                                        <p:cTn id="39" dur="550" decel="100000" fill="hold"/>
                                        <p:tgtEl>
                                          <p:spTgt spid="16"/>
                                        </p:tgtEl>
                                        <p:attrNameLst>
                                          <p:attrName>ppt_y</p:attrName>
                                        </p:attrNameLst>
                                      </p:cBhvr>
                                      <p:tavLst>
                                        <p:tav tm="0">
                                          <p:val>
                                            <p:strVal val="#ppt_y+0.04"/>
                                          </p:val>
                                        </p:tav>
                                        <p:tav tm="100000">
                                          <p:val>
                                            <p:strVal val="#ppt_y"/>
                                          </p:val>
                                        </p:tav>
                                      </p:tavLst>
                                    </p:anim>
                                  </p:childTnLst>
                                </p:cTn>
                              </p:par>
                              <p:par>
                                <p:cTn id="42" presetID="42" presetClass="entr" presetSubtype="0" fill="hold" grpId="0" nodeType="withEffect">
                                  <p:stCondLst>
                                    <p:cond delay="28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50"/>
                                        <p:tgtEl>
                                          <p:spTgt spid="17"/>
                                        </p:tgtEl>
                                      </p:cBhvr>
                                    </p:animEffect>
                                    <p:anim calcmode="lin" valueType="num">
                                      <p:cBhvr>
                                        <p:cTn id="43" dur="550" decel="100000" fill="hold"/>
                                        <p:tgtEl>
                                          <p:spTgt spid="17"/>
                                        </p:tgtEl>
                                        <p:attrNameLst>
                                          <p:attrName>ppt_x</p:attrName>
                                        </p:attrNameLst>
                                      </p:cBhvr>
                                      <p:tavLst>
                                        <p:tav tm="0">
                                          <p:val>
                                            <p:strVal val="#ppt_x"/>
                                          </p:val>
                                        </p:tav>
                                        <p:tav tm="100000">
                                          <p:val>
                                            <p:strVal val="#ppt_x"/>
                                          </p:val>
                                        </p:tav>
                                      </p:tavLst>
                                    </p:anim>
                                    <p:anim calcmode="lin" valueType="num">
                                      <p:cBhvr>
                                        <p:cTn id="44" dur="550" decel="100000" fill="hold"/>
                                        <p:tgtEl>
                                          <p:spTgt spid="17"/>
                                        </p:tgtEl>
                                        <p:attrNameLst>
                                          <p:attrName>ppt_y</p:attrName>
                                        </p:attrNameLst>
                                      </p:cBhvr>
                                      <p:tavLst>
                                        <p:tav tm="0">
                                          <p:val>
                                            <p:strVal val="#ppt_y+0.04"/>
                                          </p:val>
                                        </p:tav>
                                        <p:tav tm="100000">
                                          <p:val>
                                            <p:strVal val="#ppt_y"/>
                                          </p:val>
                                        </p:tav>
                                      </p:tavLst>
                                    </p:anim>
                                  </p:childTnLst>
                                </p:cTn>
                              </p:par>
                              <p:par>
                                <p:cTn id="47" presetID="42" presetClass="entr" presetSubtype="0" fill="hold" grpId="0" nodeType="withEffect">
                                  <p:stCondLst>
                                    <p:cond delay="28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50"/>
                                        <p:tgtEl>
                                          <p:spTgt spid="18"/>
                                        </p:tgtEl>
                                      </p:cBhvr>
                                    </p:animEffect>
                                    <p:anim calcmode="lin" valueType="num">
                                      <p:cBhvr>
                                        <p:cTn id="48" dur="550" decel="100000" fill="hold"/>
                                        <p:tgtEl>
                                          <p:spTgt spid="18"/>
                                        </p:tgtEl>
                                        <p:attrNameLst>
                                          <p:attrName>ppt_x</p:attrName>
                                        </p:attrNameLst>
                                      </p:cBhvr>
                                      <p:tavLst>
                                        <p:tav tm="0">
                                          <p:val>
                                            <p:strVal val="#ppt_x"/>
                                          </p:val>
                                        </p:tav>
                                        <p:tav tm="100000">
                                          <p:val>
                                            <p:strVal val="#ppt_x"/>
                                          </p:val>
                                        </p:tav>
                                      </p:tavLst>
                                    </p:anim>
                                    <p:anim calcmode="lin" valueType="num">
                                      <p:cBhvr>
                                        <p:cTn id="49" dur="550" decel="100000" fill="hold"/>
                                        <p:tgtEl>
                                          <p:spTgt spid="18"/>
                                        </p:tgtEl>
                                        <p:attrNameLst>
                                          <p:attrName>ppt_y</p:attrName>
                                        </p:attrNameLst>
                                      </p:cBhvr>
                                      <p:tavLst>
                                        <p:tav tm="0">
                                          <p:val>
                                            <p:strVal val="#ppt_y+0.04"/>
                                          </p:val>
                                        </p:tav>
                                        <p:tav tm="100000">
                                          <p:val>
                                            <p:strVal val="#ppt_y"/>
                                          </p:val>
                                        </p:tav>
                                      </p:tavLst>
                                    </p:anim>
                                  </p:childTnLst>
                                </p:cTn>
                              </p:par>
                              <p:par>
                                <p:cTn id="52" presetID="42" presetClass="entr" presetSubtype="0" fill="hold" grpId="0" nodeType="withEffect">
                                  <p:stCondLst>
                                    <p:cond delay="28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50"/>
                                        <p:tgtEl>
                                          <p:spTgt spid="19"/>
                                        </p:tgtEl>
                                      </p:cBhvr>
                                    </p:animEffect>
                                    <p:anim calcmode="lin" valueType="num">
                                      <p:cBhvr>
                                        <p:cTn id="53" dur="550" decel="100000" fill="hold"/>
                                        <p:tgtEl>
                                          <p:spTgt spid="19"/>
                                        </p:tgtEl>
                                        <p:attrNameLst>
                                          <p:attrName>ppt_x</p:attrName>
                                        </p:attrNameLst>
                                      </p:cBhvr>
                                      <p:tavLst>
                                        <p:tav tm="0">
                                          <p:val>
                                            <p:strVal val="#ppt_x"/>
                                          </p:val>
                                        </p:tav>
                                        <p:tav tm="100000">
                                          <p:val>
                                            <p:strVal val="#ppt_x"/>
                                          </p:val>
                                        </p:tav>
                                      </p:tavLst>
                                    </p:anim>
                                    <p:anim calcmode="lin" valueType="num">
                                      <p:cBhvr>
                                        <p:cTn id="54" dur="550" decel="100000" fill="hold"/>
                                        <p:tgtEl>
                                          <p:spTgt spid="19"/>
                                        </p:tgtEl>
                                        <p:attrNameLst>
                                          <p:attrName>ppt_y</p:attrName>
                                        </p:attrNameLst>
                                      </p:cBhvr>
                                      <p:tavLst>
                                        <p:tav tm="0">
                                          <p:val>
                                            <p:strVal val="#ppt_y+0.04"/>
                                          </p:val>
                                        </p:tav>
                                        <p:tav tm="100000">
                                          <p:val>
                                            <p:strVal val="#ppt_y"/>
                                          </p:val>
                                        </p:tav>
                                      </p:tavLst>
                                    </p:anim>
                                  </p:childTnLst>
                                </p:cTn>
                              </p:par>
                              <p:par>
                                <p:cTn id="57" presetID="42" presetClass="entr" presetSubtype="0" fill="hold" grpId="0" nodeType="withEffect">
                                  <p:stCondLst>
                                    <p:cond delay="28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50"/>
                                        <p:tgtEl>
                                          <p:spTgt spid="20"/>
                                        </p:tgtEl>
                                      </p:cBhvr>
                                    </p:animEffect>
                                    <p:anim calcmode="lin" valueType="num">
                                      <p:cBhvr>
                                        <p:cTn id="58" dur="550" decel="100000" fill="hold"/>
                                        <p:tgtEl>
                                          <p:spTgt spid="20"/>
                                        </p:tgtEl>
                                        <p:attrNameLst>
                                          <p:attrName>ppt_x</p:attrName>
                                        </p:attrNameLst>
                                      </p:cBhvr>
                                      <p:tavLst>
                                        <p:tav tm="0">
                                          <p:val>
                                            <p:strVal val="#ppt_x"/>
                                          </p:val>
                                        </p:tav>
                                        <p:tav tm="100000">
                                          <p:val>
                                            <p:strVal val="#ppt_x"/>
                                          </p:val>
                                        </p:tav>
                                      </p:tavLst>
                                    </p:anim>
                                    <p:anim calcmode="lin" valueType="num">
                                      <p:cBhvr>
                                        <p:cTn id="59" dur="550" decel="100000" fill="hold"/>
                                        <p:tgtEl>
                                          <p:spTgt spid="20"/>
                                        </p:tgtEl>
                                        <p:attrNameLst>
                                          <p:attrName>ppt_y</p:attrName>
                                        </p:attrNameLst>
                                      </p:cBhvr>
                                      <p:tavLst>
                                        <p:tav tm="0">
                                          <p:val>
                                            <p:strVal val="#ppt_y+0.04"/>
                                          </p:val>
                                        </p:tav>
                                        <p:tav tm="100000">
                                          <p:val>
                                            <p:strVal val="#ppt_y"/>
                                          </p:val>
                                        </p:tav>
                                      </p:tavLst>
                                    </p:anim>
                                  </p:childTnLst>
                                </p:cTn>
                              </p:par>
                              <p:par>
                                <p:cTn id="62" presetID="42" presetClass="entr" presetSubtype="0" fill="hold" grpId="0" nodeType="withEffect">
                                  <p:stCondLst>
                                    <p:cond delay="28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50"/>
                                        <p:tgtEl>
                                          <p:spTgt spid="21"/>
                                        </p:tgtEl>
                                      </p:cBhvr>
                                    </p:animEffect>
                                    <p:anim calcmode="lin" valueType="num">
                                      <p:cBhvr>
                                        <p:cTn id="63" dur="550" decel="100000" fill="hold"/>
                                        <p:tgtEl>
                                          <p:spTgt spid="21"/>
                                        </p:tgtEl>
                                        <p:attrNameLst>
                                          <p:attrName>ppt_x</p:attrName>
                                        </p:attrNameLst>
                                      </p:cBhvr>
                                      <p:tavLst>
                                        <p:tav tm="0">
                                          <p:val>
                                            <p:strVal val="#ppt_x"/>
                                          </p:val>
                                        </p:tav>
                                        <p:tav tm="100000">
                                          <p:val>
                                            <p:strVal val="#ppt_x"/>
                                          </p:val>
                                        </p:tav>
                                      </p:tavLst>
                                    </p:anim>
                                    <p:anim calcmode="lin" valueType="num">
                                      <p:cBhvr>
                                        <p:cTn id="64" dur="550" decel="100000" fill="hold"/>
                                        <p:tgtEl>
                                          <p:spTgt spid="21"/>
                                        </p:tgtEl>
                                        <p:attrNameLst>
                                          <p:attrName>ppt_y</p:attrName>
                                        </p:attrNameLst>
                                      </p:cBhvr>
                                      <p:tavLst>
                                        <p:tav tm="0">
                                          <p:val>
                                            <p:strVal val="#ppt_y+0.04"/>
                                          </p:val>
                                        </p:tav>
                                        <p:tav tm="100000">
                                          <p:val>
                                            <p:strVal val="#ppt_y"/>
                                          </p:val>
                                        </p:tav>
                                      </p:tavLst>
                                    </p:anim>
                                  </p:childTnLst>
                                </p:cTn>
                              </p:par>
                              <p:par>
                                <p:cTn id="67" presetID="42" presetClass="entr" presetSubtype="0" fill="hold" grpId="0" nodeType="withEffect">
                                  <p:stCondLst>
                                    <p:cond delay="41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50"/>
                                        <p:tgtEl>
                                          <p:spTgt spid="22"/>
                                        </p:tgtEl>
                                      </p:cBhvr>
                                    </p:animEffect>
                                    <p:anim calcmode="lin" valueType="num">
                                      <p:cBhvr>
                                        <p:cTn id="68" dur="550" decel="100000" fill="hold"/>
                                        <p:tgtEl>
                                          <p:spTgt spid="22"/>
                                        </p:tgtEl>
                                        <p:attrNameLst>
                                          <p:attrName>ppt_x</p:attrName>
                                        </p:attrNameLst>
                                      </p:cBhvr>
                                      <p:tavLst>
                                        <p:tav tm="0">
                                          <p:val>
                                            <p:strVal val="#ppt_x"/>
                                          </p:val>
                                        </p:tav>
                                        <p:tav tm="100000">
                                          <p:val>
                                            <p:strVal val="#ppt_x"/>
                                          </p:val>
                                        </p:tav>
                                      </p:tavLst>
                                    </p:anim>
                                    <p:anim calcmode="lin" valueType="num">
                                      <p:cBhvr>
                                        <p:cTn id="69" dur="550" decel="100000" fill="hold"/>
                                        <p:tgtEl>
                                          <p:spTgt spid="22"/>
                                        </p:tgtEl>
                                        <p:attrNameLst>
                                          <p:attrName>ppt_y</p:attrName>
                                        </p:attrNameLst>
                                      </p:cBhvr>
                                      <p:tavLst>
                                        <p:tav tm="0">
                                          <p:val>
                                            <p:strVal val="#ppt_y+0.04"/>
                                          </p:val>
                                        </p:tav>
                                        <p:tav tm="100000">
                                          <p:val>
                                            <p:strVal val="#ppt_y"/>
                                          </p:val>
                                        </p:tav>
                                      </p:tavLst>
                                    </p:anim>
                                  </p:childTnLst>
                                </p:cTn>
                              </p:par>
                              <p:par>
                                <p:cTn id="72" presetID="53" presetClass="entr" presetSubtype="16" fill="hold" grpId="0" nodeType="withEffect">
                                  <p:stCondLst>
                                    <p:cond delay="410"/>
                                  </p:stCondLst>
                                  <p:childTnLst>
                                    <p:set>
                                      <p:cBhvr>
                                        <p:cTn id="70" dur="1" fill="hold">
                                          <p:stCondLst>
                                            <p:cond delay="0"/>
                                          </p:stCondLst>
                                        </p:cTn>
                                        <p:tgtEl>
                                          <p:spTgt spid="23"/>
                                        </p:tgtEl>
                                        <p:attrNameLst>
                                          <p:attrName>style.visibility</p:attrName>
                                        </p:attrNameLst>
                                      </p:cBhvr>
                                      <p:to>
                                        <p:strVal val="visible"/>
                                      </p:to>
                                    </p:set>
                                    <p:anim calcmode="lin" valueType="num">
                                      <p:cBhvr>
                                        <p:cTn id="73" dur="600" decel="100000" fill="hold"/>
                                        <p:tgtEl>
                                          <p:spTgt spid="23"/>
                                        </p:tgtEl>
                                        <p:attrNameLst>
                                          <p:attrName>ppt_w</p:attrName>
                                        </p:attrNameLst>
                                      </p:cBhvr>
                                      <p:tavLst>
                                        <p:tav tm="0">
                                          <p:val>
                                            <p:strVal val="#ppt_w*0.7"/>
                                          </p:val>
                                        </p:tav>
                                        <p:tav tm="100000">
                                          <p:val>
                                            <p:strVal val="#ppt_w"/>
                                          </p:val>
                                        </p:tav>
                                      </p:tavLst>
                                    </p:anim>
                                    <p:anim calcmode="lin" valueType="num">
                                      <p:cBhvr>
                                        <p:cTn id="74" dur="600" decel="100000" fill="hold"/>
                                        <p:tgtEl>
                                          <p:spTgt spid="23"/>
                                        </p:tgtEl>
                                        <p:attrNameLst>
                                          <p:attrName>ppt_h</p:attrName>
                                        </p:attrNameLst>
                                      </p:cBhvr>
                                      <p:tavLst>
                                        <p:tav tm="0">
                                          <p:val>
                                            <p:strVal val="#ppt_h*0.7"/>
                                          </p:val>
                                        </p:tav>
                                        <p:tav tm="100000">
                                          <p:val>
                                            <p:strVal val="#ppt_h"/>
                                          </p:val>
                                        </p:tav>
                                      </p:tavLst>
                                    </p:anim>
                                    <p:animEffect transition="in" filter="fade">
                                      <p:cBhvr>
                                        <p:cTn id="71" dur="600"/>
                                        <p:tgtEl>
                                          <p:spTgt spid="23"/>
                                        </p:tgtEl>
                                      </p:cBhvr>
                                    </p:animEffect>
                                  </p:childTnLst>
                                </p:cTn>
                              </p:par>
                              <p:par>
                                <p:cTn id="77" presetID="42" presetClass="entr" presetSubtype="0" fill="hold" grpId="0" nodeType="withEffect">
                                  <p:stCondLst>
                                    <p:cond delay="41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550"/>
                                        <p:tgtEl>
                                          <p:spTgt spid="24"/>
                                        </p:tgtEl>
                                      </p:cBhvr>
                                    </p:animEffect>
                                    <p:anim calcmode="lin" valueType="num">
                                      <p:cBhvr>
                                        <p:cTn id="78" dur="550" decel="100000" fill="hold"/>
                                        <p:tgtEl>
                                          <p:spTgt spid="24"/>
                                        </p:tgtEl>
                                        <p:attrNameLst>
                                          <p:attrName>ppt_x</p:attrName>
                                        </p:attrNameLst>
                                      </p:cBhvr>
                                      <p:tavLst>
                                        <p:tav tm="0">
                                          <p:val>
                                            <p:strVal val="#ppt_x"/>
                                          </p:val>
                                        </p:tav>
                                        <p:tav tm="100000">
                                          <p:val>
                                            <p:strVal val="#ppt_x"/>
                                          </p:val>
                                        </p:tav>
                                      </p:tavLst>
                                    </p:anim>
                                    <p:anim calcmode="lin" valueType="num">
                                      <p:cBhvr>
                                        <p:cTn id="79" dur="550" decel="100000" fill="hold"/>
                                        <p:tgtEl>
                                          <p:spTgt spid="24"/>
                                        </p:tgtEl>
                                        <p:attrNameLst>
                                          <p:attrName>ppt_y</p:attrName>
                                        </p:attrNameLst>
                                      </p:cBhvr>
                                      <p:tavLst>
                                        <p:tav tm="0">
                                          <p:val>
                                            <p:strVal val="#ppt_y+0.04"/>
                                          </p:val>
                                        </p:tav>
                                        <p:tav tm="100000">
                                          <p:val>
                                            <p:strVal val="#ppt_y"/>
                                          </p:val>
                                        </p:tav>
                                      </p:tavLst>
                                    </p:anim>
                                  </p:childTnLst>
                                </p:cTn>
                              </p:par>
                              <p:par>
                                <p:cTn id="82" presetID="42" presetClass="entr" presetSubtype="0" fill="hold" grpId="0" nodeType="withEffect">
                                  <p:stCondLst>
                                    <p:cond delay="54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550"/>
                                        <p:tgtEl>
                                          <p:spTgt spid="25"/>
                                        </p:tgtEl>
                                      </p:cBhvr>
                                    </p:animEffect>
                                    <p:anim calcmode="lin" valueType="num">
                                      <p:cBhvr>
                                        <p:cTn id="83" dur="550" decel="100000" fill="hold"/>
                                        <p:tgtEl>
                                          <p:spTgt spid="25"/>
                                        </p:tgtEl>
                                        <p:attrNameLst>
                                          <p:attrName>ppt_x</p:attrName>
                                        </p:attrNameLst>
                                      </p:cBhvr>
                                      <p:tavLst>
                                        <p:tav tm="0">
                                          <p:val>
                                            <p:strVal val="#ppt_x"/>
                                          </p:val>
                                        </p:tav>
                                        <p:tav tm="100000">
                                          <p:val>
                                            <p:strVal val="#ppt_x"/>
                                          </p:val>
                                        </p:tav>
                                      </p:tavLst>
                                    </p:anim>
                                    <p:anim calcmode="lin" valueType="num">
                                      <p:cBhvr>
                                        <p:cTn id="84" dur="550" decel="100000" fill="hold"/>
                                        <p:tgtEl>
                                          <p:spTgt spid="25"/>
                                        </p:tgtEl>
                                        <p:attrNameLst>
                                          <p:attrName>ppt_y</p:attrName>
                                        </p:attrNameLst>
                                      </p:cBhvr>
                                      <p:tavLst>
                                        <p:tav tm="0">
                                          <p:val>
                                            <p:strVal val="#ppt_y+0.04"/>
                                          </p:val>
                                        </p:tav>
                                        <p:tav tm="100000">
                                          <p:val>
                                            <p:strVal val="#ppt_y"/>
                                          </p:val>
                                        </p:tav>
                                      </p:tavLst>
                                    </p:anim>
                                  </p:childTnLst>
                                </p:cTn>
                              </p:par>
                              <p:par>
                                <p:cTn id="87" presetID="53" presetClass="entr" presetSubtype="16" fill="hold" grpId="0" nodeType="withEffect">
                                  <p:stCondLst>
                                    <p:cond delay="540"/>
                                  </p:stCondLst>
                                  <p:childTnLst>
                                    <p:set>
                                      <p:cBhvr>
                                        <p:cTn id="85" dur="1" fill="hold">
                                          <p:stCondLst>
                                            <p:cond delay="0"/>
                                          </p:stCondLst>
                                        </p:cTn>
                                        <p:tgtEl>
                                          <p:spTgt spid="26"/>
                                        </p:tgtEl>
                                        <p:attrNameLst>
                                          <p:attrName>style.visibility</p:attrName>
                                        </p:attrNameLst>
                                      </p:cBhvr>
                                      <p:to>
                                        <p:strVal val="visible"/>
                                      </p:to>
                                    </p:set>
                                    <p:anim calcmode="lin" valueType="num">
                                      <p:cBhvr>
                                        <p:cTn id="88" dur="600" decel="100000" fill="hold"/>
                                        <p:tgtEl>
                                          <p:spTgt spid="26"/>
                                        </p:tgtEl>
                                        <p:attrNameLst>
                                          <p:attrName>ppt_w</p:attrName>
                                        </p:attrNameLst>
                                      </p:cBhvr>
                                      <p:tavLst>
                                        <p:tav tm="0">
                                          <p:val>
                                            <p:strVal val="#ppt_w*0.7"/>
                                          </p:val>
                                        </p:tav>
                                        <p:tav tm="100000">
                                          <p:val>
                                            <p:strVal val="#ppt_w"/>
                                          </p:val>
                                        </p:tav>
                                      </p:tavLst>
                                    </p:anim>
                                    <p:anim calcmode="lin" valueType="num">
                                      <p:cBhvr>
                                        <p:cTn id="89" dur="600" decel="100000" fill="hold"/>
                                        <p:tgtEl>
                                          <p:spTgt spid="26"/>
                                        </p:tgtEl>
                                        <p:attrNameLst>
                                          <p:attrName>ppt_h</p:attrName>
                                        </p:attrNameLst>
                                      </p:cBhvr>
                                      <p:tavLst>
                                        <p:tav tm="0">
                                          <p:val>
                                            <p:strVal val="#ppt_h*0.7"/>
                                          </p:val>
                                        </p:tav>
                                        <p:tav tm="100000">
                                          <p:val>
                                            <p:strVal val="#ppt_h"/>
                                          </p:val>
                                        </p:tav>
                                      </p:tavLst>
                                    </p:anim>
                                    <p:animEffect transition="in" filter="fade">
                                      <p:cBhvr>
                                        <p:cTn id="86" dur="600"/>
                                        <p:tgtEl>
                                          <p:spTgt spid="26"/>
                                        </p:tgtEl>
                                      </p:cBhvr>
                                    </p:animEffect>
                                  </p:childTnLst>
                                </p:cTn>
                              </p:par>
                              <p:par>
                                <p:cTn id="92" presetID="42" presetClass="entr" presetSubtype="0" fill="hold" grpId="0" nodeType="withEffect">
                                  <p:stCondLst>
                                    <p:cond delay="540"/>
                                  </p:stCondLst>
                                  <p:childTnLst>
                                    <p:set>
                                      <p:cBhvr>
                                        <p:cTn id="90" dur="1" fill="hold">
                                          <p:stCondLst>
                                            <p:cond delay="0"/>
                                          </p:stCondLst>
                                        </p:cTn>
                                        <p:tgtEl>
                                          <p:spTgt spid="27"/>
                                        </p:tgtEl>
                                        <p:attrNameLst>
                                          <p:attrName>style.visibility</p:attrName>
                                        </p:attrNameLst>
                                      </p:cBhvr>
                                      <p:to>
                                        <p:strVal val="visible"/>
                                      </p:to>
                                    </p:set>
                                    <p:animEffect transition="in" filter="fade">
                                      <p:cBhvr>
                                        <p:cTn id="91" dur="550"/>
                                        <p:tgtEl>
                                          <p:spTgt spid="27"/>
                                        </p:tgtEl>
                                      </p:cBhvr>
                                    </p:animEffect>
                                    <p:anim calcmode="lin" valueType="num">
                                      <p:cBhvr>
                                        <p:cTn id="93" dur="550" decel="100000" fill="hold"/>
                                        <p:tgtEl>
                                          <p:spTgt spid="27"/>
                                        </p:tgtEl>
                                        <p:attrNameLst>
                                          <p:attrName>ppt_x</p:attrName>
                                        </p:attrNameLst>
                                      </p:cBhvr>
                                      <p:tavLst>
                                        <p:tav tm="0">
                                          <p:val>
                                            <p:strVal val="#ppt_x"/>
                                          </p:val>
                                        </p:tav>
                                        <p:tav tm="100000">
                                          <p:val>
                                            <p:strVal val="#ppt_x"/>
                                          </p:val>
                                        </p:tav>
                                      </p:tavLst>
                                    </p:anim>
                                    <p:anim calcmode="lin" valueType="num">
                                      <p:cBhvr>
                                        <p:cTn id="94" dur="550" decel="100000" fill="hold"/>
                                        <p:tgtEl>
                                          <p:spTgt spid="27"/>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4" grpId="0" animBg="1"/>
      <p:bldP spid="15" grpId="0" animBg="1"/>
      <p:bldP spid="16" grpId="0" animBg="1"/>
      <p:bldP spid="17" grpId="0" animBg="1"/>
      <p:bldP spid="18" grpId="0" animBg="1"/>
      <p:bldP spid="20" grpId="0" animBg="1"/>
      <p:bldP spid="21" grpId="0" animBg="1"/>
      <p:bldP spid="22" grpId="0" animBg="1"/>
      <p:bldP spid="24" grpId="0" animBg="1"/>
      <p:bldP spid="25" grpId="0" animBg="1"/>
      <p:bldP spid="27" grpId="0" animBg="1"/>
    </p:bldLst>
  </p:timing>
</p:sld>
</file>

<file path=ppt/slides/slide12.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12">
    <p:bg>
      <p:bgPr>
        <a:solidFill>
          <a:srgbClr val="0A0405"/>
        </a:solidFill>
      </p:bgPr>
    </p:bg>
    <p:spTree>
      <p:nvGrpSpPr>
        <p:cNvPr id="1" name=""/>
        <p:cNvGrpSpPr/>
        <p:nvPr/>
      </p:nvGrpSpPr>
      <p:grpSpPr>
        <a:xfrm>
          <a:off x="0" y="0"/>
          <a:ext cx="0" cy="0"/>
          <a:chOff x="0" y="0"/>
          <a:chExt cx="0" cy="0"/>
        </a:xfrm>
      </p:grpSpPr>
      <p:pic>
        <p:nvPicPr>
          <p:cNvPr id="2" name="!!bg" descr="Child sleeping under a mosquito bed net">    </p:cNvPr>
          <p:cNvPicPr>
            <a:picLocks noChangeAspect="1"/>
          </p:cNvPicPr>
          <p:nvPr/>
        </p:nvPicPr>
        <p:blipFill>
          <a:blip r:embed="rId1"/>
          <a:stretch>
            <a:fillRect/>
          </a:stretch>
        </p:blipFill>
        <p:spPr>
          <a:xfrm>
            <a:off x="0" y="0"/>
            <a:ext cx="12191695" cy="6858000"/>
          </a:xfrm>
          <a:prstGeom prst="rect">
            <a:avLst/>
          </a:prstGeom>
        </p:spPr>
      </p:pic>
      <p:pic>
        <p:nvPicPr>
          <p:cNvPr id="3" name="!!shade" descr="/home/user/mdist-tracker/presentations/malaria/build/shade_L.png">    </p:cNvPr>
          <p:cNvPicPr>
            <a:picLocks noChangeAspect="1"/>
          </p:cNvPicPr>
          <p:nvPr/>
        </p:nvPicPr>
        <p:blipFill>
          <a:blip r:embed="rId2"/>
          <a:stretch>
            <a:fillRect/>
          </a:stretch>
        </p:blipFill>
        <p:spPr>
          <a:xfrm>
            <a:off x="0" y="0"/>
            <a:ext cx="12191695" cy="6858000"/>
          </a:xfrm>
          <a:prstGeom prst="rect">
            <a:avLst/>
          </a:prstGeom>
        </p:spPr>
      </p:pic>
      <p:sp>
        <p:nvSpPr>
          <p:cNvPr id="4" name="!!pill"/>
          <p:cNvSpPr/>
          <p:nvPr/>
        </p:nvSpPr>
        <p:spPr>
          <a:xfrm>
            <a:off x="548640" y="411480"/>
            <a:ext cx="2168957" cy="274320"/>
          </a:xfrm>
          <a:prstGeom prst="roundRect">
            <a:avLst>
              <a:gd name="adj" fmla="val 50000"/>
            </a:avLst>
          </a:prstGeom>
          <a:solidFill>
            <a:srgbClr val="0A0405">
              <a:alpha val="65000"/>
            </a:srgbClr>
          </a:solidFill>
          <a:ln w="9525">
            <a:solidFill>
              <a:srgbClr val="7A3038"/>
            </a:solidFill>
            <a:prstDash val="solid"/>
          </a:ln>
        </p:spPr>
      </p:sp>
      <p:sp>
        <p:nvSpPr>
          <p:cNvPr id="5" name="!!pilltext"/>
          <p:cNvSpPr txBox="1"/>
          <p:nvPr/>
        </p:nvSpPr>
        <p:spPr>
          <a:xfrm>
            <a:off x="548640" y="411480"/>
            <a:ext cx="2168957" cy="274320"/>
          </a:xfrm>
          <a:prstGeom prst="rect">
            <a:avLst/>
          </a:prstGeom>
          <a:noFill/>
          <a:ln/>
        </p:spPr>
        <p:txBody>
          <a:bodyPr wrap="square" lIns="0" tIns="0" rIns="0" bIns="0" rtlCol="0" anchor="ctr"/>
          <a:lstStyle/>
          <a:p>
            <a:pPr algn="ctr" indent="0" marL="0">
              <a:buNone/>
            </a:pPr>
            <a:r>
              <a:rPr lang="en-US" sz="1000" b="1" spc="150" kern="0" dirty="0">
                <a:solidFill>
                  <a:srgbClr val="C9B2AE"/>
                </a:solidFill>
                <a:latin typeface="Arial" pitchFamily="34" charset="0"/>
                <a:ea typeface="Arial" pitchFamily="34" charset="-122"/>
                <a:cs typeface="Arial" pitchFamily="34" charset="-120"/>
              </a:rPr>
              <a:t>04 · FIGHTING BACK</a:t>
            </a:r>
            <a:endParaRPr lang="en-US" sz="1000" dirty="0"/>
          </a:p>
        </p:txBody>
      </p:sp>
      <p:pic>
        <p:nvPicPr>
          <p:cNvPr id="6" name="!!title" descr="Prevention">    </p:cNvPr>
          <p:cNvPicPr>
            <a:picLocks noChangeAspect="1"/>
          </p:cNvPicPr>
          <p:nvPr/>
        </p:nvPicPr>
        <p:blipFill>
          <a:blip r:embed="rId3"/>
          <a:stretch>
            <a:fillRect/>
          </a:stretch>
        </p:blipFill>
        <p:spPr>
          <a:xfrm>
            <a:off x="521208" y="822960"/>
            <a:ext cx="4106019" cy="530721"/>
          </a:xfrm>
          <a:prstGeom prst="rect">
            <a:avLst/>
          </a:prstGeom>
        </p:spPr>
      </p:pic>
      <p:pic>
        <p:nvPicPr>
          <p:cNvPr id="7" name="!!crest" descr="MDIS Tashkent crest">    </p:cNvPr>
          <p:cNvPicPr>
            <a:picLocks noChangeAspect="1"/>
          </p:cNvPicPr>
          <p:nvPr/>
        </p:nvPicPr>
        <p:blipFill>
          <a:blip r:embed="rId4"/>
          <a:stretch>
            <a:fillRect/>
          </a:stretch>
        </p:blipFill>
        <p:spPr>
          <a:xfrm>
            <a:off x="11249708" y="384048"/>
            <a:ext cx="393347" cy="384048"/>
          </a:xfrm>
          <a:prstGeom prst="rect">
            <a:avLst/>
          </a:prstGeom>
        </p:spPr>
      </p:pic>
      <p:sp>
        <p:nvSpPr>
          <p:cNvPr id="8" name="Text 2"/>
          <p:cNvSpPr txBox="1"/>
          <p:nvPr/>
        </p:nvSpPr>
        <p:spPr>
          <a:xfrm>
            <a:off x="548640" y="6382512"/>
            <a:ext cx="7863840" cy="256032"/>
          </a:xfrm>
          <a:prstGeom prst="rect">
            <a:avLst/>
          </a:prstGeom>
          <a:noFill/>
          <a:ln/>
        </p:spPr>
        <p:txBody>
          <a:bodyPr wrap="square" lIns="0" tIns="0" rIns="0" bIns="0" rtlCol="0" anchor="ctr"/>
          <a:lstStyle/>
          <a:p>
            <a:pPr indent="0" marL="0">
              <a:buNone/>
            </a:pPr>
            <a:r>
              <a:rPr lang="en-US" sz="1000" dirty="0">
                <a:solidFill>
                  <a:srgbClr val="9C8380"/>
                </a:solidFill>
                <a:latin typeface="Arial" pitchFamily="34" charset="0"/>
                <a:ea typeface="Arial" pitchFamily="34" charset="-122"/>
                <a:cs typeface="Arial" pitchFamily="34" charset="-120"/>
              </a:rPr>
              <a:t>Source: Bhatt et al. (2015); World Health Organization (2025a; 2025b)</a:t>
            </a:r>
            <a:endParaRPr lang="en-US" sz="1000" dirty="0"/>
          </a:p>
        </p:txBody>
      </p:sp>
      <p:sp>
        <p:nvSpPr>
          <p:cNvPr id="9" name="Text 3"/>
          <p:cNvSpPr txBox="1"/>
          <p:nvPr/>
        </p:nvSpPr>
        <p:spPr>
          <a:xfrm>
            <a:off x="7802575" y="6382512"/>
            <a:ext cx="3840480" cy="256032"/>
          </a:xfrm>
          <a:prstGeom prst="rect">
            <a:avLst/>
          </a:prstGeom>
          <a:noFill/>
          <a:ln/>
        </p:spPr>
        <p:txBody>
          <a:bodyPr wrap="square" lIns="0" tIns="0" rIns="0" bIns="0" rtlCol="0" anchor="ctr"/>
          <a:lstStyle/>
          <a:p>
            <a:pPr algn="r" indent="0" marL="0">
              <a:buNone/>
            </a:pPr>
            <a:r>
              <a:rPr lang="en-US" sz="1000" b="1" spc="100" kern="0" dirty="0">
                <a:solidFill>
                  <a:srgbClr val="C9B2AE"/>
                </a:solidFill>
                <a:latin typeface="Arial" pitchFamily="34" charset="0"/>
                <a:ea typeface="Arial" pitchFamily="34" charset="-122"/>
                <a:cs typeface="Arial" pitchFamily="34" charset="-120"/>
              </a:rPr>
              <a:t>AKMALBEK ABDURAIMOV   ·   12 / 16</a:t>
            </a:r>
            <a:endParaRPr lang="en-US" sz="1000" dirty="0"/>
          </a:p>
        </p:txBody>
      </p:sp>
      <p:sp>
        <p:nvSpPr>
          <p:cNvPr id="10" name="fx:1:up:r0"/>
          <p:cNvSpPr/>
          <p:nvPr/>
        </p:nvSpPr>
        <p:spPr>
          <a:xfrm>
            <a:off x="548640" y="1783080"/>
            <a:ext cx="6355080" cy="932688"/>
          </a:xfrm>
          <a:prstGeom prst="roundRect">
            <a:avLst>
              <a:gd name="adj" fmla="val 8824"/>
            </a:avLst>
          </a:prstGeom>
          <a:solidFill>
            <a:srgbClr val="1C080B">
              <a:alpha val="78000"/>
            </a:srgbClr>
          </a:solidFill>
          <a:ln w="9525">
            <a:solidFill>
              <a:srgbClr val="7A3038"/>
            </a:solidFill>
            <a:prstDash val="solid"/>
          </a:ln>
        </p:spPr>
      </p:sp>
      <p:sp>
        <p:nvSpPr>
          <p:cNvPr id="11" name="fx:1:zoom:r0:icon"/>
          <p:cNvSpPr/>
          <p:nvPr/>
        </p:nvSpPr>
        <p:spPr>
          <a:xfrm>
            <a:off x="749808" y="1965960"/>
            <a:ext cx="566928" cy="566928"/>
          </a:xfrm>
          <a:prstGeom prst="ellipse">
            <a:avLst/>
          </a:prstGeom>
          <a:solidFill>
            <a:srgbClr val="B01C2C"/>
          </a:solidFill>
          <a:ln w="9525">
            <a:solidFill>
              <a:srgbClr val="E7626B"/>
            </a:solidFill>
            <a:prstDash val="solid"/>
          </a:ln>
        </p:spPr>
      </p:sp>
      <p:pic>
        <p:nvPicPr>
          <p:cNvPr id="12" name="fx:1:zoom:r0:iconimg" descr="net">    </p:cNvPr>
          <p:cNvPicPr>
            <a:picLocks noChangeAspect="1"/>
          </p:cNvPicPr>
          <p:nvPr/>
        </p:nvPicPr>
        <p:blipFill>
          <a:blip r:embed="rId5"/>
          <a:stretch>
            <a:fillRect/>
          </a:stretch>
        </p:blipFill>
        <p:spPr>
          <a:xfrm>
            <a:off x="874532" y="2090684"/>
            <a:ext cx="317480" cy="317480"/>
          </a:xfrm>
          <a:prstGeom prst="rect">
            <a:avLst/>
          </a:prstGeom>
        </p:spPr>
      </p:pic>
      <p:sp>
        <p:nvSpPr>
          <p:cNvPr id="13" name="fx:1:up:h0"/>
          <p:cNvSpPr txBox="1"/>
          <p:nvPr/>
        </p:nvSpPr>
        <p:spPr>
          <a:xfrm>
            <a:off x="1554480" y="1911096"/>
            <a:ext cx="5166360" cy="274320"/>
          </a:xfrm>
          <a:prstGeom prst="rect">
            <a:avLst/>
          </a:prstGeom>
          <a:noFill/>
          <a:ln/>
        </p:spPr>
        <p:txBody>
          <a:bodyPr wrap="square" lIns="0" tIns="0" rIns="0" bIns="0" rtlCol="0" anchor="t"/>
          <a:lstStyle/>
          <a:p>
            <a:pPr indent="0" marL="0">
              <a:buNone/>
            </a:pPr>
            <a:r>
              <a:rPr lang="en-US" sz="1300" b="1" spc="50" kern="0" dirty="0">
                <a:solidFill>
                  <a:srgbClr val="F4ECE8"/>
                </a:solidFill>
                <a:latin typeface="Arial" pitchFamily="34" charset="0"/>
                <a:ea typeface="Arial" pitchFamily="34" charset="-122"/>
                <a:cs typeface="Arial" pitchFamily="34" charset="-120"/>
              </a:rPr>
              <a:t>1 · INSECTICIDE-TREATED BED NETS</a:t>
            </a:r>
            <a:endParaRPr lang="en-US" sz="1300" dirty="0"/>
          </a:p>
        </p:txBody>
      </p:sp>
      <p:sp>
        <p:nvSpPr>
          <p:cNvPr id="14" name="fx:1:up:b0"/>
          <p:cNvSpPr txBox="1"/>
          <p:nvPr/>
        </p:nvSpPr>
        <p:spPr>
          <a:xfrm>
            <a:off x="1554480" y="2203704"/>
            <a:ext cx="5166360" cy="438912"/>
          </a:xfrm>
          <a:prstGeom prst="rect">
            <a:avLst/>
          </a:prstGeom>
          <a:noFill/>
          <a:ln/>
        </p:spPr>
        <p:txBody>
          <a:bodyPr wrap="square" lIns="0" tIns="0" rIns="0" bIns="0" rtlCol="0" anchor="t"/>
          <a:lstStyle/>
          <a:p>
            <a:pPr indent="0" marL="0">
              <a:buNone/>
            </a:pPr>
            <a:r>
              <a:rPr lang="en-US" sz="1200" dirty="0">
                <a:solidFill>
                  <a:srgbClr val="C9B2AE"/>
                </a:solidFill>
                <a:latin typeface="Arial" pitchFamily="34" charset="0"/>
                <a:ea typeface="Arial" pitchFamily="34" charset="-122"/>
                <a:cs typeface="Arial" pitchFamily="34" charset="-120"/>
              </a:rPr>
              <a:t>68% of all cases prevented in Africa, 2000–2015. Sleep under it every night.</a:t>
            </a:r>
            <a:endParaRPr lang="en-US" sz="1200" dirty="0"/>
          </a:p>
        </p:txBody>
      </p:sp>
      <p:sp>
        <p:nvSpPr>
          <p:cNvPr id="15" name="fx:2:up:r1"/>
          <p:cNvSpPr/>
          <p:nvPr/>
        </p:nvSpPr>
        <p:spPr>
          <a:xfrm>
            <a:off x="548640" y="2843784"/>
            <a:ext cx="6355080" cy="932688"/>
          </a:xfrm>
          <a:prstGeom prst="roundRect">
            <a:avLst>
              <a:gd name="adj" fmla="val 8824"/>
            </a:avLst>
          </a:prstGeom>
          <a:solidFill>
            <a:srgbClr val="1C080B">
              <a:alpha val="78000"/>
            </a:srgbClr>
          </a:solidFill>
          <a:ln w="9525">
            <a:solidFill>
              <a:srgbClr val="7A3038"/>
            </a:solidFill>
            <a:prstDash val="solid"/>
          </a:ln>
        </p:spPr>
      </p:sp>
      <p:sp>
        <p:nvSpPr>
          <p:cNvPr id="16" name="fx:2:zoom:r1:icon"/>
          <p:cNvSpPr/>
          <p:nvPr/>
        </p:nvSpPr>
        <p:spPr>
          <a:xfrm>
            <a:off x="749808" y="3026664"/>
            <a:ext cx="566928" cy="566928"/>
          </a:xfrm>
          <a:prstGeom prst="ellipse">
            <a:avLst/>
          </a:prstGeom>
          <a:solidFill>
            <a:srgbClr val="B01C2C"/>
          </a:solidFill>
          <a:ln w="9525">
            <a:solidFill>
              <a:srgbClr val="E7626B"/>
            </a:solidFill>
            <a:prstDash val="solid"/>
          </a:ln>
        </p:spPr>
      </p:sp>
      <p:pic>
        <p:nvPicPr>
          <p:cNvPr id="17" name="fx:2:zoom:r1:iconimg" descr="spray">    </p:cNvPr>
          <p:cNvPicPr>
            <a:picLocks noChangeAspect="1"/>
          </p:cNvPicPr>
          <p:nvPr/>
        </p:nvPicPr>
        <p:blipFill>
          <a:blip r:embed="rId6"/>
          <a:stretch>
            <a:fillRect/>
          </a:stretch>
        </p:blipFill>
        <p:spPr>
          <a:xfrm>
            <a:off x="874532" y="3151388"/>
            <a:ext cx="317480" cy="317480"/>
          </a:xfrm>
          <a:prstGeom prst="rect">
            <a:avLst/>
          </a:prstGeom>
        </p:spPr>
      </p:pic>
      <p:sp>
        <p:nvSpPr>
          <p:cNvPr id="18" name="fx:2:up:h1"/>
          <p:cNvSpPr txBox="1"/>
          <p:nvPr/>
        </p:nvSpPr>
        <p:spPr>
          <a:xfrm>
            <a:off x="1554480" y="2971800"/>
            <a:ext cx="5166360" cy="274320"/>
          </a:xfrm>
          <a:prstGeom prst="rect">
            <a:avLst/>
          </a:prstGeom>
          <a:noFill/>
          <a:ln/>
        </p:spPr>
        <p:txBody>
          <a:bodyPr wrap="square" lIns="0" tIns="0" rIns="0" bIns="0" rtlCol="0" anchor="t"/>
          <a:lstStyle/>
          <a:p>
            <a:pPr indent="0" marL="0">
              <a:buNone/>
            </a:pPr>
            <a:r>
              <a:rPr lang="en-US" sz="1300" b="1" spc="50" kern="0" dirty="0">
                <a:solidFill>
                  <a:srgbClr val="F4ECE8"/>
                </a:solidFill>
                <a:latin typeface="Arial" pitchFamily="34" charset="0"/>
                <a:ea typeface="Arial" pitchFamily="34" charset="-122"/>
                <a:cs typeface="Arial" pitchFamily="34" charset="-120"/>
              </a:rPr>
              <a:t>2 · INDOOR SPRAYING</a:t>
            </a:r>
            <a:endParaRPr lang="en-US" sz="1300" dirty="0"/>
          </a:p>
        </p:txBody>
      </p:sp>
      <p:sp>
        <p:nvSpPr>
          <p:cNvPr id="19" name="fx:2:up:b1"/>
          <p:cNvSpPr txBox="1"/>
          <p:nvPr/>
        </p:nvSpPr>
        <p:spPr>
          <a:xfrm>
            <a:off x="1554480" y="3264408"/>
            <a:ext cx="5166360" cy="438912"/>
          </a:xfrm>
          <a:prstGeom prst="rect">
            <a:avLst/>
          </a:prstGeom>
          <a:noFill/>
          <a:ln/>
        </p:spPr>
        <p:txBody>
          <a:bodyPr wrap="square" lIns="0" tIns="0" rIns="0" bIns="0" rtlCol="0" anchor="t"/>
          <a:lstStyle/>
          <a:p>
            <a:pPr indent="0" marL="0">
              <a:buNone/>
            </a:pPr>
            <a:r>
              <a:rPr lang="en-US" sz="1200" dirty="0">
                <a:solidFill>
                  <a:srgbClr val="C9B2AE"/>
                </a:solidFill>
                <a:latin typeface="Arial" pitchFamily="34" charset="0"/>
                <a:ea typeface="Arial" pitchFamily="34" charset="-122"/>
                <a:cs typeface="Arial" pitchFamily="34" charset="-120"/>
              </a:rPr>
              <a:t>Insecticide on the inside walls, where mosquitoes rest after they bite.</a:t>
            </a:r>
            <a:endParaRPr lang="en-US" sz="1200" dirty="0"/>
          </a:p>
        </p:txBody>
      </p:sp>
      <p:sp>
        <p:nvSpPr>
          <p:cNvPr id="20" name="fx:3:up:r2"/>
          <p:cNvSpPr/>
          <p:nvPr/>
        </p:nvSpPr>
        <p:spPr>
          <a:xfrm>
            <a:off x="548640" y="3904488"/>
            <a:ext cx="6355080" cy="932688"/>
          </a:xfrm>
          <a:prstGeom prst="roundRect">
            <a:avLst>
              <a:gd name="adj" fmla="val 8824"/>
            </a:avLst>
          </a:prstGeom>
          <a:solidFill>
            <a:srgbClr val="1C080B">
              <a:alpha val="78000"/>
            </a:srgbClr>
          </a:solidFill>
          <a:ln w="9525">
            <a:solidFill>
              <a:srgbClr val="7A3038"/>
            </a:solidFill>
            <a:prstDash val="solid"/>
          </a:ln>
        </p:spPr>
      </p:sp>
      <p:sp>
        <p:nvSpPr>
          <p:cNvPr id="21" name="fx:3:zoom:r2:icon"/>
          <p:cNvSpPr/>
          <p:nvPr/>
        </p:nvSpPr>
        <p:spPr>
          <a:xfrm>
            <a:off x="749808" y="4087368"/>
            <a:ext cx="566928" cy="566928"/>
          </a:xfrm>
          <a:prstGeom prst="ellipse">
            <a:avLst/>
          </a:prstGeom>
          <a:solidFill>
            <a:srgbClr val="B01C2C"/>
          </a:solidFill>
          <a:ln w="9525">
            <a:solidFill>
              <a:srgbClr val="E7626B"/>
            </a:solidFill>
            <a:prstDash val="solid"/>
          </a:ln>
        </p:spPr>
      </p:sp>
      <p:pic>
        <p:nvPicPr>
          <p:cNvPr id="22" name="fx:3:zoom:r2:iconimg" descr="pill">    </p:cNvPr>
          <p:cNvPicPr>
            <a:picLocks noChangeAspect="1"/>
          </p:cNvPicPr>
          <p:nvPr/>
        </p:nvPicPr>
        <p:blipFill>
          <a:blip r:embed="rId7"/>
          <a:stretch>
            <a:fillRect/>
          </a:stretch>
        </p:blipFill>
        <p:spPr>
          <a:xfrm>
            <a:off x="874532" y="4212092"/>
            <a:ext cx="317480" cy="317480"/>
          </a:xfrm>
          <a:prstGeom prst="rect">
            <a:avLst/>
          </a:prstGeom>
        </p:spPr>
      </p:pic>
      <p:sp>
        <p:nvSpPr>
          <p:cNvPr id="23" name="fx:3:up:h2"/>
          <p:cNvSpPr txBox="1"/>
          <p:nvPr/>
        </p:nvSpPr>
        <p:spPr>
          <a:xfrm>
            <a:off x="1554480" y="4032504"/>
            <a:ext cx="5166360" cy="274320"/>
          </a:xfrm>
          <a:prstGeom prst="rect">
            <a:avLst/>
          </a:prstGeom>
          <a:noFill/>
          <a:ln/>
        </p:spPr>
        <p:txBody>
          <a:bodyPr wrap="square" lIns="0" tIns="0" rIns="0" bIns="0" rtlCol="0" anchor="t"/>
          <a:lstStyle/>
          <a:p>
            <a:pPr indent="0" marL="0">
              <a:buNone/>
            </a:pPr>
            <a:r>
              <a:rPr lang="en-US" sz="1300" b="1" spc="50" kern="0" dirty="0">
                <a:solidFill>
                  <a:srgbClr val="F4ECE8"/>
                </a:solidFill>
                <a:latin typeface="Arial" pitchFamily="34" charset="0"/>
                <a:ea typeface="Arial" pitchFamily="34" charset="-122"/>
                <a:cs typeface="Arial" pitchFamily="34" charset="-120"/>
              </a:rPr>
              <a:t>3 · SEASONAL MEDICINES FOR CHILDREN</a:t>
            </a:r>
            <a:endParaRPr lang="en-US" sz="1300" dirty="0"/>
          </a:p>
        </p:txBody>
      </p:sp>
      <p:sp>
        <p:nvSpPr>
          <p:cNvPr id="24" name="fx:3:up:b2"/>
          <p:cNvSpPr txBox="1"/>
          <p:nvPr/>
        </p:nvSpPr>
        <p:spPr>
          <a:xfrm>
            <a:off x="1554480" y="4325112"/>
            <a:ext cx="5166360" cy="438912"/>
          </a:xfrm>
          <a:prstGeom prst="rect">
            <a:avLst/>
          </a:prstGeom>
          <a:noFill/>
          <a:ln/>
        </p:spPr>
        <p:txBody>
          <a:bodyPr wrap="square" lIns="0" tIns="0" rIns="0" bIns="0" rtlCol="0" anchor="t"/>
          <a:lstStyle/>
          <a:p>
            <a:pPr indent="0" marL="0">
              <a:buNone/>
            </a:pPr>
            <a:r>
              <a:rPr lang="en-US" sz="1200" dirty="0">
                <a:solidFill>
                  <a:srgbClr val="C9B2AE"/>
                </a:solidFill>
                <a:latin typeface="Arial" pitchFamily="34" charset="0"/>
                <a:ea typeface="Arial" pitchFamily="34" charset="-122"/>
                <a:cs typeface="Arial" pitchFamily="34" charset="-120"/>
              </a:rPr>
              <a:t>About 54 million African children in each round, 2024.</a:t>
            </a:r>
            <a:endParaRPr lang="en-US" sz="1200" dirty="0"/>
          </a:p>
        </p:txBody>
      </p:sp>
      <p:sp>
        <p:nvSpPr>
          <p:cNvPr id="25" name="fx:4:up:r3"/>
          <p:cNvSpPr/>
          <p:nvPr/>
        </p:nvSpPr>
        <p:spPr>
          <a:xfrm>
            <a:off x="548640" y="4965192"/>
            <a:ext cx="6355080" cy="932688"/>
          </a:xfrm>
          <a:prstGeom prst="roundRect">
            <a:avLst>
              <a:gd name="adj" fmla="val 8824"/>
            </a:avLst>
          </a:prstGeom>
          <a:solidFill>
            <a:srgbClr val="1C080B">
              <a:alpha val="78000"/>
            </a:srgbClr>
          </a:solidFill>
          <a:ln w="9525">
            <a:solidFill>
              <a:srgbClr val="7A3038"/>
            </a:solidFill>
            <a:prstDash val="solid"/>
          </a:ln>
        </p:spPr>
      </p:sp>
      <p:sp>
        <p:nvSpPr>
          <p:cNvPr id="26" name="fx:4:zoom:r3:icon"/>
          <p:cNvSpPr/>
          <p:nvPr/>
        </p:nvSpPr>
        <p:spPr>
          <a:xfrm>
            <a:off x="749808" y="5148072"/>
            <a:ext cx="566928" cy="566928"/>
          </a:xfrm>
          <a:prstGeom prst="ellipse">
            <a:avLst/>
          </a:prstGeom>
          <a:solidFill>
            <a:srgbClr val="B01C2C"/>
          </a:solidFill>
          <a:ln w="9525">
            <a:solidFill>
              <a:srgbClr val="E7626B"/>
            </a:solidFill>
            <a:prstDash val="solid"/>
          </a:ln>
        </p:spPr>
      </p:sp>
      <p:pic>
        <p:nvPicPr>
          <p:cNvPr id="27" name="fx:4:zoom:r3:iconimg" descr="shield">    </p:cNvPr>
          <p:cNvPicPr>
            <a:picLocks noChangeAspect="1"/>
          </p:cNvPicPr>
          <p:nvPr/>
        </p:nvPicPr>
        <p:blipFill>
          <a:blip r:embed="rId8"/>
          <a:stretch>
            <a:fillRect/>
          </a:stretch>
        </p:blipFill>
        <p:spPr>
          <a:xfrm>
            <a:off x="874532" y="5272796"/>
            <a:ext cx="317480" cy="317480"/>
          </a:xfrm>
          <a:prstGeom prst="rect">
            <a:avLst/>
          </a:prstGeom>
        </p:spPr>
      </p:pic>
      <p:sp>
        <p:nvSpPr>
          <p:cNvPr id="28" name="fx:4:up:h3"/>
          <p:cNvSpPr txBox="1"/>
          <p:nvPr/>
        </p:nvSpPr>
        <p:spPr>
          <a:xfrm>
            <a:off x="1554480" y="5093208"/>
            <a:ext cx="5166360" cy="274320"/>
          </a:xfrm>
          <a:prstGeom prst="rect">
            <a:avLst/>
          </a:prstGeom>
          <a:noFill/>
          <a:ln/>
        </p:spPr>
        <p:txBody>
          <a:bodyPr wrap="square" lIns="0" tIns="0" rIns="0" bIns="0" rtlCol="0" anchor="t"/>
          <a:lstStyle/>
          <a:p>
            <a:pPr indent="0" marL="0">
              <a:buNone/>
            </a:pPr>
            <a:r>
              <a:rPr lang="en-US" sz="1300" b="1" spc="50" kern="0" dirty="0">
                <a:solidFill>
                  <a:srgbClr val="F4ECE8"/>
                </a:solidFill>
                <a:latin typeface="Arial" pitchFamily="34" charset="0"/>
                <a:ea typeface="Arial" pitchFamily="34" charset="-122"/>
                <a:cs typeface="Arial" pitchFamily="34" charset="-120"/>
              </a:rPr>
              <a:t>4 · PERSONAL PROTECTION</a:t>
            </a:r>
            <a:endParaRPr lang="en-US" sz="1300" dirty="0"/>
          </a:p>
        </p:txBody>
      </p:sp>
      <p:sp>
        <p:nvSpPr>
          <p:cNvPr id="29" name="fx:4:up:b3"/>
          <p:cNvSpPr txBox="1"/>
          <p:nvPr/>
        </p:nvSpPr>
        <p:spPr>
          <a:xfrm>
            <a:off x="1554480" y="5385816"/>
            <a:ext cx="5166360" cy="438912"/>
          </a:xfrm>
          <a:prstGeom prst="rect">
            <a:avLst/>
          </a:prstGeom>
          <a:noFill/>
          <a:ln/>
        </p:spPr>
        <p:txBody>
          <a:bodyPr wrap="square" lIns="0" tIns="0" rIns="0" bIns="0" rtlCol="0" anchor="t"/>
          <a:lstStyle/>
          <a:p>
            <a:pPr indent="0" marL="0">
              <a:buNone/>
            </a:pPr>
            <a:r>
              <a:rPr lang="en-US" sz="1200" dirty="0">
                <a:solidFill>
                  <a:srgbClr val="C9B2AE"/>
                </a:solidFill>
                <a:latin typeface="Arial" pitchFamily="34" charset="0"/>
                <a:ea typeface="Arial" pitchFamily="34" charset="-122"/>
                <a:cs typeface="Arial" pitchFamily="34" charset="-120"/>
              </a:rPr>
              <a:t>Repellent, long sleeves, no standing water. Preventive tablets for travellers.</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42" presetClass="entr" presetSubtype="0" fill="hold" grpId="0" nodeType="afterEffect">
                                  <p:stCondLst>
                                    <p:cond delay="15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550"/>
                                        <p:tgtEl>
                                          <p:spTgt spid="10"/>
                                        </p:tgtEl>
                                      </p:cBhvr>
                                    </p:animEffect>
                                    <p:anim calcmode="lin" valueType="num">
                                      <p:cBhvr>
                                        <p:cTn id="8" dur="550" decel="100000" fill="hold"/>
                                        <p:tgtEl>
                                          <p:spTgt spid="10"/>
                                        </p:tgtEl>
                                        <p:attrNameLst>
                                          <p:attrName>ppt_x</p:attrName>
                                        </p:attrNameLst>
                                      </p:cBhvr>
                                      <p:tavLst>
                                        <p:tav tm="0">
                                          <p:val>
                                            <p:strVal val="#ppt_x"/>
                                          </p:val>
                                        </p:tav>
                                        <p:tav tm="100000">
                                          <p:val>
                                            <p:strVal val="#ppt_x"/>
                                          </p:val>
                                        </p:tav>
                                      </p:tavLst>
                                    </p:anim>
                                    <p:anim calcmode="lin" valueType="num">
                                      <p:cBhvr>
                                        <p:cTn id="9" dur="550" decel="100000" fill="hold"/>
                                        <p:tgtEl>
                                          <p:spTgt spid="10"/>
                                        </p:tgtEl>
                                        <p:attrNameLst>
                                          <p:attrName>ppt_y</p:attrName>
                                        </p:attrNameLst>
                                      </p:cBhvr>
                                      <p:tavLst>
                                        <p:tav tm="0">
                                          <p:val>
                                            <p:strVal val="#ppt_y+0.04"/>
                                          </p:val>
                                        </p:tav>
                                        <p:tav tm="100000">
                                          <p:val>
                                            <p:strVal val="#ppt_y"/>
                                          </p:val>
                                        </p:tav>
                                      </p:tavLst>
                                    </p:anim>
                                  </p:childTnLst>
                                </p:cTn>
                              </p:par>
                              <p:par>
                                <p:cTn id="12" presetID="53" presetClass="entr" presetSubtype="16" fill="hold" grpId="0" nodeType="withEffect">
                                  <p:stCondLst>
                                    <p:cond delay="150"/>
                                  </p:stCondLst>
                                  <p:childTnLst>
                                    <p:set>
                                      <p:cBhvr>
                                        <p:cTn id="10" dur="1" fill="hold">
                                          <p:stCondLst>
                                            <p:cond delay="0"/>
                                          </p:stCondLst>
                                        </p:cTn>
                                        <p:tgtEl>
                                          <p:spTgt spid="11"/>
                                        </p:tgtEl>
                                        <p:attrNameLst>
                                          <p:attrName>style.visibility</p:attrName>
                                        </p:attrNameLst>
                                      </p:cBhvr>
                                      <p:to>
                                        <p:strVal val="visible"/>
                                      </p:to>
                                    </p:set>
                                    <p:anim calcmode="lin" valueType="num">
                                      <p:cBhvr>
                                        <p:cTn id="13" dur="600" decel="100000" fill="hold"/>
                                        <p:tgtEl>
                                          <p:spTgt spid="11"/>
                                        </p:tgtEl>
                                        <p:attrNameLst>
                                          <p:attrName>ppt_w</p:attrName>
                                        </p:attrNameLst>
                                      </p:cBhvr>
                                      <p:tavLst>
                                        <p:tav tm="0">
                                          <p:val>
                                            <p:strVal val="#ppt_w*0.7"/>
                                          </p:val>
                                        </p:tav>
                                        <p:tav tm="100000">
                                          <p:val>
                                            <p:strVal val="#ppt_w"/>
                                          </p:val>
                                        </p:tav>
                                      </p:tavLst>
                                    </p:anim>
                                    <p:anim calcmode="lin" valueType="num">
                                      <p:cBhvr>
                                        <p:cTn id="14" dur="600" decel="100000" fill="hold"/>
                                        <p:tgtEl>
                                          <p:spTgt spid="11"/>
                                        </p:tgtEl>
                                        <p:attrNameLst>
                                          <p:attrName>ppt_h</p:attrName>
                                        </p:attrNameLst>
                                      </p:cBhvr>
                                      <p:tavLst>
                                        <p:tav tm="0">
                                          <p:val>
                                            <p:strVal val="#ppt_h*0.7"/>
                                          </p:val>
                                        </p:tav>
                                        <p:tav tm="100000">
                                          <p:val>
                                            <p:strVal val="#ppt_h"/>
                                          </p:val>
                                        </p:tav>
                                      </p:tavLst>
                                    </p:anim>
                                    <p:animEffect transition="in" filter="fade">
                                      <p:cBhvr>
                                        <p:cTn id="11" dur="600"/>
                                        <p:tgtEl>
                                          <p:spTgt spid="11"/>
                                        </p:tgtEl>
                                      </p:cBhvr>
                                    </p:animEffect>
                                  </p:childTnLst>
                                </p:cTn>
                              </p:par>
                              <p:par>
                                <p:cTn id="17" presetID="53" presetClass="entr" presetSubtype="16" fill="hold" grpId="0" nodeType="withEffect">
                                  <p:stCondLst>
                                    <p:cond delay="150"/>
                                  </p:stCondLst>
                                  <p:childTnLst>
                                    <p:set>
                                      <p:cBhvr>
                                        <p:cTn id="15" dur="1" fill="hold">
                                          <p:stCondLst>
                                            <p:cond delay="0"/>
                                          </p:stCondLst>
                                        </p:cTn>
                                        <p:tgtEl>
                                          <p:spTgt spid="12"/>
                                        </p:tgtEl>
                                        <p:attrNameLst>
                                          <p:attrName>style.visibility</p:attrName>
                                        </p:attrNameLst>
                                      </p:cBhvr>
                                      <p:to>
                                        <p:strVal val="visible"/>
                                      </p:to>
                                    </p:set>
                                    <p:anim calcmode="lin" valueType="num">
                                      <p:cBhvr>
                                        <p:cTn id="18" dur="600" decel="100000" fill="hold"/>
                                        <p:tgtEl>
                                          <p:spTgt spid="12"/>
                                        </p:tgtEl>
                                        <p:attrNameLst>
                                          <p:attrName>ppt_w</p:attrName>
                                        </p:attrNameLst>
                                      </p:cBhvr>
                                      <p:tavLst>
                                        <p:tav tm="0">
                                          <p:val>
                                            <p:strVal val="#ppt_w*0.7"/>
                                          </p:val>
                                        </p:tav>
                                        <p:tav tm="100000">
                                          <p:val>
                                            <p:strVal val="#ppt_w"/>
                                          </p:val>
                                        </p:tav>
                                      </p:tavLst>
                                    </p:anim>
                                    <p:anim calcmode="lin" valueType="num">
                                      <p:cBhvr>
                                        <p:cTn id="19" dur="600" decel="100000" fill="hold"/>
                                        <p:tgtEl>
                                          <p:spTgt spid="12"/>
                                        </p:tgtEl>
                                        <p:attrNameLst>
                                          <p:attrName>ppt_h</p:attrName>
                                        </p:attrNameLst>
                                      </p:cBhvr>
                                      <p:tavLst>
                                        <p:tav tm="0">
                                          <p:val>
                                            <p:strVal val="#ppt_h*0.7"/>
                                          </p:val>
                                        </p:tav>
                                        <p:tav tm="100000">
                                          <p:val>
                                            <p:strVal val="#ppt_h"/>
                                          </p:val>
                                        </p:tav>
                                      </p:tavLst>
                                    </p:anim>
                                    <p:animEffect transition="in" filter="fade">
                                      <p:cBhvr>
                                        <p:cTn id="16" dur="600"/>
                                        <p:tgtEl>
                                          <p:spTgt spid="12"/>
                                        </p:tgtEl>
                                      </p:cBhvr>
                                    </p:animEffect>
                                  </p:childTnLst>
                                </p:cTn>
                              </p:par>
                              <p:par>
                                <p:cTn id="22" presetID="42" presetClass="entr" presetSubtype="0" fill="hold" grpId="0" nodeType="withEffect">
                                  <p:stCondLst>
                                    <p:cond delay="15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50"/>
                                        <p:tgtEl>
                                          <p:spTgt spid="13"/>
                                        </p:tgtEl>
                                      </p:cBhvr>
                                    </p:animEffect>
                                    <p:anim calcmode="lin" valueType="num">
                                      <p:cBhvr>
                                        <p:cTn id="23" dur="550" decel="100000" fill="hold"/>
                                        <p:tgtEl>
                                          <p:spTgt spid="13"/>
                                        </p:tgtEl>
                                        <p:attrNameLst>
                                          <p:attrName>ppt_x</p:attrName>
                                        </p:attrNameLst>
                                      </p:cBhvr>
                                      <p:tavLst>
                                        <p:tav tm="0">
                                          <p:val>
                                            <p:strVal val="#ppt_x"/>
                                          </p:val>
                                        </p:tav>
                                        <p:tav tm="100000">
                                          <p:val>
                                            <p:strVal val="#ppt_x"/>
                                          </p:val>
                                        </p:tav>
                                      </p:tavLst>
                                    </p:anim>
                                    <p:anim calcmode="lin" valueType="num">
                                      <p:cBhvr>
                                        <p:cTn id="24" dur="550" decel="100000" fill="hold"/>
                                        <p:tgtEl>
                                          <p:spTgt spid="13"/>
                                        </p:tgtEl>
                                        <p:attrNameLst>
                                          <p:attrName>ppt_y</p:attrName>
                                        </p:attrNameLst>
                                      </p:cBhvr>
                                      <p:tavLst>
                                        <p:tav tm="0">
                                          <p:val>
                                            <p:strVal val="#ppt_y+0.04"/>
                                          </p:val>
                                        </p:tav>
                                        <p:tav tm="100000">
                                          <p:val>
                                            <p:strVal val="#ppt_y"/>
                                          </p:val>
                                        </p:tav>
                                      </p:tavLst>
                                    </p:anim>
                                  </p:childTnLst>
                                </p:cTn>
                              </p:par>
                              <p:par>
                                <p:cTn id="27" presetID="42" presetClass="entr" presetSubtype="0" fill="hold" grpId="0" nodeType="withEffect">
                                  <p:stCondLst>
                                    <p:cond delay="15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50"/>
                                        <p:tgtEl>
                                          <p:spTgt spid="14"/>
                                        </p:tgtEl>
                                      </p:cBhvr>
                                    </p:animEffect>
                                    <p:anim calcmode="lin" valueType="num">
                                      <p:cBhvr>
                                        <p:cTn id="28" dur="550" decel="100000" fill="hold"/>
                                        <p:tgtEl>
                                          <p:spTgt spid="14"/>
                                        </p:tgtEl>
                                        <p:attrNameLst>
                                          <p:attrName>ppt_x</p:attrName>
                                        </p:attrNameLst>
                                      </p:cBhvr>
                                      <p:tavLst>
                                        <p:tav tm="0">
                                          <p:val>
                                            <p:strVal val="#ppt_x"/>
                                          </p:val>
                                        </p:tav>
                                        <p:tav tm="100000">
                                          <p:val>
                                            <p:strVal val="#ppt_x"/>
                                          </p:val>
                                        </p:tav>
                                      </p:tavLst>
                                    </p:anim>
                                    <p:anim calcmode="lin" valueType="num">
                                      <p:cBhvr>
                                        <p:cTn id="29" dur="550" decel="100000" fill="hold"/>
                                        <p:tgtEl>
                                          <p:spTgt spid="14"/>
                                        </p:tgtEl>
                                        <p:attrNameLst>
                                          <p:attrName>ppt_y</p:attrName>
                                        </p:attrNameLst>
                                      </p:cBhvr>
                                      <p:tavLst>
                                        <p:tav tm="0">
                                          <p:val>
                                            <p:strVal val="#ppt_y+0.04"/>
                                          </p:val>
                                        </p:tav>
                                        <p:tav tm="100000">
                                          <p:val>
                                            <p:strVal val="#ppt_y"/>
                                          </p:val>
                                        </p:tav>
                                      </p:tavLst>
                                    </p:anim>
                                  </p:childTnLst>
                                </p:cTn>
                              </p:par>
                              <p:par>
                                <p:cTn id="32" presetID="42" presetClass="entr" presetSubtype="0" fill="hold" grpId="0" nodeType="withEffect">
                                  <p:stCondLst>
                                    <p:cond delay="28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50"/>
                                        <p:tgtEl>
                                          <p:spTgt spid="15"/>
                                        </p:tgtEl>
                                      </p:cBhvr>
                                    </p:animEffect>
                                    <p:anim calcmode="lin" valueType="num">
                                      <p:cBhvr>
                                        <p:cTn id="33" dur="550" decel="100000" fill="hold"/>
                                        <p:tgtEl>
                                          <p:spTgt spid="15"/>
                                        </p:tgtEl>
                                        <p:attrNameLst>
                                          <p:attrName>ppt_x</p:attrName>
                                        </p:attrNameLst>
                                      </p:cBhvr>
                                      <p:tavLst>
                                        <p:tav tm="0">
                                          <p:val>
                                            <p:strVal val="#ppt_x"/>
                                          </p:val>
                                        </p:tav>
                                        <p:tav tm="100000">
                                          <p:val>
                                            <p:strVal val="#ppt_x"/>
                                          </p:val>
                                        </p:tav>
                                      </p:tavLst>
                                    </p:anim>
                                    <p:anim calcmode="lin" valueType="num">
                                      <p:cBhvr>
                                        <p:cTn id="34" dur="550" decel="100000" fill="hold"/>
                                        <p:tgtEl>
                                          <p:spTgt spid="15"/>
                                        </p:tgtEl>
                                        <p:attrNameLst>
                                          <p:attrName>ppt_y</p:attrName>
                                        </p:attrNameLst>
                                      </p:cBhvr>
                                      <p:tavLst>
                                        <p:tav tm="0">
                                          <p:val>
                                            <p:strVal val="#ppt_y+0.04"/>
                                          </p:val>
                                        </p:tav>
                                        <p:tav tm="100000">
                                          <p:val>
                                            <p:strVal val="#ppt_y"/>
                                          </p:val>
                                        </p:tav>
                                      </p:tavLst>
                                    </p:anim>
                                  </p:childTnLst>
                                </p:cTn>
                              </p:par>
                              <p:par>
                                <p:cTn id="37" presetID="53" presetClass="entr" presetSubtype="16" fill="hold" grpId="0" nodeType="withEffect">
                                  <p:stCondLst>
                                    <p:cond delay="280"/>
                                  </p:stCondLst>
                                  <p:childTnLst>
                                    <p:set>
                                      <p:cBhvr>
                                        <p:cTn id="35" dur="1" fill="hold">
                                          <p:stCondLst>
                                            <p:cond delay="0"/>
                                          </p:stCondLst>
                                        </p:cTn>
                                        <p:tgtEl>
                                          <p:spTgt spid="16"/>
                                        </p:tgtEl>
                                        <p:attrNameLst>
                                          <p:attrName>style.visibility</p:attrName>
                                        </p:attrNameLst>
                                      </p:cBhvr>
                                      <p:to>
                                        <p:strVal val="visible"/>
                                      </p:to>
                                    </p:set>
                                    <p:anim calcmode="lin" valueType="num">
                                      <p:cBhvr>
                                        <p:cTn id="38" dur="600" decel="100000" fill="hold"/>
                                        <p:tgtEl>
                                          <p:spTgt spid="16"/>
                                        </p:tgtEl>
                                        <p:attrNameLst>
                                          <p:attrName>ppt_w</p:attrName>
                                        </p:attrNameLst>
                                      </p:cBhvr>
                                      <p:tavLst>
                                        <p:tav tm="0">
                                          <p:val>
                                            <p:strVal val="#ppt_w*0.7"/>
                                          </p:val>
                                        </p:tav>
                                        <p:tav tm="100000">
                                          <p:val>
                                            <p:strVal val="#ppt_w"/>
                                          </p:val>
                                        </p:tav>
                                      </p:tavLst>
                                    </p:anim>
                                    <p:anim calcmode="lin" valueType="num">
                                      <p:cBhvr>
                                        <p:cTn id="39" dur="600" decel="100000" fill="hold"/>
                                        <p:tgtEl>
                                          <p:spTgt spid="16"/>
                                        </p:tgtEl>
                                        <p:attrNameLst>
                                          <p:attrName>ppt_h</p:attrName>
                                        </p:attrNameLst>
                                      </p:cBhvr>
                                      <p:tavLst>
                                        <p:tav tm="0">
                                          <p:val>
                                            <p:strVal val="#ppt_h*0.7"/>
                                          </p:val>
                                        </p:tav>
                                        <p:tav tm="100000">
                                          <p:val>
                                            <p:strVal val="#ppt_h"/>
                                          </p:val>
                                        </p:tav>
                                      </p:tavLst>
                                    </p:anim>
                                    <p:animEffect transition="in" filter="fade">
                                      <p:cBhvr>
                                        <p:cTn id="36" dur="600"/>
                                        <p:tgtEl>
                                          <p:spTgt spid="16"/>
                                        </p:tgtEl>
                                      </p:cBhvr>
                                    </p:animEffect>
                                  </p:childTnLst>
                                </p:cTn>
                              </p:par>
                              <p:par>
                                <p:cTn id="42" presetID="53" presetClass="entr" presetSubtype="16" fill="hold" grpId="0" nodeType="withEffect">
                                  <p:stCondLst>
                                    <p:cond delay="280"/>
                                  </p:stCondLst>
                                  <p:childTnLst>
                                    <p:set>
                                      <p:cBhvr>
                                        <p:cTn id="40" dur="1" fill="hold">
                                          <p:stCondLst>
                                            <p:cond delay="0"/>
                                          </p:stCondLst>
                                        </p:cTn>
                                        <p:tgtEl>
                                          <p:spTgt spid="17"/>
                                        </p:tgtEl>
                                        <p:attrNameLst>
                                          <p:attrName>style.visibility</p:attrName>
                                        </p:attrNameLst>
                                      </p:cBhvr>
                                      <p:to>
                                        <p:strVal val="visible"/>
                                      </p:to>
                                    </p:set>
                                    <p:anim calcmode="lin" valueType="num">
                                      <p:cBhvr>
                                        <p:cTn id="43" dur="600" decel="100000" fill="hold"/>
                                        <p:tgtEl>
                                          <p:spTgt spid="17"/>
                                        </p:tgtEl>
                                        <p:attrNameLst>
                                          <p:attrName>ppt_w</p:attrName>
                                        </p:attrNameLst>
                                      </p:cBhvr>
                                      <p:tavLst>
                                        <p:tav tm="0">
                                          <p:val>
                                            <p:strVal val="#ppt_w*0.7"/>
                                          </p:val>
                                        </p:tav>
                                        <p:tav tm="100000">
                                          <p:val>
                                            <p:strVal val="#ppt_w"/>
                                          </p:val>
                                        </p:tav>
                                      </p:tavLst>
                                    </p:anim>
                                    <p:anim calcmode="lin" valueType="num">
                                      <p:cBhvr>
                                        <p:cTn id="44" dur="600" decel="100000" fill="hold"/>
                                        <p:tgtEl>
                                          <p:spTgt spid="17"/>
                                        </p:tgtEl>
                                        <p:attrNameLst>
                                          <p:attrName>ppt_h</p:attrName>
                                        </p:attrNameLst>
                                      </p:cBhvr>
                                      <p:tavLst>
                                        <p:tav tm="0">
                                          <p:val>
                                            <p:strVal val="#ppt_h*0.7"/>
                                          </p:val>
                                        </p:tav>
                                        <p:tav tm="100000">
                                          <p:val>
                                            <p:strVal val="#ppt_h"/>
                                          </p:val>
                                        </p:tav>
                                      </p:tavLst>
                                    </p:anim>
                                    <p:animEffect transition="in" filter="fade">
                                      <p:cBhvr>
                                        <p:cTn id="41" dur="600"/>
                                        <p:tgtEl>
                                          <p:spTgt spid="17"/>
                                        </p:tgtEl>
                                      </p:cBhvr>
                                    </p:animEffect>
                                  </p:childTnLst>
                                </p:cTn>
                              </p:par>
                              <p:par>
                                <p:cTn id="47" presetID="42" presetClass="entr" presetSubtype="0" fill="hold" grpId="0" nodeType="withEffect">
                                  <p:stCondLst>
                                    <p:cond delay="28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50"/>
                                        <p:tgtEl>
                                          <p:spTgt spid="18"/>
                                        </p:tgtEl>
                                      </p:cBhvr>
                                    </p:animEffect>
                                    <p:anim calcmode="lin" valueType="num">
                                      <p:cBhvr>
                                        <p:cTn id="48" dur="550" decel="100000" fill="hold"/>
                                        <p:tgtEl>
                                          <p:spTgt spid="18"/>
                                        </p:tgtEl>
                                        <p:attrNameLst>
                                          <p:attrName>ppt_x</p:attrName>
                                        </p:attrNameLst>
                                      </p:cBhvr>
                                      <p:tavLst>
                                        <p:tav tm="0">
                                          <p:val>
                                            <p:strVal val="#ppt_x"/>
                                          </p:val>
                                        </p:tav>
                                        <p:tav tm="100000">
                                          <p:val>
                                            <p:strVal val="#ppt_x"/>
                                          </p:val>
                                        </p:tav>
                                      </p:tavLst>
                                    </p:anim>
                                    <p:anim calcmode="lin" valueType="num">
                                      <p:cBhvr>
                                        <p:cTn id="49" dur="550" decel="100000" fill="hold"/>
                                        <p:tgtEl>
                                          <p:spTgt spid="18"/>
                                        </p:tgtEl>
                                        <p:attrNameLst>
                                          <p:attrName>ppt_y</p:attrName>
                                        </p:attrNameLst>
                                      </p:cBhvr>
                                      <p:tavLst>
                                        <p:tav tm="0">
                                          <p:val>
                                            <p:strVal val="#ppt_y+0.04"/>
                                          </p:val>
                                        </p:tav>
                                        <p:tav tm="100000">
                                          <p:val>
                                            <p:strVal val="#ppt_y"/>
                                          </p:val>
                                        </p:tav>
                                      </p:tavLst>
                                    </p:anim>
                                  </p:childTnLst>
                                </p:cTn>
                              </p:par>
                              <p:par>
                                <p:cTn id="52" presetID="42" presetClass="entr" presetSubtype="0" fill="hold" grpId="0" nodeType="withEffect">
                                  <p:stCondLst>
                                    <p:cond delay="28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50"/>
                                        <p:tgtEl>
                                          <p:spTgt spid="19"/>
                                        </p:tgtEl>
                                      </p:cBhvr>
                                    </p:animEffect>
                                    <p:anim calcmode="lin" valueType="num">
                                      <p:cBhvr>
                                        <p:cTn id="53" dur="550" decel="100000" fill="hold"/>
                                        <p:tgtEl>
                                          <p:spTgt spid="19"/>
                                        </p:tgtEl>
                                        <p:attrNameLst>
                                          <p:attrName>ppt_x</p:attrName>
                                        </p:attrNameLst>
                                      </p:cBhvr>
                                      <p:tavLst>
                                        <p:tav tm="0">
                                          <p:val>
                                            <p:strVal val="#ppt_x"/>
                                          </p:val>
                                        </p:tav>
                                        <p:tav tm="100000">
                                          <p:val>
                                            <p:strVal val="#ppt_x"/>
                                          </p:val>
                                        </p:tav>
                                      </p:tavLst>
                                    </p:anim>
                                    <p:anim calcmode="lin" valueType="num">
                                      <p:cBhvr>
                                        <p:cTn id="54" dur="550" decel="100000" fill="hold"/>
                                        <p:tgtEl>
                                          <p:spTgt spid="19"/>
                                        </p:tgtEl>
                                        <p:attrNameLst>
                                          <p:attrName>ppt_y</p:attrName>
                                        </p:attrNameLst>
                                      </p:cBhvr>
                                      <p:tavLst>
                                        <p:tav tm="0">
                                          <p:val>
                                            <p:strVal val="#ppt_y+0.04"/>
                                          </p:val>
                                        </p:tav>
                                        <p:tav tm="100000">
                                          <p:val>
                                            <p:strVal val="#ppt_y"/>
                                          </p:val>
                                        </p:tav>
                                      </p:tavLst>
                                    </p:anim>
                                  </p:childTnLst>
                                </p:cTn>
                              </p:par>
                              <p:par>
                                <p:cTn id="57" presetID="42" presetClass="entr" presetSubtype="0" fill="hold" grpId="0" nodeType="withEffect">
                                  <p:stCondLst>
                                    <p:cond delay="41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50"/>
                                        <p:tgtEl>
                                          <p:spTgt spid="20"/>
                                        </p:tgtEl>
                                      </p:cBhvr>
                                    </p:animEffect>
                                    <p:anim calcmode="lin" valueType="num">
                                      <p:cBhvr>
                                        <p:cTn id="58" dur="550" decel="100000" fill="hold"/>
                                        <p:tgtEl>
                                          <p:spTgt spid="20"/>
                                        </p:tgtEl>
                                        <p:attrNameLst>
                                          <p:attrName>ppt_x</p:attrName>
                                        </p:attrNameLst>
                                      </p:cBhvr>
                                      <p:tavLst>
                                        <p:tav tm="0">
                                          <p:val>
                                            <p:strVal val="#ppt_x"/>
                                          </p:val>
                                        </p:tav>
                                        <p:tav tm="100000">
                                          <p:val>
                                            <p:strVal val="#ppt_x"/>
                                          </p:val>
                                        </p:tav>
                                      </p:tavLst>
                                    </p:anim>
                                    <p:anim calcmode="lin" valueType="num">
                                      <p:cBhvr>
                                        <p:cTn id="59" dur="550" decel="100000" fill="hold"/>
                                        <p:tgtEl>
                                          <p:spTgt spid="20"/>
                                        </p:tgtEl>
                                        <p:attrNameLst>
                                          <p:attrName>ppt_y</p:attrName>
                                        </p:attrNameLst>
                                      </p:cBhvr>
                                      <p:tavLst>
                                        <p:tav tm="0">
                                          <p:val>
                                            <p:strVal val="#ppt_y+0.04"/>
                                          </p:val>
                                        </p:tav>
                                        <p:tav tm="100000">
                                          <p:val>
                                            <p:strVal val="#ppt_y"/>
                                          </p:val>
                                        </p:tav>
                                      </p:tavLst>
                                    </p:anim>
                                  </p:childTnLst>
                                </p:cTn>
                              </p:par>
                              <p:par>
                                <p:cTn id="62" presetID="53" presetClass="entr" presetSubtype="16" fill="hold" grpId="0" nodeType="withEffect">
                                  <p:stCondLst>
                                    <p:cond delay="410"/>
                                  </p:stCondLst>
                                  <p:childTnLst>
                                    <p:set>
                                      <p:cBhvr>
                                        <p:cTn id="60" dur="1" fill="hold">
                                          <p:stCondLst>
                                            <p:cond delay="0"/>
                                          </p:stCondLst>
                                        </p:cTn>
                                        <p:tgtEl>
                                          <p:spTgt spid="21"/>
                                        </p:tgtEl>
                                        <p:attrNameLst>
                                          <p:attrName>style.visibility</p:attrName>
                                        </p:attrNameLst>
                                      </p:cBhvr>
                                      <p:to>
                                        <p:strVal val="visible"/>
                                      </p:to>
                                    </p:set>
                                    <p:anim calcmode="lin" valueType="num">
                                      <p:cBhvr>
                                        <p:cTn id="63" dur="600" decel="100000" fill="hold"/>
                                        <p:tgtEl>
                                          <p:spTgt spid="21"/>
                                        </p:tgtEl>
                                        <p:attrNameLst>
                                          <p:attrName>ppt_w</p:attrName>
                                        </p:attrNameLst>
                                      </p:cBhvr>
                                      <p:tavLst>
                                        <p:tav tm="0">
                                          <p:val>
                                            <p:strVal val="#ppt_w*0.7"/>
                                          </p:val>
                                        </p:tav>
                                        <p:tav tm="100000">
                                          <p:val>
                                            <p:strVal val="#ppt_w"/>
                                          </p:val>
                                        </p:tav>
                                      </p:tavLst>
                                    </p:anim>
                                    <p:anim calcmode="lin" valueType="num">
                                      <p:cBhvr>
                                        <p:cTn id="64" dur="600" decel="100000" fill="hold"/>
                                        <p:tgtEl>
                                          <p:spTgt spid="21"/>
                                        </p:tgtEl>
                                        <p:attrNameLst>
                                          <p:attrName>ppt_h</p:attrName>
                                        </p:attrNameLst>
                                      </p:cBhvr>
                                      <p:tavLst>
                                        <p:tav tm="0">
                                          <p:val>
                                            <p:strVal val="#ppt_h*0.7"/>
                                          </p:val>
                                        </p:tav>
                                        <p:tav tm="100000">
                                          <p:val>
                                            <p:strVal val="#ppt_h"/>
                                          </p:val>
                                        </p:tav>
                                      </p:tavLst>
                                    </p:anim>
                                    <p:animEffect transition="in" filter="fade">
                                      <p:cBhvr>
                                        <p:cTn id="61" dur="600"/>
                                        <p:tgtEl>
                                          <p:spTgt spid="21"/>
                                        </p:tgtEl>
                                      </p:cBhvr>
                                    </p:animEffect>
                                  </p:childTnLst>
                                </p:cTn>
                              </p:par>
                              <p:par>
                                <p:cTn id="67" presetID="53" presetClass="entr" presetSubtype="16" fill="hold" grpId="0" nodeType="withEffect">
                                  <p:stCondLst>
                                    <p:cond delay="410"/>
                                  </p:stCondLst>
                                  <p:childTnLst>
                                    <p:set>
                                      <p:cBhvr>
                                        <p:cTn id="65" dur="1" fill="hold">
                                          <p:stCondLst>
                                            <p:cond delay="0"/>
                                          </p:stCondLst>
                                        </p:cTn>
                                        <p:tgtEl>
                                          <p:spTgt spid="22"/>
                                        </p:tgtEl>
                                        <p:attrNameLst>
                                          <p:attrName>style.visibility</p:attrName>
                                        </p:attrNameLst>
                                      </p:cBhvr>
                                      <p:to>
                                        <p:strVal val="visible"/>
                                      </p:to>
                                    </p:set>
                                    <p:anim calcmode="lin" valueType="num">
                                      <p:cBhvr>
                                        <p:cTn id="68" dur="600" decel="100000" fill="hold"/>
                                        <p:tgtEl>
                                          <p:spTgt spid="22"/>
                                        </p:tgtEl>
                                        <p:attrNameLst>
                                          <p:attrName>ppt_w</p:attrName>
                                        </p:attrNameLst>
                                      </p:cBhvr>
                                      <p:tavLst>
                                        <p:tav tm="0">
                                          <p:val>
                                            <p:strVal val="#ppt_w*0.7"/>
                                          </p:val>
                                        </p:tav>
                                        <p:tav tm="100000">
                                          <p:val>
                                            <p:strVal val="#ppt_w"/>
                                          </p:val>
                                        </p:tav>
                                      </p:tavLst>
                                    </p:anim>
                                    <p:anim calcmode="lin" valueType="num">
                                      <p:cBhvr>
                                        <p:cTn id="69" dur="600" decel="100000" fill="hold"/>
                                        <p:tgtEl>
                                          <p:spTgt spid="22"/>
                                        </p:tgtEl>
                                        <p:attrNameLst>
                                          <p:attrName>ppt_h</p:attrName>
                                        </p:attrNameLst>
                                      </p:cBhvr>
                                      <p:tavLst>
                                        <p:tav tm="0">
                                          <p:val>
                                            <p:strVal val="#ppt_h*0.7"/>
                                          </p:val>
                                        </p:tav>
                                        <p:tav tm="100000">
                                          <p:val>
                                            <p:strVal val="#ppt_h"/>
                                          </p:val>
                                        </p:tav>
                                      </p:tavLst>
                                    </p:anim>
                                    <p:animEffect transition="in" filter="fade">
                                      <p:cBhvr>
                                        <p:cTn id="66" dur="600"/>
                                        <p:tgtEl>
                                          <p:spTgt spid="22"/>
                                        </p:tgtEl>
                                      </p:cBhvr>
                                    </p:animEffect>
                                  </p:childTnLst>
                                </p:cTn>
                              </p:par>
                              <p:par>
                                <p:cTn id="72" presetID="42" presetClass="entr" presetSubtype="0" fill="hold" grpId="0" nodeType="withEffect">
                                  <p:stCondLst>
                                    <p:cond delay="41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50"/>
                                        <p:tgtEl>
                                          <p:spTgt spid="23"/>
                                        </p:tgtEl>
                                      </p:cBhvr>
                                    </p:animEffect>
                                    <p:anim calcmode="lin" valueType="num">
                                      <p:cBhvr>
                                        <p:cTn id="73" dur="550" decel="100000" fill="hold"/>
                                        <p:tgtEl>
                                          <p:spTgt spid="23"/>
                                        </p:tgtEl>
                                        <p:attrNameLst>
                                          <p:attrName>ppt_x</p:attrName>
                                        </p:attrNameLst>
                                      </p:cBhvr>
                                      <p:tavLst>
                                        <p:tav tm="0">
                                          <p:val>
                                            <p:strVal val="#ppt_x"/>
                                          </p:val>
                                        </p:tav>
                                        <p:tav tm="100000">
                                          <p:val>
                                            <p:strVal val="#ppt_x"/>
                                          </p:val>
                                        </p:tav>
                                      </p:tavLst>
                                    </p:anim>
                                    <p:anim calcmode="lin" valueType="num">
                                      <p:cBhvr>
                                        <p:cTn id="74" dur="550" decel="100000" fill="hold"/>
                                        <p:tgtEl>
                                          <p:spTgt spid="23"/>
                                        </p:tgtEl>
                                        <p:attrNameLst>
                                          <p:attrName>ppt_y</p:attrName>
                                        </p:attrNameLst>
                                      </p:cBhvr>
                                      <p:tavLst>
                                        <p:tav tm="0">
                                          <p:val>
                                            <p:strVal val="#ppt_y+0.04"/>
                                          </p:val>
                                        </p:tav>
                                        <p:tav tm="100000">
                                          <p:val>
                                            <p:strVal val="#ppt_y"/>
                                          </p:val>
                                        </p:tav>
                                      </p:tavLst>
                                    </p:anim>
                                  </p:childTnLst>
                                </p:cTn>
                              </p:par>
                              <p:par>
                                <p:cTn id="77" presetID="42" presetClass="entr" presetSubtype="0" fill="hold" grpId="0" nodeType="withEffect">
                                  <p:stCondLst>
                                    <p:cond delay="41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550"/>
                                        <p:tgtEl>
                                          <p:spTgt spid="24"/>
                                        </p:tgtEl>
                                      </p:cBhvr>
                                    </p:animEffect>
                                    <p:anim calcmode="lin" valueType="num">
                                      <p:cBhvr>
                                        <p:cTn id="78" dur="550" decel="100000" fill="hold"/>
                                        <p:tgtEl>
                                          <p:spTgt spid="24"/>
                                        </p:tgtEl>
                                        <p:attrNameLst>
                                          <p:attrName>ppt_x</p:attrName>
                                        </p:attrNameLst>
                                      </p:cBhvr>
                                      <p:tavLst>
                                        <p:tav tm="0">
                                          <p:val>
                                            <p:strVal val="#ppt_x"/>
                                          </p:val>
                                        </p:tav>
                                        <p:tav tm="100000">
                                          <p:val>
                                            <p:strVal val="#ppt_x"/>
                                          </p:val>
                                        </p:tav>
                                      </p:tavLst>
                                    </p:anim>
                                    <p:anim calcmode="lin" valueType="num">
                                      <p:cBhvr>
                                        <p:cTn id="79" dur="550" decel="100000" fill="hold"/>
                                        <p:tgtEl>
                                          <p:spTgt spid="24"/>
                                        </p:tgtEl>
                                        <p:attrNameLst>
                                          <p:attrName>ppt_y</p:attrName>
                                        </p:attrNameLst>
                                      </p:cBhvr>
                                      <p:tavLst>
                                        <p:tav tm="0">
                                          <p:val>
                                            <p:strVal val="#ppt_y+0.04"/>
                                          </p:val>
                                        </p:tav>
                                        <p:tav tm="100000">
                                          <p:val>
                                            <p:strVal val="#ppt_y"/>
                                          </p:val>
                                        </p:tav>
                                      </p:tavLst>
                                    </p:anim>
                                  </p:childTnLst>
                                </p:cTn>
                              </p:par>
                              <p:par>
                                <p:cTn id="82" presetID="42" presetClass="entr" presetSubtype="0" fill="hold" grpId="0" nodeType="withEffect">
                                  <p:stCondLst>
                                    <p:cond delay="54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550"/>
                                        <p:tgtEl>
                                          <p:spTgt spid="25"/>
                                        </p:tgtEl>
                                      </p:cBhvr>
                                    </p:animEffect>
                                    <p:anim calcmode="lin" valueType="num">
                                      <p:cBhvr>
                                        <p:cTn id="83" dur="550" decel="100000" fill="hold"/>
                                        <p:tgtEl>
                                          <p:spTgt spid="25"/>
                                        </p:tgtEl>
                                        <p:attrNameLst>
                                          <p:attrName>ppt_x</p:attrName>
                                        </p:attrNameLst>
                                      </p:cBhvr>
                                      <p:tavLst>
                                        <p:tav tm="0">
                                          <p:val>
                                            <p:strVal val="#ppt_x"/>
                                          </p:val>
                                        </p:tav>
                                        <p:tav tm="100000">
                                          <p:val>
                                            <p:strVal val="#ppt_x"/>
                                          </p:val>
                                        </p:tav>
                                      </p:tavLst>
                                    </p:anim>
                                    <p:anim calcmode="lin" valueType="num">
                                      <p:cBhvr>
                                        <p:cTn id="84" dur="550" decel="100000" fill="hold"/>
                                        <p:tgtEl>
                                          <p:spTgt spid="25"/>
                                        </p:tgtEl>
                                        <p:attrNameLst>
                                          <p:attrName>ppt_y</p:attrName>
                                        </p:attrNameLst>
                                      </p:cBhvr>
                                      <p:tavLst>
                                        <p:tav tm="0">
                                          <p:val>
                                            <p:strVal val="#ppt_y+0.04"/>
                                          </p:val>
                                        </p:tav>
                                        <p:tav tm="100000">
                                          <p:val>
                                            <p:strVal val="#ppt_y"/>
                                          </p:val>
                                        </p:tav>
                                      </p:tavLst>
                                    </p:anim>
                                  </p:childTnLst>
                                </p:cTn>
                              </p:par>
                              <p:par>
                                <p:cTn id="87" presetID="53" presetClass="entr" presetSubtype="16" fill="hold" grpId="0" nodeType="withEffect">
                                  <p:stCondLst>
                                    <p:cond delay="540"/>
                                  </p:stCondLst>
                                  <p:childTnLst>
                                    <p:set>
                                      <p:cBhvr>
                                        <p:cTn id="85" dur="1" fill="hold">
                                          <p:stCondLst>
                                            <p:cond delay="0"/>
                                          </p:stCondLst>
                                        </p:cTn>
                                        <p:tgtEl>
                                          <p:spTgt spid="26"/>
                                        </p:tgtEl>
                                        <p:attrNameLst>
                                          <p:attrName>style.visibility</p:attrName>
                                        </p:attrNameLst>
                                      </p:cBhvr>
                                      <p:to>
                                        <p:strVal val="visible"/>
                                      </p:to>
                                    </p:set>
                                    <p:anim calcmode="lin" valueType="num">
                                      <p:cBhvr>
                                        <p:cTn id="88" dur="600" decel="100000" fill="hold"/>
                                        <p:tgtEl>
                                          <p:spTgt spid="26"/>
                                        </p:tgtEl>
                                        <p:attrNameLst>
                                          <p:attrName>ppt_w</p:attrName>
                                        </p:attrNameLst>
                                      </p:cBhvr>
                                      <p:tavLst>
                                        <p:tav tm="0">
                                          <p:val>
                                            <p:strVal val="#ppt_w*0.7"/>
                                          </p:val>
                                        </p:tav>
                                        <p:tav tm="100000">
                                          <p:val>
                                            <p:strVal val="#ppt_w"/>
                                          </p:val>
                                        </p:tav>
                                      </p:tavLst>
                                    </p:anim>
                                    <p:anim calcmode="lin" valueType="num">
                                      <p:cBhvr>
                                        <p:cTn id="89" dur="600" decel="100000" fill="hold"/>
                                        <p:tgtEl>
                                          <p:spTgt spid="26"/>
                                        </p:tgtEl>
                                        <p:attrNameLst>
                                          <p:attrName>ppt_h</p:attrName>
                                        </p:attrNameLst>
                                      </p:cBhvr>
                                      <p:tavLst>
                                        <p:tav tm="0">
                                          <p:val>
                                            <p:strVal val="#ppt_h*0.7"/>
                                          </p:val>
                                        </p:tav>
                                        <p:tav tm="100000">
                                          <p:val>
                                            <p:strVal val="#ppt_h"/>
                                          </p:val>
                                        </p:tav>
                                      </p:tavLst>
                                    </p:anim>
                                    <p:animEffect transition="in" filter="fade">
                                      <p:cBhvr>
                                        <p:cTn id="86" dur="600"/>
                                        <p:tgtEl>
                                          <p:spTgt spid="26"/>
                                        </p:tgtEl>
                                      </p:cBhvr>
                                    </p:animEffect>
                                  </p:childTnLst>
                                </p:cTn>
                              </p:par>
                              <p:par>
                                <p:cTn id="92" presetID="53" presetClass="entr" presetSubtype="16" fill="hold" grpId="0" nodeType="withEffect">
                                  <p:stCondLst>
                                    <p:cond delay="540"/>
                                  </p:stCondLst>
                                  <p:childTnLst>
                                    <p:set>
                                      <p:cBhvr>
                                        <p:cTn id="90" dur="1" fill="hold">
                                          <p:stCondLst>
                                            <p:cond delay="0"/>
                                          </p:stCondLst>
                                        </p:cTn>
                                        <p:tgtEl>
                                          <p:spTgt spid="27"/>
                                        </p:tgtEl>
                                        <p:attrNameLst>
                                          <p:attrName>style.visibility</p:attrName>
                                        </p:attrNameLst>
                                      </p:cBhvr>
                                      <p:to>
                                        <p:strVal val="visible"/>
                                      </p:to>
                                    </p:set>
                                    <p:anim calcmode="lin" valueType="num">
                                      <p:cBhvr>
                                        <p:cTn id="93" dur="600" decel="100000" fill="hold"/>
                                        <p:tgtEl>
                                          <p:spTgt spid="27"/>
                                        </p:tgtEl>
                                        <p:attrNameLst>
                                          <p:attrName>ppt_w</p:attrName>
                                        </p:attrNameLst>
                                      </p:cBhvr>
                                      <p:tavLst>
                                        <p:tav tm="0">
                                          <p:val>
                                            <p:strVal val="#ppt_w*0.7"/>
                                          </p:val>
                                        </p:tav>
                                        <p:tav tm="100000">
                                          <p:val>
                                            <p:strVal val="#ppt_w"/>
                                          </p:val>
                                        </p:tav>
                                      </p:tavLst>
                                    </p:anim>
                                    <p:anim calcmode="lin" valueType="num">
                                      <p:cBhvr>
                                        <p:cTn id="94" dur="600" decel="100000" fill="hold"/>
                                        <p:tgtEl>
                                          <p:spTgt spid="27"/>
                                        </p:tgtEl>
                                        <p:attrNameLst>
                                          <p:attrName>ppt_h</p:attrName>
                                        </p:attrNameLst>
                                      </p:cBhvr>
                                      <p:tavLst>
                                        <p:tav tm="0">
                                          <p:val>
                                            <p:strVal val="#ppt_h*0.7"/>
                                          </p:val>
                                        </p:tav>
                                        <p:tav tm="100000">
                                          <p:val>
                                            <p:strVal val="#ppt_h"/>
                                          </p:val>
                                        </p:tav>
                                      </p:tavLst>
                                    </p:anim>
                                    <p:animEffect transition="in" filter="fade">
                                      <p:cBhvr>
                                        <p:cTn id="91" dur="600"/>
                                        <p:tgtEl>
                                          <p:spTgt spid="27"/>
                                        </p:tgtEl>
                                      </p:cBhvr>
                                    </p:animEffect>
                                  </p:childTnLst>
                                </p:cTn>
                              </p:par>
                              <p:par>
                                <p:cTn id="97" presetID="42" presetClass="entr" presetSubtype="0" fill="hold" grpId="0" nodeType="withEffect">
                                  <p:stCondLst>
                                    <p:cond delay="54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550"/>
                                        <p:tgtEl>
                                          <p:spTgt spid="28"/>
                                        </p:tgtEl>
                                      </p:cBhvr>
                                    </p:animEffect>
                                    <p:anim calcmode="lin" valueType="num">
                                      <p:cBhvr>
                                        <p:cTn id="98" dur="550" decel="100000" fill="hold"/>
                                        <p:tgtEl>
                                          <p:spTgt spid="28"/>
                                        </p:tgtEl>
                                        <p:attrNameLst>
                                          <p:attrName>ppt_x</p:attrName>
                                        </p:attrNameLst>
                                      </p:cBhvr>
                                      <p:tavLst>
                                        <p:tav tm="0">
                                          <p:val>
                                            <p:strVal val="#ppt_x"/>
                                          </p:val>
                                        </p:tav>
                                        <p:tav tm="100000">
                                          <p:val>
                                            <p:strVal val="#ppt_x"/>
                                          </p:val>
                                        </p:tav>
                                      </p:tavLst>
                                    </p:anim>
                                    <p:anim calcmode="lin" valueType="num">
                                      <p:cBhvr>
                                        <p:cTn id="99" dur="550" decel="100000" fill="hold"/>
                                        <p:tgtEl>
                                          <p:spTgt spid="28"/>
                                        </p:tgtEl>
                                        <p:attrNameLst>
                                          <p:attrName>ppt_y</p:attrName>
                                        </p:attrNameLst>
                                      </p:cBhvr>
                                      <p:tavLst>
                                        <p:tav tm="0">
                                          <p:val>
                                            <p:strVal val="#ppt_y+0.04"/>
                                          </p:val>
                                        </p:tav>
                                        <p:tav tm="100000">
                                          <p:val>
                                            <p:strVal val="#ppt_y"/>
                                          </p:val>
                                        </p:tav>
                                      </p:tavLst>
                                    </p:anim>
                                  </p:childTnLst>
                                </p:cTn>
                              </p:par>
                              <p:par>
                                <p:cTn id="102" presetID="42" presetClass="entr" presetSubtype="0" fill="hold" grpId="0" nodeType="withEffect">
                                  <p:stCondLst>
                                    <p:cond delay="540"/>
                                  </p:stCondLst>
                                  <p:childTnLst>
                                    <p:set>
                                      <p:cBhvr>
                                        <p:cTn id="100" dur="1" fill="hold">
                                          <p:stCondLst>
                                            <p:cond delay="0"/>
                                          </p:stCondLst>
                                        </p:cTn>
                                        <p:tgtEl>
                                          <p:spTgt spid="29"/>
                                        </p:tgtEl>
                                        <p:attrNameLst>
                                          <p:attrName>style.visibility</p:attrName>
                                        </p:attrNameLst>
                                      </p:cBhvr>
                                      <p:to>
                                        <p:strVal val="visible"/>
                                      </p:to>
                                    </p:set>
                                    <p:animEffect transition="in" filter="fade">
                                      <p:cBhvr>
                                        <p:cTn id="101" dur="550"/>
                                        <p:tgtEl>
                                          <p:spTgt spid="29"/>
                                        </p:tgtEl>
                                      </p:cBhvr>
                                    </p:animEffect>
                                    <p:anim calcmode="lin" valueType="num">
                                      <p:cBhvr>
                                        <p:cTn id="103" dur="550" decel="100000" fill="hold"/>
                                        <p:tgtEl>
                                          <p:spTgt spid="29"/>
                                        </p:tgtEl>
                                        <p:attrNameLst>
                                          <p:attrName>ppt_x</p:attrName>
                                        </p:attrNameLst>
                                      </p:cBhvr>
                                      <p:tavLst>
                                        <p:tav tm="0">
                                          <p:val>
                                            <p:strVal val="#ppt_x"/>
                                          </p:val>
                                        </p:tav>
                                        <p:tav tm="100000">
                                          <p:val>
                                            <p:strVal val="#ppt_x"/>
                                          </p:val>
                                        </p:tav>
                                      </p:tavLst>
                                    </p:anim>
                                    <p:anim calcmode="lin" valueType="num">
                                      <p:cBhvr>
                                        <p:cTn id="104" dur="550" decel="100000" fill="hold"/>
                                        <p:tgtEl>
                                          <p:spTgt spid="29"/>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Lst>
  </p:timing>
</p:sld>
</file>

<file path=ppt/slides/slide13.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13">
    <p:bg>
      <p:bgPr>
        <a:solidFill>
          <a:srgbClr val="0A0405"/>
        </a:solidFill>
      </p:bgPr>
    </p:bg>
    <p:spTree>
      <p:nvGrpSpPr>
        <p:cNvPr id="1" name=""/>
        <p:cNvGrpSpPr/>
        <p:nvPr/>
      </p:nvGrpSpPr>
      <p:grpSpPr>
        <a:xfrm>
          <a:off x="0" y="0"/>
          <a:ext cx="0" cy="0"/>
          <a:chOff x="0" y="0"/>
          <a:chExt cx="0" cy="0"/>
        </a:xfrm>
      </p:grpSpPr>
      <p:pic>
        <p:nvPicPr>
          <p:cNvPr id="2" name="!!bg" descr="Sweet wormwood, cinchona bark and tablets">    </p:cNvPr>
          <p:cNvPicPr>
            <a:picLocks noChangeAspect="1"/>
          </p:cNvPicPr>
          <p:nvPr/>
        </p:nvPicPr>
        <p:blipFill>
          <a:blip r:embed="rId1"/>
          <a:stretch>
            <a:fillRect/>
          </a:stretch>
        </p:blipFill>
        <p:spPr>
          <a:xfrm>
            <a:off x="0" y="0"/>
            <a:ext cx="12191695" cy="6858000"/>
          </a:xfrm>
          <a:prstGeom prst="rect">
            <a:avLst/>
          </a:prstGeom>
        </p:spPr>
      </p:pic>
      <p:pic>
        <p:nvPicPr>
          <p:cNvPr id="3" name="!!shade" descr="/home/user/mdist-tracker/presentations/malaria/build/shade_L.png">    </p:cNvPr>
          <p:cNvPicPr>
            <a:picLocks noChangeAspect="1"/>
          </p:cNvPicPr>
          <p:nvPr/>
        </p:nvPicPr>
        <p:blipFill>
          <a:blip r:embed="rId2"/>
          <a:stretch>
            <a:fillRect/>
          </a:stretch>
        </p:blipFill>
        <p:spPr>
          <a:xfrm>
            <a:off x="0" y="0"/>
            <a:ext cx="12191695" cy="6858000"/>
          </a:xfrm>
          <a:prstGeom prst="rect">
            <a:avLst/>
          </a:prstGeom>
        </p:spPr>
      </p:pic>
      <p:sp>
        <p:nvSpPr>
          <p:cNvPr id="4" name="!!pill"/>
          <p:cNvSpPr/>
          <p:nvPr/>
        </p:nvSpPr>
        <p:spPr>
          <a:xfrm>
            <a:off x="548640" y="411480"/>
            <a:ext cx="2168957" cy="274320"/>
          </a:xfrm>
          <a:prstGeom prst="roundRect">
            <a:avLst>
              <a:gd name="adj" fmla="val 50000"/>
            </a:avLst>
          </a:prstGeom>
          <a:solidFill>
            <a:srgbClr val="0A0405">
              <a:alpha val="65000"/>
            </a:srgbClr>
          </a:solidFill>
          <a:ln w="9525">
            <a:solidFill>
              <a:srgbClr val="7A3038"/>
            </a:solidFill>
            <a:prstDash val="solid"/>
          </a:ln>
        </p:spPr>
      </p:sp>
      <p:sp>
        <p:nvSpPr>
          <p:cNvPr id="5" name="!!pilltext"/>
          <p:cNvSpPr txBox="1"/>
          <p:nvPr/>
        </p:nvSpPr>
        <p:spPr>
          <a:xfrm>
            <a:off x="548640" y="411480"/>
            <a:ext cx="2168957" cy="274320"/>
          </a:xfrm>
          <a:prstGeom prst="rect">
            <a:avLst/>
          </a:prstGeom>
          <a:noFill/>
          <a:ln/>
        </p:spPr>
        <p:txBody>
          <a:bodyPr wrap="square" lIns="0" tIns="0" rIns="0" bIns="0" rtlCol="0" anchor="ctr"/>
          <a:lstStyle/>
          <a:p>
            <a:pPr algn="ctr" indent="0" marL="0">
              <a:buNone/>
            </a:pPr>
            <a:r>
              <a:rPr lang="en-US" sz="1000" b="1" spc="150" kern="0" dirty="0">
                <a:solidFill>
                  <a:srgbClr val="C9B2AE"/>
                </a:solidFill>
                <a:latin typeface="Arial" pitchFamily="34" charset="0"/>
                <a:ea typeface="Arial" pitchFamily="34" charset="-122"/>
                <a:cs typeface="Arial" pitchFamily="34" charset="-120"/>
              </a:rPr>
              <a:t>04 · FIGHTING BACK</a:t>
            </a:r>
            <a:endParaRPr lang="en-US" sz="1000" dirty="0"/>
          </a:p>
        </p:txBody>
      </p:sp>
      <p:pic>
        <p:nvPicPr>
          <p:cNvPr id="6" name="!!title" descr="Treatment">    </p:cNvPr>
          <p:cNvPicPr>
            <a:picLocks noChangeAspect="1"/>
          </p:cNvPicPr>
          <p:nvPr/>
        </p:nvPicPr>
        <p:blipFill>
          <a:blip r:embed="rId3"/>
          <a:stretch>
            <a:fillRect/>
          </a:stretch>
        </p:blipFill>
        <p:spPr>
          <a:xfrm>
            <a:off x="521208" y="822960"/>
            <a:ext cx="3849737" cy="530721"/>
          </a:xfrm>
          <a:prstGeom prst="rect">
            <a:avLst/>
          </a:prstGeom>
        </p:spPr>
      </p:pic>
      <p:pic>
        <p:nvPicPr>
          <p:cNvPr id="7" name="!!crest" descr="MDIS Tashkent crest">    </p:cNvPr>
          <p:cNvPicPr>
            <a:picLocks noChangeAspect="1"/>
          </p:cNvPicPr>
          <p:nvPr/>
        </p:nvPicPr>
        <p:blipFill>
          <a:blip r:embed="rId4"/>
          <a:stretch>
            <a:fillRect/>
          </a:stretch>
        </p:blipFill>
        <p:spPr>
          <a:xfrm>
            <a:off x="11249708" y="384048"/>
            <a:ext cx="393347" cy="384048"/>
          </a:xfrm>
          <a:prstGeom prst="rect">
            <a:avLst/>
          </a:prstGeom>
        </p:spPr>
      </p:pic>
      <p:sp>
        <p:nvSpPr>
          <p:cNvPr id="8" name="Text 2"/>
          <p:cNvSpPr txBox="1"/>
          <p:nvPr/>
        </p:nvSpPr>
        <p:spPr>
          <a:xfrm>
            <a:off x="548640" y="6382512"/>
            <a:ext cx="7863840" cy="256032"/>
          </a:xfrm>
          <a:prstGeom prst="rect">
            <a:avLst/>
          </a:prstGeom>
          <a:noFill/>
          <a:ln/>
        </p:spPr>
        <p:txBody>
          <a:bodyPr wrap="square" lIns="0" tIns="0" rIns="0" bIns="0" rtlCol="0" anchor="ctr"/>
          <a:lstStyle/>
          <a:p>
            <a:pPr indent="0" marL="0">
              <a:buNone/>
            </a:pPr>
            <a:r>
              <a:rPr lang="en-US" sz="1000" dirty="0">
                <a:solidFill>
                  <a:srgbClr val="9C8380"/>
                </a:solidFill>
                <a:latin typeface="Arial" pitchFamily="34" charset="0"/>
                <a:ea typeface="Arial" pitchFamily="34" charset="-122"/>
                <a:cs typeface="Arial" pitchFamily="34" charset="-120"/>
              </a:rPr>
              <a:t>Source: Achan et al. (2011); World Health Organization (2015; 2025b); Nobel Prize Outreach (2026)</a:t>
            </a:r>
            <a:endParaRPr lang="en-US" sz="1000" dirty="0"/>
          </a:p>
        </p:txBody>
      </p:sp>
      <p:sp>
        <p:nvSpPr>
          <p:cNvPr id="9" name="Text 3"/>
          <p:cNvSpPr txBox="1"/>
          <p:nvPr/>
        </p:nvSpPr>
        <p:spPr>
          <a:xfrm>
            <a:off x="7802575" y="6382512"/>
            <a:ext cx="3840480" cy="256032"/>
          </a:xfrm>
          <a:prstGeom prst="rect">
            <a:avLst/>
          </a:prstGeom>
          <a:noFill/>
          <a:ln/>
        </p:spPr>
        <p:txBody>
          <a:bodyPr wrap="square" lIns="0" tIns="0" rIns="0" bIns="0" rtlCol="0" anchor="ctr"/>
          <a:lstStyle/>
          <a:p>
            <a:pPr algn="r" indent="0" marL="0">
              <a:buNone/>
            </a:pPr>
            <a:r>
              <a:rPr lang="en-US" sz="1000" b="1" spc="100" kern="0" dirty="0">
                <a:solidFill>
                  <a:srgbClr val="C9B2AE"/>
                </a:solidFill>
                <a:latin typeface="Arial" pitchFamily="34" charset="0"/>
                <a:ea typeface="Arial" pitchFamily="34" charset="-122"/>
                <a:cs typeface="Arial" pitchFamily="34" charset="-120"/>
              </a:rPr>
              <a:t>AKMALBEK ABDURAIMOV   ·   13 / 16</a:t>
            </a:r>
            <a:endParaRPr lang="en-US" sz="1000" dirty="0"/>
          </a:p>
        </p:txBody>
      </p:sp>
      <p:sp>
        <p:nvSpPr>
          <p:cNvPr id="10" name="fx:1:up:test"/>
          <p:cNvSpPr/>
          <p:nvPr/>
        </p:nvSpPr>
        <p:spPr>
          <a:xfrm>
            <a:off x="548640" y="1783080"/>
            <a:ext cx="6172200" cy="640080"/>
          </a:xfrm>
          <a:prstGeom prst="roundRect">
            <a:avLst>
              <a:gd name="adj" fmla="val 12857"/>
            </a:avLst>
          </a:prstGeom>
          <a:solidFill>
            <a:srgbClr val="1C080B">
              <a:alpha val="78000"/>
            </a:srgbClr>
          </a:solidFill>
          <a:ln w="9525">
            <a:solidFill>
              <a:srgbClr val="E5333D"/>
            </a:solidFill>
            <a:prstDash val="solid"/>
          </a:ln>
        </p:spPr>
      </p:sp>
      <p:sp>
        <p:nvSpPr>
          <p:cNvPr id="11" name="fx:1:zoom:test:icon"/>
          <p:cNvSpPr/>
          <p:nvPr/>
        </p:nvSpPr>
        <p:spPr>
          <a:xfrm>
            <a:off x="694944" y="1856232"/>
            <a:ext cx="493776" cy="493776"/>
          </a:xfrm>
          <a:prstGeom prst="ellipse">
            <a:avLst/>
          </a:prstGeom>
          <a:solidFill>
            <a:srgbClr val="B01C2C"/>
          </a:solidFill>
          <a:ln w="9525">
            <a:solidFill>
              <a:srgbClr val="E7626B"/>
            </a:solidFill>
            <a:prstDash val="solid"/>
          </a:ln>
        </p:spPr>
      </p:sp>
      <p:pic>
        <p:nvPicPr>
          <p:cNvPr id="12" name="fx:1:zoom:test:iconimg" descr="test">    </p:cNvPr>
          <p:cNvPicPr>
            <a:picLocks noChangeAspect="1"/>
          </p:cNvPicPr>
          <p:nvPr/>
        </p:nvPicPr>
        <p:blipFill>
          <a:blip r:embed="rId5"/>
          <a:stretch>
            <a:fillRect/>
          </a:stretch>
        </p:blipFill>
        <p:spPr>
          <a:xfrm>
            <a:off x="803575" y="1964863"/>
            <a:ext cx="276515" cy="276515"/>
          </a:xfrm>
          <a:prstGeom prst="rect">
            <a:avLst/>
          </a:prstGeom>
        </p:spPr>
      </p:pic>
      <p:sp>
        <p:nvSpPr>
          <p:cNvPr id="13" name="fx:1:up:testt"/>
          <p:cNvSpPr txBox="1"/>
          <p:nvPr/>
        </p:nvSpPr>
        <p:spPr>
          <a:xfrm>
            <a:off x="1371600" y="1892808"/>
            <a:ext cx="5212080" cy="420624"/>
          </a:xfrm>
          <a:prstGeom prst="rect">
            <a:avLst/>
          </a:prstGeom>
          <a:noFill/>
          <a:ln/>
        </p:spPr>
        <p:txBody>
          <a:bodyPr wrap="square" lIns="0" tIns="0" rIns="0" bIns="0" rtlCol="0" anchor="ctr"/>
          <a:lstStyle/>
          <a:p>
            <a:pPr indent="0" marL="0">
              <a:buNone/>
            </a:pPr>
            <a:r>
              <a:rPr lang="en-US" sz="1300" b="1" spc="100" kern="0" dirty="0">
                <a:solidFill>
                  <a:srgbClr val="F4ECE8"/>
                </a:solidFill>
                <a:latin typeface="Arial" pitchFamily="34" charset="0"/>
                <a:ea typeface="Arial" pitchFamily="34" charset="-122"/>
                <a:cs typeface="Arial" pitchFamily="34" charset="-120"/>
              </a:rPr>
              <a:t>STEP 1 · TEST FIRST   </a:t>
            </a:r>
            <a:pPr indent="0" marL="0">
              <a:buNone/>
            </a:pPr>
            <a:r>
              <a:rPr lang="en-US" sz="1300" dirty="0">
                <a:solidFill>
                  <a:srgbClr val="C9B2AE"/>
                </a:solidFill>
                <a:latin typeface="Arial" pitchFamily="34" charset="0"/>
                <a:ea typeface="Arial" pitchFamily="34" charset="-122"/>
                <a:cs typeface="Arial" pitchFamily="34" charset="-120"/>
              </a:rPr>
              <a:t>microscope or rapid diagnostic test</a:t>
            </a:r>
            <a:endParaRPr lang="en-US" sz="1300" dirty="0"/>
          </a:p>
        </p:txBody>
      </p:sp>
      <p:sp>
        <p:nvSpPr>
          <p:cNvPr id="14" name="fx:2:wipe:vline"/>
          <p:cNvSpPr/>
          <p:nvPr/>
        </p:nvSpPr>
        <p:spPr>
          <a:xfrm>
            <a:off x="868680" y="2788920"/>
            <a:ext cx="0" cy="2971800"/>
          </a:xfrm>
          <a:prstGeom prst="line">
            <a:avLst/>
          </a:prstGeom>
          <a:noFill/>
          <a:ln w="12700">
            <a:solidFill>
              <a:srgbClr val="7A3038"/>
            </a:solidFill>
            <a:prstDash val="solid"/>
          </a:ln>
        </p:spPr>
      </p:sp>
      <p:sp>
        <p:nvSpPr>
          <p:cNvPr id="15" name="fx:3:zoom:dot0"/>
          <p:cNvSpPr/>
          <p:nvPr/>
        </p:nvSpPr>
        <p:spPr>
          <a:xfrm>
            <a:off x="795528" y="2816352"/>
            <a:ext cx="146304" cy="146304"/>
          </a:xfrm>
          <a:prstGeom prst="ellipse">
            <a:avLst/>
          </a:prstGeom>
          <a:solidFill>
            <a:srgbClr val="F4ECE8"/>
          </a:solidFill>
          <a:ln w="9525">
            <a:solidFill>
              <a:srgbClr val="E5333D"/>
            </a:solidFill>
            <a:prstDash val="solid"/>
          </a:ln>
        </p:spPr>
      </p:sp>
      <p:pic>
        <p:nvPicPr>
          <p:cNvPr id="16" name="fx:3:up:yr0" descr="1600s">    </p:cNvPr>
          <p:cNvPicPr>
            <a:picLocks noChangeAspect="1"/>
          </p:cNvPicPr>
          <p:nvPr/>
        </p:nvPicPr>
        <p:blipFill>
          <a:blip r:embed="rId6"/>
          <a:stretch>
            <a:fillRect/>
          </a:stretch>
        </p:blipFill>
        <p:spPr>
          <a:xfrm>
            <a:off x="1143000" y="2743200"/>
            <a:ext cx="838498" cy="251371"/>
          </a:xfrm>
          <a:prstGeom prst="rect">
            <a:avLst/>
          </a:prstGeom>
        </p:spPr>
      </p:pic>
      <p:sp>
        <p:nvSpPr>
          <p:cNvPr id="17" name="fx:3:up:t0"/>
          <p:cNvSpPr txBox="1"/>
          <p:nvPr/>
        </p:nvSpPr>
        <p:spPr>
          <a:xfrm>
            <a:off x="2560320" y="2697480"/>
            <a:ext cx="4160520" cy="685800"/>
          </a:xfrm>
          <a:prstGeom prst="rect">
            <a:avLst/>
          </a:prstGeom>
          <a:noFill/>
          <a:ln/>
        </p:spPr>
        <p:txBody>
          <a:bodyPr wrap="square" lIns="0" tIns="0" rIns="0" bIns="0" rtlCol="0" anchor="t"/>
          <a:lstStyle/>
          <a:p>
            <a:pPr indent="0" marL="0">
              <a:buNone/>
            </a:pPr>
            <a:r>
              <a:rPr lang="en-US" sz="1300" dirty="0">
                <a:solidFill>
                  <a:srgbClr val="C9B2AE"/>
                </a:solidFill>
                <a:latin typeface="Arial" pitchFamily="34" charset="0"/>
                <a:ea typeface="Arial" pitchFamily="34" charset="-122"/>
                <a:cs typeface="Arial" pitchFamily="34" charset="-120"/>
              </a:rPr>
              <a:t>Cinchona bark from South America is used against fever.</a:t>
            </a:r>
            <a:endParaRPr lang="en-US" sz="1300" dirty="0"/>
          </a:p>
        </p:txBody>
      </p:sp>
      <p:sp>
        <p:nvSpPr>
          <p:cNvPr id="18" name="fx:4:zoom:dot1"/>
          <p:cNvSpPr/>
          <p:nvPr/>
        </p:nvSpPr>
        <p:spPr>
          <a:xfrm>
            <a:off x="795528" y="3602736"/>
            <a:ext cx="146304" cy="146304"/>
          </a:xfrm>
          <a:prstGeom prst="ellipse">
            <a:avLst/>
          </a:prstGeom>
          <a:solidFill>
            <a:srgbClr val="F4ECE8"/>
          </a:solidFill>
          <a:ln w="9525">
            <a:solidFill>
              <a:srgbClr val="E5333D"/>
            </a:solidFill>
            <a:prstDash val="solid"/>
          </a:ln>
        </p:spPr>
      </p:sp>
      <p:pic>
        <p:nvPicPr>
          <p:cNvPr id="19" name="fx:4:up:yr1" descr="1820">    </p:cNvPr>
          <p:cNvPicPr>
            <a:picLocks noChangeAspect="1"/>
          </p:cNvPicPr>
          <p:nvPr/>
        </p:nvPicPr>
        <p:blipFill>
          <a:blip r:embed="rId7"/>
          <a:stretch>
            <a:fillRect/>
          </a:stretch>
        </p:blipFill>
        <p:spPr>
          <a:xfrm>
            <a:off x="1143000" y="3529584"/>
            <a:ext cx="688925" cy="251371"/>
          </a:xfrm>
          <a:prstGeom prst="rect">
            <a:avLst/>
          </a:prstGeom>
        </p:spPr>
      </p:pic>
      <p:sp>
        <p:nvSpPr>
          <p:cNvPr id="20" name="fx:4:up:t1"/>
          <p:cNvSpPr txBox="1"/>
          <p:nvPr/>
        </p:nvSpPr>
        <p:spPr>
          <a:xfrm>
            <a:off x="2560320" y="3483864"/>
            <a:ext cx="4160520" cy="685800"/>
          </a:xfrm>
          <a:prstGeom prst="rect">
            <a:avLst/>
          </a:prstGeom>
          <a:noFill/>
          <a:ln/>
        </p:spPr>
        <p:txBody>
          <a:bodyPr wrap="square" lIns="0" tIns="0" rIns="0" bIns="0" rtlCol="0" anchor="t"/>
          <a:lstStyle/>
          <a:p>
            <a:pPr indent="0" marL="0">
              <a:buNone/>
            </a:pPr>
            <a:r>
              <a:rPr lang="en-US" sz="1300" dirty="0">
                <a:solidFill>
                  <a:srgbClr val="C9B2AE"/>
                </a:solidFill>
                <a:latin typeface="Arial" pitchFamily="34" charset="0"/>
                <a:ea typeface="Arial" pitchFamily="34" charset="-122"/>
                <a:cs typeface="Arial" pitchFamily="34" charset="-120"/>
              </a:rPr>
              <a:t>Scientists extract quinine from the bark.</a:t>
            </a:r>
            <a:endParaRPr lang="en-US" sz="1300" dirty="0"/>
          </a:p>
        </p:txBody>
      </p:sp>
      <p:sp>
        <p:nvSpPr>
          <p:cNvPr id="21" name="fx:5:zoom:dot2"/>
          <p:cNvSpPr/>
          <p:nvPr/>
        </p:nvSpPr>
        <p:spPr>
          <a:xfrm>
            <a:off x="795528" y="4389120"/>
            <a:ext cx="146304" cy="146304"/>
          </a:xfrm>
          <a:prstGeom prst="ellipse">
            <a:avLst/>
          </a:prstGeom>
          <a:solidFill>
            <a:srgbClr val="F4ECE8"/>
          </a:solidFill>
          <a:ln w="9525">
            <a:solidFill>
              <a:srgbClr val="E5333D"/>
            </a:solidFill>
            <a:prstDash val="solid"/>
          </a:ln>
        </p:spPr>
      </p:sp>
      <p:pic>
        <p:nvPicPr>
          <p:cNvPr id="22" name="fx:5:up:yr2" descr="1970s">    </p:cNvPr>
          <p:cNvPicPr>
            <a:picLocks noChangeAspect="1"/>
          </p:cNvPicPr>
          <p:nvPr/>
        </p:nvPicPr>
        <p:blipFill>
          <a:blip r:embed="rId8"/>
          <a:stretch>
            <a:fillRect/>
          </a:stretch>
        </p:blipFill>
        <p:spPr>
          <a:xfrm>
            <a:off x="1143000" y="4315968"/>
            <a:ext cx="823317" cy="251371"/>
          </a:xfrm>
          <a:prstGeom prst="rect">
            <a:avLst/>
          </a:prstGeom>
        </p:spPr>
      </p:pic>
      <p:sp>
        <p:nvSpPr>
          <p:cNvPr id="23" name="fx:5:up:t2"/>
          <p:cNvSpPr txBox="1"/>
          <p:nvPr/>
        </p:nvSpPr>
        <p:spPr>
          <a:xfrm>
            <a:off x="2560320" y="4270248"/>
            <a:ext cx="4160520" cy="685800"/>
          </a:xfrm>
          <a:prstGeom prst="rect">
            <a:avLst/>
          </a:prstGeom>
          <a:noFill/>
          <a:ln/>
        </p:spPr>
        <p:txBody>
          <a:bodyPr wrap="square" lIns="0" tIns="0" rIns="0" bIns="0" rtlCol="0" anchor="t"/>
          <a:lstStyle/>
          <a:p>
            <a:pPr indent="0" marL="0">
              <a:buNone/>
            </a:pPr>
            <a:r>
              <a:rPr lang="en-US" sz="1300" dirty="0">
                <a:solidFill>
                  <a:srgbClr val="C9B2AE"/>
                </a:solidFill>
                <a:latin typeface="Arial" pitchFamily="34" charset="0"/>
                <a:ea typeface="Arial" pitchFamily="34" charset="-122"/>
                <a:cs typeface="Arial" pitchFamily="34" charset="-120"/>
              </a:rPr>
              <a:t>Tu Youyou finds artemisinin in sweet wormwood. Nobel Prize 2015.</a:t>
            </a:r>
            <a:endParaRPr lang="en-US" sz="1300" dirty="0"/>
          </a:p>
        </p:txBody>
      </p:sp>
      <p:sp>
        <p:nvSpPr>
          <p:cNvPr id="24" name="fx:6:zoom:dot3"/>
          <p:cNvSpPr/>
          <p:nvPr/>
        </p:nvSpPr>
        <p:spPr>
          <a:xfrm>
            <a:off x="795528" y="5175504"/>
            <a:ext cx="146304" cy="146304"/>
          </a:xfrm>
          <a:prstGeom prst="ellipse">
            <a:avLst/>
          </a:prstGeom>
          <a:solidFill>
            <a:srgbClr val="E5333D"/>
          </a:solidFill>
          <a:ln w="9525">
            <a:solidFill>
              <a:srgbClr val="E5333D"/>
            </a:solidFill>
            <a:prstDash val="solid"/>
          </a:ln>
        </p:spPr>
      </p:sp>
      <p:pic>
        <p:nvPicPr>
          <p:cNvPr id="25" name="fx:6:up:yr3" descr="TODAY">    </p:cNvPr>
          <p:cNvPicPr>
            <a:picLocks noChangeAspect="1"/>
          </p:cNvPicPr>
          <p:nvPr/>
        </p:nvPicPr>
        <p:blipFill>
          <a:blip r:embed="rId9"/>
          <a:stretch>
            <a:fillRect/>
          </a:stretch>
        </p:blipFill>
        <p:spPr>
          <a:xfrm>
            <a:off x="1143000" y="5102352"/>
            <a:ext cx="1008013" cy="251371"/>
          </a:xfrm>
          <a:prstGeom prst="rect">
            <a:avLst/>
          </a:prstGeom>
        </p:spPr>
      </p:pic>
      <p:sp>
        <p:nvSpPr>
          <p:cNvPr id="26" name="fx:6:up:t3"/>
          <p:cNvSpPr txBox="1"/>
          <p:nvPr/>
        </p:nvSpPr>
        <p:spPr>
          <a:xfrm>
            <a:off x="2560320" y="5056632"/>
            <a:ext cx="4160520" cy="685800"/>
          </a:xfrm>
          <a:prstGeom prst="rect">
            <a:avLst/>
          </a:prstGeom>
          <a:noFill/>
          <a:ln/>
        </p:spPr>
        <p:txBody>
          <a:bodyPr wrap="square" lIns="0" tIns="0" rIns="0" bIns="0" rtlCol="0" anchor="t"/>
          <a:lstStyle/>
          <a:p>
            <a:pPr indent="0" marL="0">
              <a:buNone/>
            </a:pPr>
            <a:r>
              <a:rPr lang="en-US" sz="1300" dirty="0">
                <a:solidFill>
                  <a:srgbClr val="F4ECE8"/>
                </a:solidFill>
                <a:latin typeface="Arial" pitchFamily="34" charset="0"/>
                <a:ea typeface="Arial" pitchFamily="34" charset="-122"/>
                <a:cs typeface="Arial" pitchFamily="34" charset="-120"/>
              </a:rPr>
              <a:t>ACT: artemisinin-based combination therapy. Severe malaria: artesunate injection.</a:t>
            </a:r>
            <a:endParaRPr lang="en-US" sz="1300" dirty="0"/>
          </a:p>
        </p:txBody>
      </p:sp>
      <p:sp>
        <p:nvSpPr>
          <p:cNvPr id="27" name="fx:7:up:warn"/>
          <p:cNvSpPr/>
          <p:nvPr/>
        </p:nvSpPr>
        <p:spPr>
          <a:xfrm>
            <a:off x="7269480" y="4617720"/>
            <a:ext cx="4373575" cy="1371600"/>
          </a:xfrm>
          <a:prstGeom prst="roundRect">
            <a:avLst>
              <a:gd name="adj" fmla="val 6000"/>
            </a:avLst>
          </a:prstGeom>
          <a:solidFill>
            <a:srgbClr val="1C080B">
              <a:alpha val="90000"/>
            </a:srgbClr>
          </a:solidFill>
          <a:ln w="15875">
            <a:solidFill>
              <a:srgbClr val="E5333D"/>
            </a:solidFill>
            <a:prstDash val="solid"/>
          </a:ln>
        </p:spPr>
      </p:sp>
      <p:sp>
        <p:nvSpPr>
          <p:cNvPr id="28" name="fx:7:zoom:warn:icon"/>
          <p:cNvSpPr/>
          <p:nvPr/>
        </p:nvSpPr>
        <p:spPr>
          <a:xfrm>
            <a:off x="7470648" y="4837176"/>
            <a:ext cx="493776" cy="493776"/>
          </a:xfrm>
          <a:prstGeom prst="ellipse">
            <a:avLst/>
          </a:prstGeom>
          <a:solidFill>
            <a:srgbClr val="B01C2C"/>
          </a:solidFill>
          <a:ln w="9525">
            <a:solidFill>
              <a:srgbClr val="E7626B"/>
            </a:solidFill>
            <a:prstDash val="solid"/>
          </a:ln>
        </p:spPr>
      </p:sp>
      <p:pic>
        <p:nvPicPr>
          <p:cNvPr id="29" name="fx:7:zoom:warn:iconimg" descr="alert">    </p:cNvPr>
          <p:cNvPicPr>
            <a:picLocks noChangeAspect="1"/>
          </p:cNvPicPr>
          <p:nvPr/>
        </p:nvPicPr>
        <p:blipFill>
          <a:blip r:embed="rId10"/>
          <a:stretch>
            <a:fillRect/>
          </a:stretch>
        </p:blipFill>
        <p:spPr>
          <a:xfrm>
            <a:off x="7579279" y="4945807"/>
            <a:ext cx="276515" cy="276515"/>
          </a:xfrm>
          <a:prstGeom prst="rect">
            <a:avLst/>
          </a:prstGeom>
        </p:spPr>
      </p:pic>
      <p:sp>
        <p:nvSpPr>
          <p:cNvPr id="30" name="fx:7:up:wt"/>
          <p:cNvSpPr txBox="1"/>
          <p:nvPr/>
        </p:nvSpPr>
        <p:spPr>
          <a:xfrm>
            <a:off x="8138160" y="4818888"/>
            <a:ext cx="3322015" cy="237744"/>
          </a:xfrm>
          <a:prstGeom prst="rect">
            <a:avLst/>
          </a:prstGeom>
          <a:noFill/>
          <a:ln/>
        </p:spPr>
        <p:txBody>
          <a:bodyPr wrap="square" lIns="0" tIns="0" rIns="0" bIns="0" rtlCol="0" anchor="t"/>
          <a:lstStyle/>
          <a:p>
            <a:pPr indent="0" marL="0">
              <a:buNone/>
            </a:pPr>
            <a:r>
              <a:rPr lang="en-US" sz="1100" b="1" spc="150" kern="0" dirty="0">
                <a:solidFill>
                  <a:srgbClr val="E5333D"/>
                </a:solidFill>
                <a:latin typeface="Arial" pitchFamily="34" charset="0"/>
                <a:ea typeface="Arial" pitchFamily="34" charset="-122"/>
                <a:cs typeface="Arial" pitchFamily="34" charset="-120"/>
              </a:rPr>
              <a:t>NEW THREAT: DRUG RESISTANCE</a:t>
            </a:r>
            <a:endParaRPr lang="en-US" sz="1100" dirty="0"/>
          </a:p>
        </p:txBody>
      </p:sp>
      <p:sp>
        <p:nvSpPr>
          <p:cNvPr id="31" name="fx:7:up:wb"/>
          <p:cNvSpPr txBox="1"/>
          <p:nvPr/>
        </p:nvSpPr>
        <p:spPr>
          <a:xfrm>
            <a:off x="8138160" y="5093208"/>
            <a:ext cx="3322015" cy="777240"/>
          </a:xfrm>
          <a:prstGeom prst="rect">
            <a:avLst/>
          </a:prstGeom>
          <a:noFill/>
          <a:ln/>
        </p:spPr>
        <p:txBody>
          <a:bodyPr wrap="square" lIns="0" tIns="0" rIns="0" bIns="0" rtlCol="0" anchor="t"/>
          <a:lstStyle/>
          <a:p>
            <a:pPr indent="0" marL="0">
              <a:buNone/>
            </a:pPr>
            <a:r>
              <a:rPr lang="en-US" sz="1200" dirty="0">
                <a:solidFill>
                  <a:srgbClr val="F4ECE8"/>
                </a:solidFill>
                <a:latin typeface="Arial" pitchFamily="34" charset="0"/>
                <a:ea typeface="Arial" pitchFamily="34" charset="-122"/>
                <a:cs typeface="Arial" pitchFamily="34" charset="-120"/>
              </a:rPr>
              <a:t>Partial resistance to artemisinin is confirmed in Eritrea, Rwanda, Uganda and Tanzania.</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42" presetClass="entr" presetSubtype="0" fill="hold" grpId="0" nodeType="afterEffect">
                                  <p:stCondLst>
                                    <p:cond delay="15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550"/>
                                        <p:tgtEl>
                                          <p:spTgt spid="10"/>
                                        </p:tgtEl>
                                      </p:cBhvr>
                                    </p:animEffect>
                                    <p:anim calcmode="lin" valueType="num">
                                      <p:cBhvr>
                                        <p:cTn id="8" dur="550" decel="100000" fill="hold"/>
                                        <p:tgtEl>
                                          <p:spTgt spid="10"/>
                                        </p:tgtEl>
                                        <p:attrNameLst>
                                          <p:attrName>ppt_x</p:attrName>
                                        </p:attrNameLst>
                                      </p:cBhvr>
                                      <p:tavLst>
                                        <p:tav tm="0">
                                          <p:val>
                                            <p:strVal val="#ppt_x"/>
                                          </p:val>
                                        </p:tav>
                                        <p:tav tm="100000">
                                          <p:val>
                                            <p:strVal val="#ppt_x"/>
                                          </p:val>
                                        </p:tav>
                                      </p:tavLst>
                                    </p:anim>
                                    <p:anim calcmode="lin" valueType="num">
                                      <p:cBhvr>
                                        <p:cTn id="9" dur="550" decel="100000" fill="hold"/>
                                        <p:tgtEl>
                                          <p:spTgt spid="10"/>
                                        </p:tgtEl>
                                        <p:attrNameLst>
                                          <p:attrName>ppt_y</p:attrName>
                                        </p:attrNameLst>
                                      </p:cBhvr>
                                      <p:tavLst>
                                        <p:tav tm="0">
                                          <p:val>
                                            <p:strVal val="#ppt_y+0.04"/>
                                          </p:val>
                                        </p:tav>
                                        <p:tav tm="100000">
                                          <p:val>
                                            <p:strVal val="#ppt_y"/>
                                          </p:val>
                                        </p:tav>
                                      </p:tavLst>
                                    </p:anim>
                                  </p:childTnLst>
                                </p:cTn>
                              </p:par>
                              <p:par>
                                <p:cTn id="12" presetID="53" presetClass="entr" presetSubtype="16" fill="hold" grpId="0" nodeType="withEffect">
                                  <p:stCondLst>
                                    <p:cond delay="150"/>
                                  </p:stCondLst>
                                  <p:childTnLst>
                                    <p:set>
                                      <p:cBhvr>
                                        <p:cTn id="10" dur="1" fill="hold">
                                          <p:stCondLst>
                                            <p:cond delay="0"/>
                                          </p:stCondLst>
                                        </p:cTn>
                                        <p:tgtEl>
                                          <p:spTgt spid="11"/>
                                        </p:tgtEl>
                                        <p:attrNameLst>
                                          <p:attrName>style.visibility</p:attrName>
                                        </p:attrNameLst>
                                      </p:cBhvr>
                                      <p:to>
                                        <p:strVal val="visible"/>
                                      </p:to>
                                    </p:set>
                                    <p:anim calcmode="lin" valueType="num">
                                      <p:cBhvr>
                                        <p:cTn id="13" dur="600" decel="100000" fill="hold"/>
                                        <p:tgtEl>
                                          <p:spTgt spid="11"/>
                                        </p:tgtEl>
                                        <p:attrNameLst>
                                          <p:attrName>ppt_w</p:attrName>
                                        </p:attrNameLst>
                                      </p:cBhvr>
                                      <p:tavLst>
                                        <p:tav tm="0">
                                          <p:val>
                                            <p:strVal val="#ppt_w*0.7"/>
                                          </p:val>
                                        </p:tav>
                                        <p:tav tm="100000">
                                          <p:val>
                                            <p:strVal val="#ppt_w"/>
                                          </p:val>
                                        </p:tav>
                                      </p:tavLst>
                                    </p:anim>
                                    <p:anim calcmode="lin" valueType="num">
                                      <p:cBhvr>
                                        <p:cTn id="14" dur="600" decel="100000" fill="hold"/>
                                        <p:tgtEl>
                                          <p:spTgt spid="11"/>
                                        </p:tgtEl>
                                        <p:attrNameLst>
                                          <p:attrName>ppt_h</p:attrName>
                                        </p:attrNameLst>
                                      </p:cBhvr>
                                      <p:tavLst>
                                        <p:tav tm="0">
                                          <p:val>
                                            <p:strVal val="#ppt_h*0.7"/>
                                          </p:val>
                                        </p:tav>
                                        <p:tav tm="100000">
                                          <p:val>
                                            <p:strVal val="#ppt_h"/>
                                          </p:val>
                                        </p:tav>
                                      </p:tavLst>
                                    </p:anim>
                                    <p:animEffect transition="in" filter="fade">
                                      <p:cBhvr>
                                        <p:cTn id="11" dur="600"/>
                                        <p:tgtEl>
                                          <p:spTgt spid="11"/>
                                        </p:tgtEl>
                                      </p:cBhvr>
                                    </p:animEffect>
                                  </p:childTnLst>
                                </p:cTn>
                              </p:par>
                              <p:par>
                                <p:cTn id="17" presetID="53" presetClass="entr" presetSubtype="16" fill="hold" grpId="0" nodeType="withEffect">
                                  <p:stCondLst>
                                    <p:cond delay="150"/>
                                  </p:stCondLst>
                                  <p:childTnLst>
                                    <p:set>
                                      <p:cBhvr>
                                        <p:cTn id="15" dur="1" fill="hold">
                                          <p:stCondLst>
                                            <p:cond delay="0"/>
                                          </p:stCondLst>
                                        </p:cTn>
                                        <p:tgtEl>
                                          <p:spTgt spid="12"/>
                                        </p:tgtEl>
                                        <p:attrNameLst>
                                          <p:attrName>style.visibility</p:attrName>
                                        </p:attrNameLst>
                                      </p:cBhvr>
                                      <p:to>
                                        <p:strVal val="visible"/>
                                      </p:to>
                                    </p:set>
                                    <p:anim calcmode="lin" valueType="num">
                                      <p:cBhvr>
                                        <p:cTn id="18" dur="600" decel="100000" fill="hold"/>
                                        <p:tgtEl>
                                          <p:spTgt spid="12"/>
                                        </p:tgtEl>
                                        <p:attrNameLst>
                                          <p:attrName>ppt_w</p:attrName>
                                        </p:attrNameLst>
                                      </p:cBhvr>
                                      <p:tavLst>
                                        <p:tav tm="0">
                                          <p:val>
                                            <p:strVal val="#ppt_w*0.7"/>
                                          </p:val>
                                        </p:tav>
                                        <p:tav tm="100000">
                                          <p:val>
                                            <p:strVal val="#ppt_w"/>
                                          </p:val>
                                        </p:tav>
                                      </p:tavLst>
                                    </p:anim>
                                    <p:anim calcmode="lin" valueType="num">
                                      <p:cBhvr>
                                        <p:cTn id="19" dur="600" decel="100000" fill="hold"/>
                                        <p:tgtEl>
                                          <p:spTgt spid="12"/>
                                        </p:tgtEl>
                                        <p:attrNameLst>
                                          <p:attrName>ppt_h</p:attrName>
                                        </p:attrNameLst>
                                      </p:cBhvr>
                                      <p:tavLst>
                                        <p:tav tm="0">
                                          <p:val>
                                            <p:strVal val="#ppt_h*0.7"/>
                                          </p:val>
                                        </p:tav>
                                        <p:tav tm="100000">
                                          <p:val>
                                            <p:strVal val="#ppt_h"/>
                                          </p:val>
                                        </p:tav>
                                      </p:tavLst>
                                    </p:anim>
                                    <p:animEffect transition="in" filter="fade">
                                      <p:cBhvr>
                                        <p:cTn id="16" dur="600"/>
                                        <p:tgtEl>
                                          <p:spTgt spid="12"/>
                                        </p:tgtEl>
                                      </p:cBhvr>
                                    </p:animEffect>
                                  </p:childTnLst>
                                </p:cTn>
                              </p:par>
                              <p:par>
                                <p:cTn id="22" presetID="42" presetClass="entr" presetSubtype="0" fill="hold" grpId="0" nodeType="withEffect">
                                  <p:stCondLst>
                                    <p:cond delay="15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50"/>
                                        <p:tgtEl>
                                          <p:spTgt spid="13"/>
                                        </p:tgtEl>
                                      </p:cBhvr>
                                    </p:animEffect>
                                    <p:anim calcmode="lin" valueType="num">
                                      <p:cBhvr>
                                        <p:cTn id="23" dur="550" decel="100000" fill="hold"/>
                                        <p:tgtEl>
                                          <p:spTgt spid="13"/>
                                        </p:tgtEl>
                                        <p:attrNameLst>
                                          <p:attrName>ppt_x</p:attrName>
                                        </p:attrNameLst>
                                      </p:cBhvr>
                                      <p:tavLst>
                                        <p:tav tm="0">
                                          <p:val>
                                            <p:strVal val="#ppt_x"/>
                                          </p:val>
                                        </p:tav>
                                        <p:tav tm="100000">
                                          <p:val>
                                            <p:strVal val="#ppt_x"/>
                                          </p:val>
                                        </p:tav>
                                      </p:tavLst>
                                    </p:anim>
                                    <p:anim calcmode="lin" valueType="num">
                                      <p:cBhvr>
                                        <p:cTn id="24" dur="550" decel="100000" fill="hold"/>
                                        <p:tgtEl>
                                          <p:spTgt spid="13"/>
                                        </p:tgtEl>
                                        <p:attrNameLst>
                                          <p:attrName>ppt_y</p:attrName>
                                        </p:attrNameLst>
                                      </p:cBhvr>
                                      <p:tavLst>
                                        <p:tav tm="0">
                                          <p:val>
                                            <p:strVal val="#ppt_y+0.04"/>
                                          </p:val>
                                        </p:tav>
                                        <p:tav tm="100000">
                                          <p:val>
                                            <p:strVal val="#ppt_y"/>
                                          </p:val>
                                        </p:tav>
                                      </p:tavLst>
                                    </p:anim>
                                  </p:childTnLst>
                                </p:cTn>
                              </p:par>
                              <p:par>
                                <p:cTn id="27" presetID="22" presetClass="entr" presetSubtype="8" fill="hold" grpId="0" nodeType="withEffect">
                                  <p:stCondLst>
                                    <p:cond delay="28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8" dur="900"/>
                                        <p:tgtEl>
                                          <p:spTgt spid="14"/>
                                        </p:tgtEl>
                                      </p:cBhvr>
                                    </p:animEffect>
                                  </p:childTnLst>
                                </p:cTn>
                              </p:par>
                              <p:par>
                                <p:cTn id="31" presetID="53" presetClass="entr" presetSubtype="16" fill="hold" grpId="0" nodeType="withEffect">
                                  <p:stCondLst>
                                    <p:cond delay="410"/>
                                  </p:stCondLst>
                                  <p:childTnLst>
                                    <p:set>
                                      <p:cBhvr>
                                        <p:cTn id="29" dur="1" fill="hold">
                                          <p:stCondLst>
                                            <p:cond delay="0"/>
                                          </p:stCondLst>
                                        </p:cTn>
                                        <p:tgtEl>
                                          <p:spTgt spid="15"/>
                                        </p:tgtEl>
                                        <p:attrNameLst>
                                          <p:attrName>style.visibility</p:attrName>
                                        </p:attrNameLst>
                                      </p:cBhvr>
                                      <p:to>
                                        <p:strVal val="visible"/>
                                      </p:to>
                                    </p:set>
                                    <p:anim calcmode="lin" valueType="num">
                                      <p:cBhvr>
                                        <p:cTn id="32" dur="600" decel="100000" fill="hold"/>
                                        <p:tgtEl>
                                          <p:spTgt spid="15"/>
                                        </p:tgtEl>
                                        <p:attrNameLst>
                                          <p:attrName>ppt_w</p:attrName>
                                        </p:attrNameLst>
                                      </p:cBhvr>
                                      <p:tavLst>
                                        <p:tav tm="0">
                                          <p:val>
                                            <p:strVal val="#ppt_w*0.7"/>
                                          </p:val>
                                        </p:tav>
                                        <p:tav tm="100000">
                                          <p:val>
                                            <p:strVal val="#ppt_w"/>
                                          </p:val>
                                        </p:tav>
                                      </p:tavLst>
                                    </p:anim>
                                    <p:anim calcmode="lin" valueType="num">
                                      <p:cBhvr>
                                        <p:cTn id="33" dur="600" decel="100000" fill="hold"/>
                                        <p:tgtEl>
                                          <p:spTgt spid="15"/>
                                        </p:tgtEl>
                                        <p:attrNameLst>
                                          <p:attrName>ppt_h</p:attrName>
                                        </p:attrNameLst>
                                      </p:cBhvr>
                                      <p:tavLst>
                                        <p:tav tm="0">
                                          <p:val>
                                            <p:strVal val="#ppt_h*0.7"/>
                                          </p:val>
                                        </p:tav>
                                        <p:tav tm="100000">
                                          <p:val>
                                            <p:strVal val="#ppt_h"/>
                                          </p:val>
                                        </p:tav>
                                      </p:tavLst>
                                    </p:anim>
                                    <p:animEffect transition="in" filter="fade">
                                      <p:cBhvr>
                                        <p:cTn id="30" dur="600"/>
                                        <p:tgtEl>
                                          <p:spTgt spid="15"/>
                                        </p:tgtEl>
                                      </p:cBhvr>
                                    </p:animEffect>
                                  </p:childTnLst>
                                </p:cTn>
                              </p:par>
                              <p:par>
                                <p:cTn id="36" presetID="42" presetClass="entr" presetSubtype="0" fill="hold" grpId="0" nodeType="withEffect">
                                  <p:stCondLst>
                                    <p:cond delay="41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50"/>
                                        <p:tgtEl>
                                          <p:spTgt spid="16"/>
                                        </p:tgtEl>
                                      </p:cBhvr>
                                    </p:animEffect>
                                    <p:anim calcmode="lin" valueType="num">
                                      <p:cBhvr>
                                        <p:cTn id="37" dur="550" decel="100000" fill="hold"/>
                                        <p:tgtEl>
                                          <p:spTgt spid="16"/>
                                        </p:tgtEl>
                                        <p:attrNameLst>
                                          <p:attrName>ppt_x</p:attrName>
                                        </p:attrNameLst>
                                      </p:cBhvr>
                                      <p:tavLst>
                                        <p:tav tm="0">
                                          <p:val>
                                            <p:strVal val="#ppt_x"/>
                                          </p:val>
                                        </p:tav>
                                        <p:tav tm="100000">
                                          <p:val>
                                            <p:strVal val="#ppt_x"/>
                                          </p:val>
                                        </p:tav>
                                      </p:tavLst>
                                    </p:anim>
                                    <p:anim calcmode="lin" valueType="num">
                                      <p:cBhvr>
                                        <p:cTn id="38" dur="550" decel="100000" fill="hold"/>
                                        <p:tgtEl>
                                          <p:spTgt spid="16"/>
                                        </p:tgtEl>
                                        <p:attrNameLst>
                                          <p:attrName>ppt_y</p:attrName>
                                        </p:attrNameLst>
                                      </p:cBhvr>
                                      <p:tavLst>
                                        <p:tav tm="0">
                                          <p:val>
                                            <p:strVal val="#ppt_y+0.04"/>
                                          </p:val>
                                        </p:tav>
                                        <p:tav tm="100000">
                                          <p:val>
                                            <p:strVal val="#ppt_y"/>
                                          </p:val>
                                        </p:tav>
                                      </p:tavLst>
                                    </p:anim>
                                  </p:childTnLst>
                                </p:cTn>
                              </p:par>
                              <p:par>
                                <p:cTn id="41" presetID="42" presetClass="entr" presetSubtype="0" fill="hold" grpId="0" nodeType="withEffect">
                                  <p:stCondLst>
                                    <p:cond delay="41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50"/>
                                        <p:tgtEl>
                                          <p:spTgt spid="17"/>
                                        </p:tgtEl>
                                      </p:cBhvr>
                                    </p:animEffect>
                                    <p:anim calcmode="lin" valueType="num">
                                      <p:cBhvr>
                                        <p:cTn id="42" dur="550" decel="100000" fill="hold"/>
                                        <p:tgtEl>
                                          <p:spTgt spid="17"/>
                                        </p:tgtEl>
                                        <p:attrNameLst>
                                          <p:attrName>ppt_x</p:attrName>
                                        </p:attrNameLst>
                                      </p:cBhvr>
                                      <p:tavLst>
                                        <p:tav tm="0">
                                          <p:val>
                                            <p:strVal val="#ppt_x"/>
                                          </p:val>
                                        </p:tav>
                                        <p:tav tm="100000">
                                          <p:val>
                                            <p:strVal val="#ppt_x"/>
                                          </p:val>
                                        </p:tav>
                                      </p:tavLst>
                                    </p:anim>
                                    <p:anim calcmode="lin" valueType="num">
                                      <p:cBhvr>
                                        <p:cTn id="43" dur="550" decel="100000" fill="hold"/>
                                        <p:tgtEl>
                                          <p:spTgt spid="17"/>
                                        </p:tgtEl>
                                        <p:attrNameLst>
                                          <p:attrName>ppt_y</p:attrName>
                                        </p:attrNameLst>
                                      </p:cBhvr>
                                      <p:tavLst>
                                        <p:tav tm="0">
                                          <p:val>
                                            <p:strVal val="#ppt_y+0.04"/>
                                          </p:val>
                                        </p:tav>
                                        <p:tav tm="100000">
                                          <p:val>
                                            <p:strVal val="#ppt_y"/>
                                          </p:val>
                                        </p:tav>
                                      </p:tavLst>
                                    </p:anim>
                                  </p:childTnLst>
                                </p:cTn>
                              </p:par>
                              <p:par>
                                <p:cTn id="46" presetID="53" presetClass="entr" presetSubtype="16" fill="hold" grpId="0" nodeType="withEffect">
                                  <p:stCondLst>
                                    <p:cond delay="540"/>
                                  </p:stCondLst>
                                  <p:childTnLst>
                                    <p:set>
                                      <p:cBhvr>
                                        <p:cTn id="44" dur="1" fill="hold">
                                          <p:stCondLst>
                                            <p:cond delay="0"/>
                                          </p:stCondLst>
                                        </p:cTn>
                                        <p:tgtEl>
                                          <p:spTgt spid="18"/>
                                        </p:tgtEl>
                                        <p:attrNameLst>
                                          <p:attrName>style.visibility</p:attrName>
                                        </p:attrNameLst>
                                      </p:cBhvr>
                                      <p:to>
                                        <p:strVal val="visible"/>
                                      </p:to>
                                    </p:set>
                                    <p:anim calcmode="lin" valueType="num">
                                      <p:cBhvr>
                                        <p:cTn id="47" dur="600" decel="100000" fill="hold"/>
                                        <p:tgtEl>
                                          <p:spTgt spid="18"/>
                                        </p:tgtEl>
                                        <p:attrNameLst>
                                          <p:attrName>ppt_w</p:attrName>
                                        </p:attrNameLst>
                                      </p:cBhvr>
                                      <p:tavLst>
                                        <p:tav tm="0">
                                          <p:val>
                                            <p:strVal val="#ppt_w*0.7"/>
                                          </p:val>
                                        </p:tav>
                                        <p:tav tm="100000">
                                          <p:val>
                                            <p:strVal val="#ppt_w"/>
                                          </p:val>
                                        </p:tav>
                                      </p:tavLst>
                                    </p:anim>
                                    <p:anim calcmode="lin" valueType="num">
                                      <p:cBhvr>
                                        <p:cTn id="48" dur="600" decel="100000" fill="hold"/>
                                        <p:tgtEl>
                                          <p:spTgt spid="18"/>
                                        </p:tgtEl>
                                        <p:attrNameLst>
                                          <p:attrName>ppt_h</p:attrName>
                                        </p:attrNameLst>
                                      </p:cBhvr>
                                      <p:tavLst>
                                        <p:tav tm="0">
                                          <p:val>
                                            <p:strVal val="#ppt_h*0.7"/>
                                          </p:val>
                                        </p:tav>
                                        <p:tav tm="100000">
                                          <p:val>
                                            <p:strVal val="#ppt_h"/>
                                          </p:val>
                                        </p:tav>
                                      </p:tavLst>
                                    </p:anim>
                                    <p:animEffect transition="in" filter="fade">
                                      <p:cBhvr>
                                        <p:cTn id="45" dur="600"/>
                                        <p:tgtEl>
                                          <p:spTgt spid="18"/>
                                        </p:tgtEl>
                                      </p:cBhvr>
                                    </p:animEffect>
                                  </p:childTnLst>
                                </p:cTn>
                              </p:par>
                              <p:par>
                                <p:cTn id="51" presetID="42" presetClass="entr" presetSubtype="0" fill="hold" grpId="0" nodeType="withEffect">
                                  <p:stCondLst>
                                    <p:cond delay="54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50"/>
                                        <p:tgtEl>
                                          <p:spTgt spid="19"/>
                                        </p:tgtEl>
                                      </p:cBhvr>
                                    </p:animEffect>
                                    <p:anim calcmode="lin" valueType="num">
                                      <p:cBhvr>
                                        <p:cTn id="52" dur="550" decel="100000" fill="hold"/>
                                        <p:tgtEl>
                                          <p:spTgt spid="19"/>
                                        </p:tgtEl>
                                        <p:attrNameLst>
                                          <p:attrName>ppt_x</p:attrName>
                                        </p:attrNameLst>
                                      </p:cBhvr>
                                      <p:tavLst>
                                        <p:tav tm="0">
                                          <p:val>
                                            <p:strVal val="#ppt_x"/>
                                          </p:val>
                                        </p:tav>
                                        <p:tav tm="100000">
                                          <p:val>
                                            <p:strVal val="#ppt_x"/>
                                          </p:val>
                                        </p:tav>
                                      </p:tavLst>
                                    </p:anim>
                                    <p:anim calcmode="lin" valueType="num">
                                      <p:cBhvr>
                                        <p:cTn id="53" dur="550" decel="100000" fill="hold"/>
                                        <p:tgtEl>
                                          <p:spTgt spid="19"/>
                                        </p:tgtEl>
                                        <p:attrNameLst>
                                          <p:attrName>ppt_y</p:attrName>
                                        </p:attrNameLst>
                                      </p:cBhvr>
                                      <p:tavLst>
                                        <p:tav tm="0">
                                          <p:val>
                                            <p:strVal val="#ppt_y+0.04"/>
                                          </p:val>
                                        </p:tav>
                                        <p:tav tm="100000">
                                          <p:val>
                                            <p:strVal val="#ppt_y"/>
                                          </p:val>
                                        </p:tav>
                                      </p:tavLst>
                                    </p:anim>
                                  </p:childTnLst>
                                </p:cTn>
                              </p:par>
                              <p:par>
                                <p:cTn id="56" presetID="42" presetClass="entr" presetSubtype="0" fill="hold" grpId="0" nodeType="withEffect">
                                  <p:stCondLst>
                                    <p:cond delay="54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50"/>
                                        <p:tgtEl>
                                          <p:spTgt spid="20"/>
                                        </p:tgtEl>
                                      </p:cBhvr>
                                    </p:animEffect>
                                    <p:anim calcmode="lin" valueType="num">
                                      <p:cBhvr>
                                        <p:cTn id="57" dur="550" decel="100000" fill="hold"/>
                                        <p:tgtEl>
                                          <p:spTgt spid="20"/>
                                        </p:tgtEl>
                                        <p:attrNameLst>
                                          <p:attrName>ppt_x</p:attrName>
                                        </p:attrNameLst>
                                      </p:cBhvr>
                                      <p:tavLst>
                                        <p:tav tm="0">
                                          <p:val>
                                            <p:strVal val="#ppt_x"/>
                                          </p:val>
                                        </p:tav>
                                        <p:tav tm="100000">
                                          <p:val>
                                            <p:strVal val="#ppt_x"/>
                                          </p:val>
                                        </p:tav>
                                      </p:tavLst>
                                    </p:anim>
                                    <p:anim calcmode="lin" valueType="num">
                                      <p:cBhvr>
                                        <p:cTn id="58" dur="550" decel="100000" fill="hold"/>
                                        <p:tgtEl>
                                          <p:spTgt spid="20"/>
                                        </p:tgtEl>
                                        <p:attrNameLst>
                                          <p:attrName>ppt_y</p:attrName>
                                        </p:attrNameLst>
                                      </p:cBhvr>
                                      <p:tavLst>
                                        <p:tav tm="0">
                                          <p:val>
                                            <p:strVal val="#ppt_y+0.04"/>
                                          </p:val>
                                        </p:tav>
                                        <p:tav tm="100000">
                                          <p:val>
                                            <p:strVal val="#ppt_y"/>
                                          </p:val>
                                        </p:tav>
                                      </p:tavLst>
                                    </p:anim>
                                  </p:childTnLst>
                                </p:cTn>
                              </p:par>
                              <p:par>
                                <p:cTn id="61" presetID="53" presetClass="entr" presetSubtype="16" fill="hold" grpId="0" nodeType="withEffect">
                                  <p:stCondLst>
                                    <p:cond delay="670"/>
                                  </p:stCondLst>
                                  <p:childTnLst>
                                    <p:set>
                                      <p:cBhvr>
                                        <p:cTn id="59" dur="1" fill="hold">
                                          <p:stCondLst>
                                            <p:cond delay="0"/>
                                          </p:stCondLst>
                                        </p:cTn>
                                        <p:tgtEl>
                                          <p:spTgt spid="21"/>
                                        </p:tgtEl>
                                        <p:attrNameLst>
                                          <p:attrName>style.visibility</p:attrName>
                                        </p:attrNameLst>
                                      </p:cBhvr>
                                      <p:to>
                                        <p:strVal val="visible"/>
                                      </p:to>
                                    </p:set>
                                    <p:anim calcmode="lin" valueType="num">
                                      <p:cBhvr>
                                        <p:cTn id="62" dur="600" decel="100000" fill="hold"/>
                                        <p:tgtEl>
                                          <p:spTgt spid="21"/>
                                        </p:tgtEl>
                                        <p:attrNameLst>
                                          <p:attrName>ppt_w</p:attrName>
                                        </p:attrNameLst>
                                      </p:cBhvr>
                                      <p:tavLst>
                                        <p:tav tm="0">
                                          <p:val>
                                            <p:strVal val="#ppt_w*0.7"/>
                                          </p:val>
                                        </p:tav>
                                        <p:tav tm="100000">
                                          <p:val>
                                            <p:strVal val="#ppt_w"/>
                                          </p:val>
                                        </p:tav>
                                      </p:tavLst>
                                    </p:anim>
                                    <p:anim calcmode="lin" valueType="num">
                                      <p:cBhvr>
                                        <p:cTn id="63" dur="600" decel="100000" fill="hold"/>
                                        <p:tgtEl>
                                          <p:spTgt spid="21"/>
                                        </p:tgtEl>
                                        <p:attrNameLst>
                                          <p:attrName>ppt_h</p:attrName>
                                        </p:attrNameLst>
                                      </p:cBhvr>
                                      <p:tavLst>
                                        <p:tav tm="0">
                                          <p:val>
                                            <p:strVal val="#ppt_h*0.7"/>
                                          </p:val>
                                        </p:tav>
                                        <p:tav tm="100000">
                                          <p:val>
                                            <p:strVal val="#ppt_h"/>
                                          </p:val>
                                        </p:tav>
                                      </p:tavLst>
                                    </p:anim>
                                    <p:animEffect transition="in" filter="fade">
                                      <p:cBhvr>
                                        <p:cTn id="60" dur="600"/>
                                        <p:tgtEl>
                                          <p:spTgt spid="21"/>
                                        </p:tgtEl>
                                      </p:cBhvr>
                                    </p:animEffect>
                                  </p:childTnLst>
                                </p:cTn>
                              </p:par>
                              <p:par>
                                <p:cTn id="66" presetID="42" presetClass="entr" presetSubtype="0" fill="hold" grpId="0" nodeType="withEffect">
                                  <p:stCondLst>
                                    <p:cond delay="67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50"/>
                                        <p:tgtEl>
                                          <p:spTgt spid="22"/>
                                        </p:tgtEl>
                                      </p:cBhvr>
                                    </p:animEffect>
                                    <p:anim calcmode="lin" valueType="num">
                                      <p:cBhvr>
                                        <p:cTn id="67" dur="550" decel="100000" fill="hold"/>
                                        <p:tgtEl>
                                          <p:spTgt spid="22"/>
                                        </p:tgtEl>
                                        <p:attrNameLst>
                                          <p:attrName>ppt_x</p:attrName>
                                        </p:attrNameLst>
                                      </p:cBhvr>
                                      <p:tavLst>
                                        <p:tav tm="0">
                                          <p:val>
                                            <p:strVal val="#ppt_x"/>
                                          </p:val>
                                        </p:tav>
                                        <p:tav tm="100000">
                                          <p:val>
                                            <p:strVal val="#ppt_x"/>
                                          </p:val>
                                        </p:tav>
                                      </p:tavLst>
                                    </p:anim>
                                    <p:anim calcmode="lin" valueType="num">
                                      <p:cBhvr>
                                        <p:cTn id="68" dur="550" decel="100000" fill="hold"/>
                                        <p:tgtEl>
                                          <p:spTgt spid="22"/>
                                        </p:tgtEl>
                                        <p:attrNameLst>
                                          <p:attrName>ppt_y</p:attrName>
                                        </p:attrNameLst>
                                      </p:cBhvr>
                                      <p:tavLst>
                                        <p:tav tm="0">
                                          <p:val>
                                            <p:strVal val="#ppt_y+0.04"/>
                                          </p:val>
                                        </p:tav>
                                        <p:tav tm="100000">
                                          <p:val>
                                            <p:strVal val="#ppt_y"/>
                                          </p:val>
                                        </p:tav>
                                      </p:tavLst>
                                    </p:anim>
                                  </p:childTnLst>
                                </p:cTn>
                              </p:par>
                              <p:par>
                                <p:cTn id="71" presetID="42" presetClass="entr" presetSubtype="0" fill="hold" grpId="0" nodeType="withEffect">
                                  <p:stCondLst>
                                    <p:cond delay="67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50"/>
                                        <p:tgtEl>
                                          <p:spTgt spid="23"/>
                                        </p:tgtEl>
                                      </p:cBhvr>
                                    </p:animEffect>
                                    <p:anim calcmode="lin" valueType="num">
                                      <p:cBhvr>
                                        <p:cTn id="72" dur="550" decel="100000" fill="hold"/>
                                        <p:tgtEl>
                                          <p:spTgt spid="23"/>
                                        </p:tgtEl>
                                        <p:attrNameLst>
                                          <p:attrName>ppt_x</p:attrName>
                                        </p:attrNameLst>
                                      </p:cBhvr>
                                      <p:tavLst>
                                        <p:tav tm="0">
                                          <p:val>
                                            <p:strVal val="#ppt_x"/>
                                          </p:val>
                                        </p:tav>
                                        <p:tav tm="100000">
                                          <p:val>
                                            <p:strVal val="#ppt_x"/>
                                          </p:val>
                                        </p:tav>
                                      </p:tavLst>
                                    </p:anim>
                                    <p:anim calcmode="lin" valueType="num">
                                      <p:cBhvr>
                                        <p:cTn id="73" dur="550" decel="100000" fill="hold"/>
                                        <p:tgtEl>
                                          <p:spTgt spid="23"/>
                                        </p:tgtEl>
                                        <p:attrNameLst>
                                          <p:attrName>ppt_y</p:attrName>
                                        </p:attrNameLst>
                                      </p:cBhvr>
                                      <p:tavLst>
                                        <p:tav tm="0">
                                          <p:val>
                                            <p:strVal val="#ppt_y+0.04"/>
                                          </p:val>
                                        </p:tav>
                                        <p:tav tm="100000">
                                          <p:val>
                                            <p:strVal val="#ppt_y"/>
                                          </p:val>
                                        </p:tav>
                                      </p:tavLst>
                                    </p:anim>
                                  </p:childTnLst>
                                </p:cTn>
                              </p:par>
                              <p:par>
                                <p:cTn id="76" presetID="53" presetClass="entr" presetSubtype="16" fill="hold" grpId="0" nodeType="withEffect">
                                  <p:stCondLst>
                                    <p:cond delay="800"/>
                                  </p:stCondLst>
                                  <p:childTnLst>
                                    <p:set>
                                      <p:cBhvr>
                                        <p:cTn id="74" dur="1" fill="hold">
                                          <p:stCondLst>
                                            <p:cond delay="0"/>
                                          </p:stCondLst>
                                        </p:cTn>
                                        <p:tgtEl>
                                          <p:spTgt spid="24"/>
                                        </p:tgtEl>
                                        <p:attrNameLst>
                                          <p:attrName>style.visibility</p:attrName>
                                        </p:attrNameLst>
                                      </p:cBhvr>
                                      <p:to>
                                        <p:strVal val="visible"/>
                                      </p:to>
                                    </p:set>
                                    <p:anim calcmode="lin" valueType="num">
                                      <p:cBhvr>
                                        <p:cTn id="77" dur="600" decel="100000" fill="hold"/>
                                        <p:tgtEl>
                                          <p:spTgt spid="24"/>
                                        </p:tgtEl>
                                        <p:attrNameLst>
                                          <p:attrName>ppt_w</p:attrName>
                                        </p:attrNameLst>
                                      </p:cBhvr>
                                      <p:tavLst>
                                        <p:tav tm="0">
                                          <p:val>
                                            <p:strVal val="#ppt_w*0.7"/>
                                          </p:val>
                                        </p:tav>
                                        <p:tav tm="100000">
                                          <p:val>
                                            <p:strVal val="#ppt_w"/>
                                          </p:val>
                                        </p:tav>
                                      </p:tavLst>
                                    </p:anim>
                                    <p:anim calcmode="lin" valueType="num">
                                      <p:cBhvr>
                                        <p:cTn id="78" dur="600" decel="100000" fill="hold"/>
                                        <p:tgtEl>
                                          <p:spTgt spid="24"/>
                                        </p:tgtEl>
                                        <p:attrNameLst>
                                          <p:attrName>ppt_h</p:attrName>
                                        </p:attrNameLst>
                                      </p:cBhvr>
                                      <p:tavLst>
                                        <p:tav tm="0">
                                          <p:val>
                                            <p:strVal val="#ppt_h*0.7"/>
                                          </p:val>
                                        </p:tav>
                                        <p:tav tm="100000">
                                          <p:val>
                                            <p:strVal val="#ppt_h"/>
                                          </p:val>
                                        </p:tav>
                                      </p:tavLst>
                                    </p:anim>
                                    <p:animEffect transition="in" filter="fade">
                                      <p:cBhvr>
                                        <p:cTn id="75" dur="600"/>
                                        <p:tgtEl>
                                          <p:spTgt spid="24"/>
                                        </p:tgtEl>
                                      </p:cBhvr>
                                    </p:animEffect>
                                  </p:childTnLst>
                                </p:cTn>
                              </p:par>
                              <p:par>
                                <p:cTn id="81" presetID="42" presetClass="entr" presetSubtype="0" fill="hold" grpId="0" nodeType="withEffect">
                                  <p:stCondLst>
                                    <p:cond delay="80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550"/>
                                        <p:tgtEl>
                                          <p:spTgt spid="25"/>
                                        </p:tgtEl>
                                      </p:cBhvr>
                                    </p:animEffect>
                                    <p:anim calcmode="lin" valueType="num">
                                      <p:cBhvr>
                                        <p:cTn id="82" dur="550" decel="100000" fill="hold"/>
                                        <p:tgtEl>
                                          <p:spTgt spid="25"/>
                                        </p:tgtEl>
                                        <p:attrNameLst>
                                          <p:attrName>ppt_x</p:attrName>
                                        </p:attrNameLst>
                                      </p:cBhvr>
                                      <p:tavLst>
                                        <p:tav tm="0">
                                          <p:val>
                                            <p:strVal val="#ppt_x"/>
                                          </p:val>
                                        </p:tav>
                                        <p:tav tm="100000">
                                          <p:val>
                                            <p:strVal val="#ppt_x"/>
                                          </p:val>
                                        </p:tav>
                                      </p:tavLst>
                                    </p:anim>
                                    <p:anim calcmode="lin" valueType="num">
                                      <p:cBhvr>
                                        <p:cTn id="83" dur="550" decel="100000" fill="hold"/>
                                        <p:tgtEl>
                                          <p:spTgt spid="25"/>
                                        </p:tgtEl>
                                        <p:attrNameLst>
                                          <p:attrName>ppt_y</p:attrName>
                                        </p:attrNameLst>
                                      </p:cBhvr>
                                      <p:tavLst>
                                        <p:tav tm="0">
                                          <p:val>
                                            <p:strVal val="#ppt_y+0.04"/>
                                          </p:val>
                                        </p:tav>
                                        <p:tav tm="100000">
                                          <p:val>
                                            <p:strVal val="#ppt_y"/>
                                          </p:val>
                                        </p:tav>
                                      </p:tavLst>
                                    </p:anim>
                                  </p:childTnLst>
                                </p:cTn>
                              </p:par>
                              <p:par>
                                <p:cTn id="86" presetID="42" presetClass="entr" presetSubtype="0" fill="hold" grpId="0" nodeType="withEffect">
                                  <p:stCondLst>
                                    <p:cond delay="800"/>
                                  </p:stCondLst>
                                  <p:childTnLst>
                                    <p:set>
                                      <p:cBhvr>
                                        <p:cTn id="84" dur="1" fill="hold">
                                          <p:stCondLst>
                                            <p:cond delay="0"/>
                                          </p:stCondLst>
                                        </p:cTn>
                                        <p:tgtEl>
                                          <p:spTgt spid="26"/>
                                        </p:tgtEl>
                                        <p:attrNameLst>
                                          <p:attrName>style.visibility</p:attrName>
                                        </p:attrNameLst>
                                      </p:cBhvr>
                                      <p:to>
                                        <p:strVal val="visible"/>
                                      </p:to>
                                    </p:set>
                                    <p:animEffect transition="in" filter="fade">
                                      <p:cBhvr>
                                        <p:cTn id="85" dur="550"/>
                                        <p:tgtEl>
                                          <p:spTgt spid="26"/>
                                        </p:tgtEl>
                                      </p:cBhvr>
                                    </p:animEffect>
                                    <p:anim calcmode="lin" valueType="num">
                                      <p:cBhvr>
                                        <p:cTn id="87" dur="550" decel="100000" fill="hold"/>
                                        <p:tgtEl>
                                          <p:spTgt spid="26"/>
                                        </p:tgtEl>
                                        <p:attrNameLst>
                                          <p:attrName>ppt_x</p:attrName>
                                        </p:attrNameLst>
                                      </p:cBhvr>
                                      <p:tavLst>
                                        <p:tav tm="0">
                                          <p:val>
                                            <p:strVal val="#ppt_x"/>
                                          </p:val>
                                        </p:tav>
                                        <p:tav tm="100000">
                                          <p:val>
                                            <p:strVal val="#ppt_x"/>
                                          </p:val>
                                        </p:tav>
                                      </p:tavLst>
                                    </p:anim>
                                    <p:anim calcmode="lin" valueType="num">
                                      <p:cBhvr>
                                        <p:cTn id="88" dur="550" decel="100000" fill="hold"/>
                                        <p:tgtEl>
                                          <p:spTgt spid="26"/>
                                        </p:tgtEl>
                                        <p:attrNameLst>
                                          <p:attrName>ppt_y</p:attrName>
                                        </p:attrNameLst>
                                      </p:cBhvr>
                                      <p:tavLst>
                                        <p:tav tm="0">
                                          <p:val>
                                            <p:strVal val="#ppt_y+0.04"/>
                                          </p:val>
                                        </p:tav>
                                        <p:tav tm="100000">
                                          <p:val>
                                            <p:strVal val="#ppt_y"/>
                                          </p:val>
                                        </p:tav>
                                      </p:tavLst>
                                    </p:anim>
                                  </p:childTnLst>
                                </p:cTn>
                              </p:par>
                              <p:par>
                                <p:cTn id="91" presetID="42" presetClass="entr" presetSubtype="0" fill="hold" grpId="0" nodeType="withEffect">
                                  <p:stCondLst>
                                    <p:cond delay="930"/>
                                  </p:stCondLst>
                                  <p:childTnLst>
                                    <p:set>
                                      <p:cBhvr>
                                        <p:cTn id="89" dur="1" fill="hold">
                                          <p:stCondLst>
                                            <p:cond delay="0"/>
                                          </p:stCondLst>
                                        </p:cTn>
                                        <p:tgtEl>
                                          <p:spTgt spid="27"/>
                                        </p:tgtEl>
                                        <p:attrNameLst>
                                          <p:attrName>style.visibility</p:attrName>
                                        </p:attrNameLst>
                                      </p:cBhvr>
                                      <p:to>
                                        <p:strVal val="visible"/>
                                      </p:to>
                                    </p:set>
                                    <p:animEffect transition="in" filter="fade">
                                      <p:cBhvr>
                                        <p:cTn id="90" dur="550"/>
                                        <p:tgtEl>
                                          <p:spTgt spid="27"/>
                                        </p:tgtEl>
                                      </p:cBhvr>
                                    </p:animEffect>
                                    <p:anim calcmode="lin" valueType="num">
                                      <p:cBhvr>
                                        <p:cTn id="92" dur="550" decel="100000" fill="hold"/>
                                        <p:tgtEl>
                                          <p:spTgt spid="27"/>
                                        </p:tgtEl>
                                        <p:attrNameLst>
                                          <p:attrName>ppt_x</p:attrName>
                                        </p:attrNameLst>
                                      </p:cBhvr>
                                      <p:tavLst>
                                        <p:tav tm="0">
                                          <p:val>
                                            <p:strVal val="#ppt_x"/>
                                          </p:val>
                                        </p:tav>
                                        <p:tav tm="100000">
                                          <p:val>
                                            <p:strVal val="#ppt_x"/>
                                          </p:val>
                                        </p:tav>
                                      </p:tavLst>
                                    </p:anim>
                                    <p:anim calcmode="lin" valueType="num">
                                      <p:cBhvr>
                                        <p:cTn id="93" dur="550" decel="100000" fill="hold"/>
                                        <p:tgtEl>
                                          <p:spTgt spid="27"/>
                                        </p:tgtEl>
                                        <p:attrNameLst>
                                          <p:attrName>ppt_y</p:attrName>
                                        </p:attrNameLst>
                                      </p:cBhvr>
                                      <p:tavLst>
                                        <p:tav tm="0">
                                          <p:val>
                                            <p:strVal val="#ppt_y+0.04"/>
                                          </p:val>
                                        </p:tav>
                                        <p:tav tm="100000">
                                          <p:val>
                                            <p:strVal val="#ppt_y"/>
                                          </p:val>
                                        </p:tav>
                                      </p:tavLst>
                                    </p:anim>
                                  </p:childTnLst>
                                </p:cTn>
                              </p:par>
                              <p:par>
                                <p:cTn id="96" presetID="53" presetClass="entr" presetSubtype="16" fill="hold" grpId="0" nodeType="withEffect">
                                  <p:stCondLst>
                                    <p:cond delay="930"/>
                                  </p:stCondLst>
                                  <p:childTnLst>
                                    <p:set>
                                      <p:cBhvr>
                                        <p:cTn id="94" dur="1" fill="hold">
                                          <p:stCondLst>
                                            <p:cond delay="0"/>
                                          </p:stCondLst>
                                        </p:cTn>
                                        <p:tgtEl>
                                          <p:spTgt spid="28"/>
                                        </p:tgtEl>
                                        <p:attrNameLst>
                                          <p:attrName>style.visibility</p:attrName>
                                        </p:attrNameLst>
                                      </p:cBhvr>
                                      <p:to>
                                        <p:strVal val="visible"/>
                                      </p:to>
                                    </p:set>
                                    <p:anim calcmode="lin" valueType="num">
                                      <p:cBhvr>
                                        <p:cTn id="97" dur="600" decel="100000" fill="hold"/>
                                        <p:tgtEl>
                                          <p:spTgt spid="28"/>
                                        </p:tgtEl>
                                        <p:attrNameLst>
                                          <p:attrName>ppt_w</p:attrName>
                                        </p:attrNameLst>
                                      </p:cBhvr>
                                      <p:tavLst>
                                        <p:tav tm="0">
                                          <p:val>
                                            <p:strVal val="#ppt_w*0.7"/>
                                          </p:val>
                                        </p:tav>
                                        <p:tav tm="100000">
                                          <p:val>
                                            <p:strVal val="#ppt_w"/>
                                          </p:val>
                                        </p:tav>
                                      </p:tavLst>
                                    </p:anim>
                                    <p:anim calcmode="lin" valueType="num">
                                      <p:cBhvr>
                                        <p:cTn id="98" dur="600" decel="100000" fill="hold"/>
                                        <p:tgtEl>
                                          <p:spTgt spid="28"/>
                                        </p:tgtEl>
                                        <p:attrNameLst>
                                          <p:attrName>ppt_h</p:attrName>
                                        </p:attrNameLst>
                                      </p:cBhvr>
                                      <p:tavLst>
                                        <p:tav tm="0">
                                          <p:val>
                                            <p:strVal val="#ppt_h*0.7"/>
                                          </p:val>
                                        </p:tav>
                                        <p:tav tm="100000">
                                          <p:val>
                                            <p:strVal val="#ppt_h"/>
                                          </p:val>
                                        </p:tav>
                                      </p:tavLst>
                                    </p:anim>
                                    <p:animEffect transition="in" filter="fade">
                                      <p:cBhvr>
                                        <p:cTn id="95" dur="600"/>
                                        <p:tgtEl>
                                          <p:spTgt spid="28"/>
                                        </p:tgtEl>
                                      </p:cBhvr>
                                    </p:animEffect>
                                  </p:childTnLst>
                                </p:cTn>
                              </p:par>
                              <p:par>
                                <p:cTn id="101" presetID="53" presetClass="entr" presetSubtype="16" fill="hold" grpId="0" nodeType="withEffect">
                                  <p:stCondLst>
                                    <p:cond delay="930"/>
                                  </p:stCondLst>
                                  <p:childTnLst>
                                    <p:set>
                                      <p:cBhvr>
                                        <p:cTn id="99" dur="1" fill="hold">
                                          <p:stCondLst>
                                            <p:cond delay="0"/>
                                          </p:stCondLst>
                                        </p:cTn>
                                        <p:tgtEl>
                                          <p:spTgt spid="29"/>
                                        </p:tgtEl>
                                        <p:attrNameLst>
                                          <p:attrName>style.visibility</p:attrName>
                                        </p:attrNameLst>
                                      </p:cBhvr>
                                      <p:to>
                                        <p:strVal val="visible"/>
                                      </p:to>
                                    </p:set>
                                    <p:anim calcmode="lin" valueType="num">
                                      <p:cBhvr>
                                        <p:cTn id="102" dur="600" decel="100000" fill="hold"/>
                                        <p:tgtEl>
                                          <p:spTgt spid="29"/>
                                        </p:tgtEl>
                                        <p:attrNameLst>
                                          <p:attrName>ppt_w</p:attrName>
                                        </p:attrNameLst>
                                      </p:cBhvr>
                                      <p:tavLst>
                                        <p:tav tm="0">
                                          <p:val>
                                            <p:strVal val="#ppt_w*0.7"/>
                                          </p:val>
                                        </p:tav>
                                        <p:tav tm="100000">
                                          <p:val>
                                            <p:strVal val="#ppt_w"/>
                                          </p:val>
                                        </p:tav>
                                      </p:tavLst>
                                    </p:anim>
                                    <p:anim calcmode="lin" valueType="num">
                                      <p:cBhvr>
                                        <p:cTn id="103" dur="600" decel="100000" fill="hold"/>
                                        <p:tgtEl>
                                          <p:spTgt spid="29"/>
                                        </p:tgtEl>
                                        <p:attrNameLst>
                                          <p:attrName>ppt_h</p:attrName>
                                        </p:attrNameLst>
                                      </p:cBhvr>
                                      <p:tavLst>
                                        <p:tav tm="0">
                                          <p:val>
                                            <p:strVal val="#ppt_h*0.7"/>
                                          </p:val>
                                        </p:tav>
                                        <p:tav tm="100000">
                                          <p:val>
                                            <p:strVal val="#ppt_h"/>
                                          </p:val>
                                        </p:tav>
                                      </p:tavLst>
                                    </p:anim>
                                    <p:animEffect transition="in" filter="fade">
                                      <p:cBhvr>
                                        <p:cTn id="100" dur="600"/>
                                        <p:tgtEl>
                                          <p:spTgt spid="29"/>
                                        </p:tgtEl>
                                      </p:cBhvr>
                                    </p:animEffect>
                                  </p:childTnLst>
                                </p:cTn>
                              </p:par>
                              <p:par>
                                <p:cTn id="106" presetID="42" presetClass="entr" presetSubtype="0" fill="hold" grpId="0" nodeType="withEffect">
                                  <p:stCondLst>
                                    <p:cond delay="930"/>
                                  </p:stCondLst>
                                  <p:childTnLst>
                                    <p:set>
                                      <p:cBhvr>
                                        <p:cTn id="104" dur="1" fill="hold">
                                          <p:stCondLst>
                                            <p:cond delay="0"/>
                                          </p:stCondLst>
                                        </p:cTn>
                                        <p:tgtEl>
                                          <p:spTgt spid="30"/>
                                        </p:tgtEl>
                                        <p:attrNameLst>
                                          <p:attrName>style.visibility</p:attrName>
                                        </p:attrNameLst>
                                      </p:cBhvr>
                                      <p:to>
                                        <p:strVal val="visible"/>
                                      </p:to>
                                    </p:set>
                                    <p:animEffect transition="in" filter="fade">
                                      <p:cBhvr>
                                        <p:cTn id="105" dur="550"/>
                                        <p:tgtEl>
                                          <p:spTgt spid="30"/>
                                        </p:tgtEl>
                                      </p:cBhvr>
                                    </p:animEffect>
                                    <p:anim calcmode="lin" valueType="num">
                                      <p:cBhvr>
                                        <p:cTn id="107" dur="550" decel="100000" fill="hold"/>
                                        <p:tgtEl>
                                          <p:spTgt spid="30"/>
                                        </p:tgtEl>
                                        <p:attrNameLst>
                                          <p:attrName>ppt_x</p:attrName>
                                        </p:attrNameLst>
                                      </p:cBhvr>
                                      <p:tavLst>
                                        <p:tav tm="0">
                                          <p:val>
                                            <p:strVal val="#ppt_x"/>
                                          </p:val>
                                        </p:tav>
                                        <p:tav tm="100000">
                                          <p:val>
                                            <p:strVal val="#ppt_x"/>
                                          </p:val>
                                        </p:tav>
                                      </p:tavLst>
                                    </p:anim>
                                    <p:anim calcmode="lin" valueType="num">
                                      <p:cBhvr>
                                        <p:cTn id="108" dur="550" decel="100000" fill="hold"/>
                                        <p:tgtEl>
                                          <p:spTgt spid="30"/>
                                        </p:tgtEl>
                                        <p:attrNameLst>
                                          <p:attrName>ppt_y</p:attrName>
                                        </p:attrNameLst>
                                      </p:cBhvr>
                                      <p:tavLst>
                                        <p:tav tm="0">
                                          <p:val>
                                            <p:strVal val="#ppt_y+0.04"/>
                                          </p:val>
                                        </p:tav>
                                        <p:tav tm="100000">
                                          <p:val>
                                            <p:strVal val="#ppt_y"/>
                                          </p:val>
                                        </p:tav>
                                      </p:tavLst>
                                    </p:anim>
                                  </p:childTnLst>
                                </p:cTn>
                              </p:par>
                              <p:par>
                                <p:cTn id="111" presetID="42" presetClass="entr" presetSubtype="0" fill="hold" grpId="0" nodeType="withEffect">
                                  <p:stCondLst>
                                    <p:cond delay="930"/>
                                  </p:stCondLst>
                                  <p:childTnLst>
                                    <p:set>
                                      <p:cBhvr>
                                        <p:cTn id="109" dur="1" fill="hold">
                                          <p:stCondLst>
                                            <p:cond delay="0"/>
                                          </p:stCondLst>
                                        </p:cTn>
                                        <p:tgtEl>
                                          <p:spTgt spid="31"/>
                                        </p:tgtEl>
                                        <p:attrNameLst>
                                          <p:attrName>style.visibility</p:attrName>
                                        </p:attrNameLst>
                                      </p:cBhvr>
                                      <p:to>
                                        <p:strVal val="visible"/>
                                      </p:to>
                                    </p:set>
                                    <p:animEffect transition="in" filter="fade">
                                      <p:cBhvr>
                                        <p:cTn id="110" dur="550"/>
                                        <p:tgtEl>
                                          <p:spTgt spid="31"/>
                                        </p:tgtEl>
                                      </p:cBhvr>
                                    </p:animEffect>
                                    <p:anim calcmode="lin" valueType="num">
                                      <p:cBhvr>
                                        <p:cTn id="112" dur="550" decel="100000" fill="hold"/>
                                        <p:tgtEl>
                                          <p:spTgt spid="31"/>
                                        </p:tgtEl>
                                        <p:attrNameLst>
                                          <p:attrName>ppt_x</p:attrName>
                                        </p:attrNameLst>
                                      </p:cBhvr>
                                      <p:tavLst>
                                        <p:tav tm="0">
                                          <p:val>
                                            <p:strVal val="#ppt_x"/>
                                          </p:val>
                                        </p:tav>
                                        <p:tav tm="100000">
                                          <p:val>
                                            <p:strVal val="#ppt_x"/>
                                          </p:val>
                                        </p:tav>
                                      </p:tavLst>
                                    </p:anim>
                                    <p:anim calcmode="lin" valueType="num">
                                      <p:cBhvr>
                                        <p:cTn id="113" dur="550" decel="100000" fill="hold"/>
                                        <p:tgtEl>
                                          <p:spTgt spid="31"/>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5" grpId="0" animBg="1"/>
      <p:bldP spid="17" grpId="0" animBg="1"/>
      <p:bldP spid="18" grpId="0" animBg="1"/>
      <p:bldP spid="20" grpId="0" animBg="1"/>
      <p:bldP spid="21" grpId="0" animBg="1"/>
      <p:bldP spid="23" grpId="0" animBg="1"/>
      <p:bldP spid="24" grpId="0" animBg="1"/>
      <p:bldP spid="26" grpId="0" animBg="1"/>
      <p:bldP spid="27" grpId="0" animBg="1"/>
      <p:bldP spid="28" grpId="0" animBg="1"/>
      <p:bldP spid="30" grpId="0" animBg="1"/>
      <p:bldP spid="31" grpId="0" animBg="1"/>
    </p:bldLst>
  </p:timing>
</p:sld>
</file>

<file path=ppt/slides/slide14.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14">
    <p:bg>
      <p:bgPr>
        <a:solidFill>
          <a:srgbClr val="0A0405"/>
        </a:solidFill>
      </p:bgPr>
    </p:bg>
    <p:spTree>
      <p:nvGrpSpPr>
        <p:cNvPr id="1" name=""/>
        <p:cNvGrpSpPr/>
        <p:nvPr/>
      </p:nvGrpSpPr>
      <p:grpSpPr>
        <a:xfrm>
          <a:off x="0" y="0"/>
          <a:ext cx="0" cy="0"/>
          <a:chOff x="0" y="0"/>
          <a:chExt cx="0" cy="0"/>
        </a:xfrm>
      </p:grpSpPr>
      <p:pic>
        <p:nvPicPr>
          <p:cNvPr id="2" name="!!bg" descr="African savanna at dawn">    </p:cNvPr>
          <p:cNvPicPr>
            <a:picLocks noChangeAspect="1"/>
          </p:cNvPicPr>
          <p:nvPr/>
        </p:nvPicPr>
        <p:blipFill>
          <a:blip r:embed="rId1"/>
          <a:stretch>
            <a:fillRect/>
          </a:stretch>
        </p:blipFill>
        <p:spPr>
          <a:xfrm>
            <a:off x="0" y="0"/>
            <a:ext cx="12191695" cy="6858000"/>
          </a:xfrm>
          <a:prstGeom prst="rect">
            <a:avLst/>
          </a:prstGeom>
        </p:spPr>
      </p:pic>
      <p:pic>
        <p:nvPicPr>
          <p:cNvPr id="3" name="!!shade" descr="/home/user/mdist-tracker/presentations/malaria/build/shade_L.png">    </p:cNvPr>
          <p:cNvPicPr>
            <a:picLocks noChangeAspect="1"/>
          </p:cNvPicPr>
          <p:nvPr/>
        </p:nvPicPr>
        <p:blipFill>
          <a:blip r:embed="rId2"/>
          <a:stretch>
            <a:fillRect/>
          </a:stretch>
        </p:blipFill>
        <p:spPr>
          <a:xfrm>
            <a:off x="0" y="0"/>
            <a:ext cx="12191695" cy="6858000"/>
          </a:xfrm>
          <a:prstGeom prst="rect">
            <a:avLst/>
          </a:prstGeom>
        </p:spPr>
      </p:pic>
      <p:sp>
        <p:nvSpPr>
          <p:cNvPr id="4" name="!!pill"/>
          <p:cNvSpPr/>
          <p:nvPr/>
        </p:nvSpPr>
        <p:spPr>
          <a:xfrm>
            <a:off x="548640" y="411480"/>
            <a:ext cx="1883664" cy="274320"/>
          </a:xfrm>
          <a:prstGeom prst="roundRect">
            <a:avLst>
              <a:gd name="adj" fmla="val 50000"/>
            </a:avLst>
          </a:prstGeom>
          <a:solidFill>
            <a:srgbClr val="0A0405">
              <a:alpha val="65000"/>
            </a:srgbClr>
          </a:solidFill>
          <a:ln w="9525">
            <a:solidFill>
              <a:srgbClr val="7A3038"/>
            </a:solidFill>
            <a:prstDash val="solid"/>
          </a:ln>
        </p:spPr>
      </p:sp>
      <p:sp>
        <p:nvSpPr>
          <p:cNvPr id="5" name="!!pilltext"/>
          <p:cNvSpPr txBox="1"/>
          <p:nvPr/>
        </p:nvSpPr>
        <p:spPr>
          <a:xfrm>
            <a:off x="548640" y="411480"/>
            <a:ext cx="1883664" cy="274320"/>
          </a:xfrm>
          <a:prstGeom prst="rect">
            <a:avLst/>
          </a:prstGeom>
          <a:noFill/>
          <a:ln/>
        </p:spPr>
        <p:txBody>
          <a:bodyPr wrap="square" lIns="0" tIns="0" rIns="0" bIns="0" rtlCol="0" anchor="ctr"/>
          <a:lstStyle/>
          <a:p>
            <a:pPr algn="ctr" indent="0" marL="0">
              <a:buNone/>
            </a:pPr>
            <a:r>
              <a:rPr lang="en-US" sz="1000" b="1" spc="150" kern="0" dirty="0">
                <a:solidFill>
                  <a:srgbClr val="C9B2AE"/>
                </a:solidFill>
                <a:latin typeface="Arial" pitchFamily="34" charset="0"/>
                <a:ea typeface="Arial" pitchFamily="34" charset="-122"/>
                <a:cs typeface="Arial" pitchFamily="34" charset="-120"/>
              </a:rPr>
              <a:t>05 · CONCLUSION</a:t>
            </a:r>
            <a:endParaRPr lang="en-US" sz="1000" dirty="0"/>
          </a:p>
        </p:txBody>
      </p:sp>
      <p:pic>
        <p:nvPicPr>
          <p:cNvPr id="6" name="!!title" descr="Conclusion">    </p:cNvPr>
          <p:cNvPicPr>
            <a:picLocks noChangeAspect="1"/>
          </p:cNvPicPr>
          <p:nvPr/>
        </p:nvPicPr>
        <p:blipFill>
          <a:blip r:embed="rId3"/>
          <a:stretch>
            <a:fillRect/>
          </a:stretch>
        </p:blipFill>
        <p:spPr>
          <a:xfrm>
            <a:off x="521208" y="822960"/>
            <a:ext cx="4199037" cy="530721"/>
          </a:xfrm>
          <a:prstGeom prst="rect">
            <a:avLst/>
          </a:prstGeom>
        </p:spPr>
      </p:pic>
      <p:pic>
        <p:nvPicPr>
          <p:cNvPr id="7" name="!!crest" descr="MDIS Tashkent crest">    </p:cNvPr>
          <p:cNvPicPr>
            <a:picLocks noChangeAspect="1"/>
          </p:cNvPicPr>
          <p:nvPr/>
        </p:nvPicPr>
        <p:blipFill>
          <a:blip r:embed="rId4"/>
          <a:stretch>
            <a:fillRect/>
          </a:stretch>
        </p:blipFill>
        <p:spPr>
          <a:xfrm>
            <a:off x="11249708" y="384048"/>
            <a:ext cx="393347" cy="384048"/>
          </a:xfrm>
          <a:prstGeom prst="rect">
            <a:avLst/>
          </a:prstGeom>
        </p:spPr>
      </p:pic>
      <p:sp>
        <p:nvSpPr>
          <p:cNvPr id="8" name="Text 2"/>
          <p:cNvSpPr txBox="1"/>
          <p:nvPr/>
        </p:nvSpPr>
        <p:spPr>
          <a:xfrm>
            <a:off x="7802575" y="6382512"/>
            <a:ext cx="3840480" cy="256032"/>
          </a:xfrm>
          <a:prstGeom prst="rect">
            <a:avLst/>
          </a:prstGeom>
          <a:noFill/>
          <a:ln/>
        </p:spPr>
        <p:txBody>
          <a:bodyPr wrap="square" lIns="0" tIns="0" rIns="0" bIns="0" rtlCol="0" anchor="ctr"/>
          <a:lstStyle/>
          <a:p>
            <a:pPr algn="r" indent="0" marL="0">
              <a:buNone/>
            </a:pPr>
            <a:r>
              <a:rPr lang="en-US" sz="1000" b="1" spc="100" kern="0" dirty="0">
                <a:solidFill>
                  <a:srgbClr val="C9B2AE"/>
                </a:solidFill>
                <a:latin typeface="Arial" pitchFamily="34" charset="0"/>
                <a:ea typeface="Arial" pitchFamily="34" charset="-122"/>
                <a:cs typeface="Arial" pitchFamily="34" charset="-120"/>
              </a:rPr>
              <a:t>JAVOHIR AZAMOV   ·   14 / 16</a:t>
            </a:r>
            <a:endParaRPr lang="en-US" sz="1000" dirty="0"/>
          </a:p>
        </p:txBody>
      </p:sp>
      <p:sp>
        <p:nvSpPr>
          <p:cNvPr id="9" name="fx:1:up:c0"/>
          <p:cNvSpPr/>
          <p:nvPr/>
        </p:nvSpPr>
        <p:spPr>
          <a:xfrm>
            <a:off x="548640" y="1783080"/>
            <a:ext cx="2633472" cy="2743200"/>
          </a:xfrm>
          <a:prstGeom prst="roundRect">
            <a:avLst>
              <a:gd name="adj" fmla="val 3125"/>
            </a:avLst>
          </a:prstGeom>
          <a:solidFill>
            <a:srgbClr val="1C080B">
              <a:alpha val="78000"/>
            </a:srgbClr>
          </a:solidFill>
          <a:ln w="9525">
            <a:solidFill>
              <a:srgbClr val="7A3038"/>
            </a:solidFill>
            <a:prstDash val="solid"/>
          </a:ln>
        </p:spPr>
      </p:sp>
      <p:pic>
        <p:nvPicPr>
          <p:cNvPr id="10" name="fx:1:up:n0" descr="01">    </p:cNvPr>
          <p:cNvPicPr>
            <a:picLocks noChangeAspect="1"/>
          </p:cNvPicPr>
          <p:nvPr/>
        </p:nvPicPr>
        <p:blipFill>
          <a:blip r:embed="rId5"/>
          <a:stretch>
            <a:fillRect/>
          </a:stretch>
        </p:blipFill>
        <p:spPr>
          <a:xfrm>
            <a:off x="749808" y="2011680"/>
            <a:ext cx="570309" cy="418802"/>
          </a:xfrm>
          <a:prstGeom prst="rect">
            <a:avLst/>
          </a:prstGeom>
        </p:spPr>
      </p:pic>
      <p:sp>
        <p:nvSpPr>
          <p:cNvPr id="11" name="fx:1:up:t0"/>
          <p:cNvSpPr txBox="1"/>
          <p:nvPr/>
        </p:nvSpPr>
        <p:spPr>
          <a:xfrm>
            <a:off x="749808" y="2697480"/>
            <a:ext cx="2231136" cy="1691640"/>
          </a:xfrm>
          <a:prstGeom prst="rect">
            <a:avLst/>
          </a:prstGeom>
          <a:noFill/>
          <a:ln/>
        </p:spPr>
        <p:txBody>
          <a:bodyPr wrap="square" lIns="0" tIns="0" rIns="0" bIns="0" rtlCol="0" anchor="t"/>
          <a:lstStyle/>
          <a:p>
            <a:pPr indent="0" marL="0">
              <a:buNone/>
            </a:pPr>
            <a:r>
              <a:rPr lang="en-US" sz="1400" b="1" dirty="0">
                <a:solidFill>
                  <a:srgbClr val="F4ECE8"/>
                </a:solidFill>
                <a:latin typeface="Arial" pitchFamily="34" charset="0"/>
                <a:ea typeface="Arial" pitchFamily="34" charset="-122"/>
                <a:cs typeface="Arial" pitchFamily="34" charset="-120"/>
              </a:rPr>
              <a:t>A parasite,</a:t>
            </a:r>
            <a:pPr indent="0" marL="0">
              <a:buNone/>
            </a:pPr>
            <a:r>
              <a:rPr lang="en-US" sz="1400" dirty="0">
                <a:solidFill>
                  <a:srgbClr val="C9B2AE"/>
                </a:solidFill>
                <a:latin typeface="Arial" pitchFamily="34" charset="0"/>
                <a:ea typeface="Arial" pitchFamily="34" charset="-122"/>
                <a:cs typeface="Arial" pitchFamily="34" charset="-120"/>
              </a:rPr>
              <a:t> not a virus or a bacterium. Without treatment it can kill within 24 hours.</a:t>
            </a:r>
            <a:endParaRPr lang="en-US" sz="1400" dirty="0"/>
          </a:p>
        </p:txBody>
      </p:sp>
      <p:sp>
        <p:nvSpPr>
          <p:cNvPr id="12" name="fx:2:up:c1"/>
          <p:cNvSpPr/>
          <p:nvPr/>
        </p:nvSpPr>
        <p:spPr>
          <a:xfrm>
            <a:off x="3337560" y="1783080"/>
            <a:ext cx="2633472" cy="2743200"/>
          </a:xfrm>
          <a:prstGeom prst="roundRect">
            <a:avLst>
              <a:gd name="adj" fmla="val 3125"/>
            </a:avLst>
          </a:prstGeom>
          <a:solidFill>
            <a:srgbClr val="1C080B">
              <a:alpha val="78000"/>
            </a:srgbClr>
          </a:solidFill>
          <a:ln w="9525">
            <a:solidFill>
              <a:srgbClr val="7A3038"/>
            </a:solidFill>
            <a:prstDash val="solid"/>
          </a:ln>
        </p:spPr>
      </p:sp>
      <p:pic>
        <p:nvPicPr>
          <p:cNvPr id="13" name="fx:2:up:n1" descr="02">    </p:cNvPr>
          <p:cNvPicPr>
            <a:picLocks noChangeAspect="1"/>
          </p:cNvPicPr>
          <p:nvPr/>
        </p:nvPicPr>
        <p:blipFill>
          <a:blip r:embed="rId6"/>
          <a:stretch>
            <a:fillRect/>
          </a:stretch>
        </p:blipFill>
        <p:spPr>
          <a:xfrm>
            <a:off x="3538728" y="2011680"/>
            <a:ext cx="601861" cy="418802"/>
          </a:xfrm>
          <a:prstGeom prst="rect">
            <a:avLst/>
          </a:prstGeom>
        </p:spPr>
      </p:pic>
      <p:sp>
        <p:nvSpPr>
          <p:cNvPr id="14" name="fx:2:up:t1"/>
          <p:cNvSpPr txBox="1"/>
          <p:nvPr/>
        </p:nvSpPr>
        <p:spPr>
          <a:xfrm>
            <a:off x="3538728" y="2697480"/>
            <a:ext cx="2231136" cy="1691640"/>
          </a:xfrm>
          <a:prstGeom prst="rect">
            <a:avLst/>
          </a:prstGeom>
          <a:noFill/>
          <a:ln/>
        </p:spPr>
        <p:txBody>
          <a:bodyPr wrap="square" lIns="0" tIns="0" rIns="0" bIns="0" rtlCol="0" anchor="t"/>
          <a:lstStyle/>
          <a:p>
            <a:pPr indent="0" marL="0">
              <a:buNone/>
            </a:pPr>
            <a:r>
              <a:rPr lang="en-US" sz="1400" b="1" dirty="0">
                <a:solidFill>
                  <a:srgbClr val="F4ECE8"/>
                </a:solidFill>
                <a:latin typeface="Arial" pitchFamily="34" charset="0"/>
                <a:ea typeface="Arial" pitchFamily="34" charset="-122"/>
                <a:cs typeface="Arial" pitchFamily="34" charset="-120"/>
              </a:rPr>
              <a:t>Almost 5,000 years</a:t>
            </a:r>
            <a:pPr indent="0" marL="0">
              <a:buNone/>
            </a:pPr>
            <a:r>
              <a:rPr lang="en-US" sz="1400" dirty="0">
                <a:solidFill>
                  <a:srgbClr val="C9B2AE"/>
                </a:solidFill>
                <a:latin typeface="Arial" pitchFamily="34" charset="0"/>
                <a:ea typeface="Arial" pitchFamily="34" charset="-122"/>
                <a:cs typeface="Arial" pitchFamily="34" charset="-120"/>
              </a:rPr>
              <a:t> with humanity, from ancient China to Tutankhamun.</a:t>
            </a:r>
            <a:endParaRPr lang="en-US" sz="1400" dirty="0"/>
          </a:p>
        </p:txBody>
      </p:sp>
      <p:sp>
        <p:nvSpPr>
          <p:cNvPr id="15" name="fx:3:up:c2"/>
          <p:cNvSpPr/>
          <p:nvPr/>
        </p:nvSpPr>
        <p:spPr>
          <a:xfrm>
            <a:off x="6126480" y="1783080"/>
            <a:ext cx="2633472" cy="2743200"/>
          </a:xfrm>
          <a:prstGeom prst="roundRect">
            <a:avLst>
              <a:gd name="adj" fmla="val 3125"/>
            </a:avLst>
          </a:prstGeom>
          <a:solidFill>
            <a:srgbClr val="1C080B">
              <a:alpha val="78000"/>
            </a:srgbClr>
          </a:solidFill>
          <a:ln w="9525">
            <a:solidFill>
              <a:srgbClr val="7A3038"/>
            </a:solidFill>
            <a:prstDash val="solid"/>
          </a:ln>
        </p:spPr>
      </p:sp>
      <p:pic>
        <p:nvPicPr>
          <p:cNvPr id="16" name="fx:3:up:n2" descr="03">    </p:cNvPr>
          <p:cNvPicPr>
            <a:picLocks noChangeAspect="1"/>
          </p:cNvPicPr>
          <p:nvPr/>
        </p:nvPicPr>
        <p:blipFill>
          <a:blip r:embed="rId7"/>
          <a:stretch>
            <a:fillRect/>
          </a:stretch>
        </p:blipFill>
        <p:spPr>
          <a:xfrm>
            <a:off x="6327648" y="2011680"/>
            <a:ext cx="604986" cy="418802"/>
          </a:xfrm>
          <a:prstGeom prst="rect">
            <a:avLst/>
          </a:prstGeom>
        </p:spPr>
      </p:pic>
      <p:sp>
        <p:nvSpPr>
          <p:cNvPr id="17" name="fx:3:up:t2"/>
          <p:cNvSpPr txBox="1"/>
          <p:nvPr/>
        </p:nvSpPr>
        <p:spPr>
          <a:xfrm>
            <a:off x="6327648" y="2697480"/>
            <a:ext cx="2231136" cy="1691640"/>
          </a:xfrm>
          <a:prstGeom prst="rect">
            <a:avLst/>
          </a:prstGeom>
          <a:noFill/>
          <a:ln/>
        </p:spPr>
        <p:txBody>
          <a:bodyPr wrap="square" lIns="0" tIns="0" rIns="0" bIns="0" rtlCol="0" anchor="t"/>
          <a:lstStyle/>
          <a:p>
            <a:pPr indent="0" marL="0">
              <a:buNone/>
            </a:pPr>
            <a:r>
              <a:rPr lang="en-US" sz="1400" b="1" dirty="0">
                <a:solidFill>
                  <a:srgbClr val="F4ECE8"/>
                </a:solidFill>
                <a:latin typeface="Arial" pitchFamily="34" charset="0"/>
                <a:ea typeface="Arial" pitchFamily="34" charset="-122"/>
                <a:cs typeface="Arial" pitchFamily="34" charset="-120"/>
              </a:rPr>
              <a:t>282 million cases,</a:t>
            </a:r>
            <a:pPr indent="0" marL="0">
              <a:buNone/>
            </a:pPr>
            <a:r>
              <a:rPr lang="en-US" sz="1400" dirty="0">
                <a:solidFill>
                  <a:srgbClr val="C9B2AE"/>
                </a:solidFill>
                <a:latin typeface="Arial" pitchFamily="34" charset="0"/>
                <a:ea typeface="Arial" pitchFamily="34" charset="-122"/>
                <a:cs typeface="Arial" pitchFamily="34" charset="-120"/>
              </a:rPr>
              <a:t> 610,000 deaths in 2024, mostly young children in Africa.</a:t>
            </a:r>
            <a:endParaRPr lang="en-US" sz="1400" dirty="0"/>
          </a:p>
        </p:txBody>
      </p:sp>
      <p:sp>
        <p:nvSpPr>
          <p:cNvPr id="18" name="fx:4:up:c3"/>
          <p:cNvSpPr/>
          <p:nvPr/>
        </p:nvSpPr>
        <p:spPr>
          <a:xfrm>
            <a:off x="8915400" y="1783080"/>
            <a:ext cx="2633472" cy="2743200"/>
          </a:xfrm>
          <a:prstGeom prst="roundRect">
            <a:avLst>
              <a:gd name="adj" fmla="val 3125"/>
            </a:avLst>
          </a:prstGeom>
          <a:solidFill>
            <a:srgbClr val="1C080B">
              <a:alpha val="78000"/>
            </a:srgbClr>
          </a:solidFill>
          <a:ln w="9525">
            <a:solidFill>
              <a:srgbClr val="7A3038"/>
            </a:solidFill>
            <a:prstDash val="solid"/>
          </a:ln>
        </p:spPr>
      </p:sp>
      <p:pic>
        <p:nvPicPr>
          <p:cNvPr id="19" name="fx:4:up:n3" descr="04">    </p:cNvPr>
          <p:cNvPicPr>
            <a:picLocks noChangeAspect="1"/>
          </p:cNvPicPr>
          <p:nvPr/>
        </p:nvPicPr>
        <p:blipFill>
          <a:blip r:embed="rId8"/>
          <a:stretch>
            <a:fillRect/>
          </a:stretch>
        </p:blipFill>
        <p:spPr>
          <a:xfrm>
            <a:off x="9116568" y="2011680"/>
            <a:ext cx="595461" cy="418802"/>
          </a:xfrm>
          <a:prstGeom prst="rect">
            <a:avLst/>
          </a:prstGeom>
        </p:spPr>
      </p:pic>
      <p:sp>
        <p:nvSpPr>
          <p:cNvPr id="20" name="fx:4:up:t3"/>
          <p:cNvSpPr txBox="1"/>
          <p:nvPr/>
        </p:nvSpPr>
        <p:spPr>
          <a:xfrm>
            <a:off x="9116568" y="2697480"/>
            <a:ext cx="2231136" cy="1691640"/>
          </a:xfrm>
          <a:prstGeom prst="rect">
            <a:avLst/>
          </a:prstGeom>
          <a:noFill/>
          <a:ln/>
        </p:spPr>
        <p:txBody>
          <a:bodyPr wrap="square" lIns="0" tIns="0" rIns="0" bIns="0" rtlCol="0" anchor="t"/>
          <a:lstStyle/>
          <a:p>
            <a:pPr indent="0" marL="0">
              <a:buNone/>
            </a:pPr>
            <a:r>
              <a:rPr lang="en-US" sz="1400" b="1" dirty="0">
                <a:solidFill>
                  <a:srgbClr val="F4ECE8"/>
                </a:solidFill>
                <a:latin typeface="Arial" pitchFamily="34" charset="0"/>
                <a:ea typeface="Arial" pitchFamily="34" charset="-122"/>
                <a:cs typeface="Arial" pitchFamily="34" charset="-120"/>
              </a:rPr>
              <a:t>We know how to win:</a:t>
            </a:r>
            <a:pPr indent="0" marL="0">
              <a:buNone/>
            </a:pPr>
            <a:r>
              <a:rPr lang="en-US" sz="1400" dirty="0">
                <a:solidFill>
                  <a:srgbClr val="C9B2AE"/>
                </a:solidFill>
                <a:latin typeface="Arial" pitchFamily="34" charset="0"/>
                <a:ea typeface="Arial" pitchFamily="34" charset="-122"/>
                <a:cs typeface="Arial" pitchFamily="34" charset="-120"/>
              </a:rPr>
              <a:t> vaccines, bed nets and fast treatment. Uzbekistan is the proof.</a:t>
            </a:r>
            <a:endParaRPr lang="en-US" sz="1400" dirty="0"/>
          </a:p>
        </p:txBody>
      </p:sp>
      <p:pic>
        <p:nvPicPr>
          <p:cNvPr id="21" name="fx:5.5:zoom:motto" descr="Block the bite · Test early · Treat fast">    </p:cNvPr>
          <p:cNvPicPr>
            <a:picLocks noChangeAspect="1"/>
          </p:cNvPicPr>
          <p:nvPr/>
        </p:nvPicPr>
        <p:blipFill>
          <a:blip r:embed="rId9"/>
          <a:stretch>
            <a:fillRect/>
          </a:stretch>
        </p:blipFill>
        <p:spPr>
          <a:xfrm>
            <a:off x="1820388" y="4937760"/>
            <a:ext cx="8550920" cy="335012"/>
          </a:xfrm>
          <a:prstGeom prst="rect">
            <a:avLst/>
          </a:prstGeom>
        </p:spPr>
      </p:pic>
      <p:sp>
        <p:nvSpPr>
          <p:cNvPr id="22" name="fx:5.5:zoom:dia"/>
          <p:cNvSpPr txBox="1"/>
          <p:nvPr/>
        </p:nvSpPr>
        <p:spPr>
          <a:xfrm>
            <a:off x="5547208" y="4681728"/>
            <a:ext cx="1097280" cy="182880"/>
          </a:xfrm>
          <a:prstGeom prst="rect">
            <a:avLst/>
          </a:prstGeom>
          <a:noFill/>
          <a:ln/>
        </p:spPr>
        <p:txBody>
          <a:bodyPr wrap="square" lIns="0" tIns="0" rIns="0" bIns="0" rtlCol="0" anchor="t"/>
          <a:lstStyle/>
          <a:p>
            <a:pPr algn="ctr" indent="0" marL="0">
              <a:buNone/>
            </a:pPr>
            <a:r>
              <a:rPr lang="en-US" sz="700" dirty="0">
                <a:solidFill>
                  <a:srgbClr val="E5333D"/>
                </a:solidFill>
                <a:latin typeface="Arial" pitchFamily="34" charset="0"/>
                <a:ea typeface="Arial" pitchFamily="34" charset="-122"/>
                <a:cs typeface="Arial" pitchFamily="34" charset="-120"/>
              </a:rPr>
              <a:t>◆  ◆  ◆</a:t>
            </a:r>
            <a:endParaRPr lang="en-US" sz="700" dirty="0"/>
          </a:p>
        </p:txBody>
      </p:sp>
      <p:sp>
        <p:nvSpPr>
          <p:cNvPr id="23" name="fx:6.5:fade:sub"/>
          <p:cNvSpPr txBox="1"/>
          <p:nvPr/>
        </p:nvSpPr>
        <p:spPr>
          <a:xfrm>
            <a:off x="548640" y="5577840"/>
            <a:ext cx="11094415" cy="310896"/>
          </a:xfrm>
          <a:prstGeom prst="rect">
            <a:avLst/>
          </a:prstGeom>
          <a:noFill/>
          <a:ln/>
        </p:spPr>
        <p:txBody>
          <a:bodyPr wrap="square" lIns="0" tIns="0" rIns="0" bIns="0" rtlCol="0" anchor="t"/>
          <a:lstStyle/>
          <a:p>
            <a:pPr algn="ctr" indent="0" marL="0">
              <a:buNone/>
            </a:pPr>
            <a:r>
              <a:rPr lang="en-US" sz="1500" i="1" dirty="0">
                <a:solidFill>
                  <a:srgbClr val="C9B2AE"/>
                </a:solidFill>
                <a:latin typeface="Arial" pitchFamily="34" charset="0"/>
                <a:ea typeface="Arial" pitchFamily="34" charset="-122"/>
                <a:cs typeface="Arial" pitchFamily="34" charset="-120"/>
              </a:rPr>
              <a:t>Malaria is preventable and curable.</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42" presetClass="entr" presetSubtype="0" fill="hold" grpId="0" nodeType="afterEffect">
                                  <p:stCondLst>
                                    <p:cond delay="15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50"/>
                                        <p:tgtEl>
                                          <p:spTgt spid="9"/>
                                        </p:tgtEl>
                                      </p:cBhvr>
                                    </p:animEffect>
                                    <p:anim calcmode="lin" valueType="num">
                                      <p:cBhvr>
                                        <p:cTn id="8" dur="550" decel="100000" fill="hold"/>
                                        <p:tgtEl>
                                          <p:spTgt spid="9"/>
                                        </p:tgtEl>
                                        <p:attrNameLst>
                                          <p:attrName>ppt_x</p:attrName>
                                        </p:attrNameLst>
                                      </p:cBhvr>
                                      <p:tavLst>
                                        <p:tav tm="0">
                                          <p:val>
                                            <p:strVal val="#ppt_x"/>
                                          </p:val>
                                        </p:tav>
                                        <p:tav tm="100000">
                                          <p:val>
                                            <p:strVal val="#ppt_x"/>
                                          </p:val>
                                        </p:tav>
                                      </p:tavLst>
                                    </p:anim>
                                    <p:anim calcmode="lin" valueType="num">
                                      <p:cBhvr>
                                        <p:cTn id="9" dur="550" decel="100000" fill="hold"/>
                                        <p:tgtEl>
                                          <p:spTgt spid="9"/>
                                        </p:tgtEl>
                                        <p:attrNameLst>
                                          <p:attrName>ppt_y</p:attrName>
                                        </p:attrNameLst>
                                      </p:cBhvr>
                                      <p:tavLst>
                                        <p:tav tm="0">
                                          <p:val>
                                            <p:strVal val="#ppt_y+0.04"/>
                                          </p:val>
                                        </p:tav>
                                        <p:tav tm="100000">
                                          <p:val>
                                            <p:strVal val="#ppt_y"/>
                                          </p:val>
                                        </p:tav>
                                      </p:tavLst>
                                    </p:anim>
                                  </p:childTnLst>
                                </p:cTn>
                              </p:par>
                              <p:par>
                                <p:cTn id="12" presetID="42" presetClass="entr" presetSubtype="0" fill="hold" grpId="0" nodeType="withEffect">
                                  <p:stCondLst>
                                    <p:cond delay="15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50"/>
                                        <p:tgtEl>
                                          <p:spTgt spid="10"/>
                                        </p:tgtEl>
                                      </p:cBhvr>
                                    </p:animEffect>
                                    <p:anim calcmode="lin" valueType="num">
                                      <p:cBhvr>
                                        <p:cTn id="13" dur="550" decel="100000" fill="hold"/>
                                        <p:tgtEl>
                                          <p:spTgt spid="10"/>
                                        </p:tgtEl>
                                        <p:attrNameLst>
                                          <p:attrName>ppt_x</p:attrName>
                                        </p:attrNameLst>
                                      </p:cBhvr>
                                      <p:tavLst>
                                        <p:tav tm="0">
                                          <p:val>
                                            <p:strVal val="#ppt_x"/>
                                          </p:val>
                                        </p:tav>
                                        <p:tav tm="100000">
                                          <p:val>
                                            <p:strVal val="#ppt_x"/>
                                          </p:val>
                                        </p:tav>
                                      </p:tavLst>
                                    </p:anim>
                                    <p:anim calcmode="lin" valueType="num">
                                      <p:cBhvr>
                                        <p:cTn id="14" dur="550" decel="100000" fill="hold"/>
                                        <p:tgtEl>
                                          <p:spTgt spid="10"/>
                                        </p:tgtEl>
                                        <p:attrNameLst>
                                          <p:attrName>ppt_y</p:attrName>
                                        </p:attrNameLst>
                                      </p:cBhvr>
                                      <p:tavLst>
                                        <p:tav tm="0">
                                          <p:val>
                                            <p:strVal val="#ppt_y+0.04"/>
                                          </p:val>
                                        </p:tav>
                                        <p:tav tm="100000">
                                          <p:val>
                                            <p:strVal val="#ppt_y"/>
                                          </p:val>
                                        </p:tav>
                                      </p:tavLst>
                                    </p:anim>
                                  </p:childTnLst>
                                </p:cTn>
                              </p:par>
                              <p:par>
                                <p:cTn id="17" presetID="42" presetClass="entr" presetSubtype="0" fill="hold" grpId="0" nodeType="withEffect">
                                  <p:stCondLst>
                                    <p:cond delay="15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p:cTn id="18" dur="550" decel="100000" fill="hold"/>
                                        <p:tgtEl>
                                          <p:spTgt spid="11"/>
                                        </p:tgtEl>
                                        <p:attrNameLst>
                                          <p:attrName>ppt_x</p:attrName>
                                        </p:attrNameLst>
                                      </p:cBhvr>
                                      <p:tavLst>
                                        <p:tav tm="0">
                                          <p:val>
                                            <p:strVal val="#ppt_x"/>
                                          </p:val>
                                        </p:tav>
                                        <p:tav tm="100000">
                                          <p:val>
                                            <p:strVal val="#ppt_x"/>
                                          </p:val>
                                        </p:tav>
                                      </p:tavLst>
                                    </p:anim>
                                    <p:anim calcmode="lin" valueType="num">
                                      <p:cBhvr>
                                        <p:cTn id="19" dur="550" decel="100000" fill="hold"/>
                                        <p:tgtEl>
                                          <p:spTgt spid="11"/>
                                        </p:tgtEl>
                                        <p:attrNameLst>
                                          <p:attrName>ppt_y</p:attrName>
                                        </p:attrNameLst>
                                      </p:cBhvr>
                                      <p:tavLst>
                                        <p:tav tm="0">
                                          <p:val>
                                            <p:strVal val="#ppt_y+0.04"/>
                                          </p:val>
                                        </p:tav>
                                        <p:tav tm="100000">
                                          <p:val>
                                            <p:strVal val="#ppt_y"/>
                                          </p:val>
                                        </p:tav>
                                      </p:tavLst>
                                    </p:anim>
                                  </p:childTnLst>
                                </p:cTn>
                              </p:par>
                              <p:par>
                                <p:cTn id="22" presetID="42" presetClass="entr" presetSubtype="0" fill="hold" grpId="0" nodeType="withEffect">
                                  <p:stCondLst>
                                    <p:cond delay="28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50"/>
                                        <p:tgtEl>
                                          <p:spTgt spid="12"/>
                                        </p:tgtEl>
                                      </p:cBhvr>
                                    </p:animEffect>
                                    <p:anim calcmode="lin" valueType="num">
                                      <p:cBhvr>
                                        <p:cTn id="23" dur="550" decel="100000" fill="hold"/>
                                        <p:tgtEl>
                                          <p:spTgt spid="12"/>
                                        </p:tgtEl>
                                        <p:attrNameLst>
                                          <p:attrName>ppt_x</p:attrName>
                                        </p:attrNameLst>
                                      </p:cBhvr>
                                      <p:tavLst>
                                        <p:tav tm="0">
                                          <p:val>
                                            <p:strVal val="#ppt_x"/>
                                          </p:val>
                                        </p:tav>
                                        <p:tav tm="100000">
                                          <p:val>
                                            <p:strVal val="#ppt_x"/>
                                          </p:val>
                                        </p:tav>
                                      </p:tavLst>
                                    </p:anim>
                                    <p:anim calcmode="lin" valueType="num">
                                      <p:cBhvr>
                                        <p:cTn id="24" dur="550" decel="100000" fill="hold"/>
                                        <p:tgtEl>
                                          <p:spTgt spid="12"/>
                                        </p:tgtEl>
                                        <p:attrNameLst>
                                          <p:attrName>ppt_y</p:attrName>
                                        </p:attrNameLst>
                                      </p:cBhvr>
                                      <p:tavLst>
                                        <p:tav tm="0">
                                          <p:val>
                                            <p:strVal val="#ppt_y+0.04"/>
                                          </p:val>
                                        </p:tav>
                                        <p:tav tm="100000">
                                          <p:val>
                                            <p:strVal val="#ppt_y"/>
                                          </p:val>
                                        </p:tav>
                                      </p:tavLst>
                                    </p:anim>
                                  </p:childTnLst>
                                </p:cTn>
                              </p:par>
                              <p:par>
                                <p:cTn id="27" presetID="42" presetClass="entr" presetSubtype="0" fill="hold" grpId="0" nodeType="withEffect">
                                  <p:stCondLst>
                                    <p:cond delay="28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50"/>
                                        <p:tgtEl>
                                          <p:spTgt spid="13"/>
                                        </p:tgtEl>
                                      </p:cBhvr>
                                    </p:animEffect>
                                    <p:anim calcmode="lin" valueType="num">
                                      <p:cBhvr>
                                        <p:cTn id="28" dur="550" decel="100000" fill="hold"/>
                                        <p:tgtEl>
                                          <p:spTgt spid="13"/>
                                        </p:tgtEl>
                                        <p:attrNameLst>
                                          <p:attrName>ppt_x</p:attrName>
                                        </p:attrNameLst>
                                      </p:cBhvr>
                                      <p:tavLst>
                                        <p:tav tm="0">
                                          <p:val>
                                            <p:strVal val="#ppt_x"/>
                                          </p:val>
                                        </p:tav>
                                        <p:tav tm="100000">
                                          <p:val>
                                            <p:strVal val="#ppt_x"/>
                                          </p:val>
                                        </p:tav>
                                      </p:tavLst>
                                    </p:anim>
                                    <p:anim calcmode="lin" valueType="num">
                                      <p:cBhvr>
                                        <p:cTn id="29" dur="550" decel="100000" fill="hold"/>
                                        <p:tgtEl>
                                          <p:spTgt spid="13"/>
                                        </p:tgtEl>
                                        <p:attrNameLst>
                                          <p:attrName>ppt_y</p:attrName>
                                        </p:attrNameLst>
                                      </p:cBhvr>
                                      <p:tavLst>
                                        <p:tav tm="0">
                                          <p:val>
                                            <p:strVal val="#ppt_y+0.04"/>
                                          </p:val>
                                        </p:tav>
                                        <p:tav tm="100000">
                                          <p:val>
                                            <p:strVal val="#ppt_y"/>
                                          </p:val>
                                        </p:tav>
                                      </p:tavLst>
                                    </p:anim>
                                  </p:childTnLst>
                                </p:cTn>
                              </p:par>
                              <p:par>
                                <p:cTn id="32" presetID="42" presetClass="entr" presetSubtype="0" fill="hold" grpId="0" nodeType="withEffect">
                                  <p:stCondLst>
                                    <p:cond delay="28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50"/>
                                        <p:tgtEl>
                                          <p:spTgt spid="14"/>
                                        </p:tgtEl>
                                      </p:cBhvr>
                                    </p:animEffect>
                                    <p:anim calcmode="lin" valueType="num">
                                      <p:cBhvr>
                                        <p:cTn id="33" dur="550" decel="100000" fill="hold"/>
                                        <p:tgtEl>
                                          <p:spTgt spid="14"/>
                                        </p:tgtEl>
                                        <p:attrNameLst>
                                          <p:attrName>ppt_x</p:attrName>
                                        </p:attrNameLst>
                                      </p:cBhvr>
                                      <p:tavLst>
                                        <p:tav tm="0">
                                          <p:val>
                                            <p:strVal val="#ppt_x"/>
                                          </p:val>
                                        </p:tav>
                                        <p:tav tm="100000">
                                          <p:val>
                                            <p:strVal val="#ppt_x"/>
                                          </p:val>
                                        </p:tav>
                                      </p:tavLst>
                                    </p:anim>
                                    <p:anim calcmode="lin" valueType="num">
                                      <p:cBhvr>
                                        <p:cTn id="34" dur="550" decel="100000" fill="hold"/>
                                        <p:tgtEl>
                                          <p:spTgt spid="14"/>
                                        </p:tgtEl>
                                        <p:attrNameLst>
                                          <p:attrName>ppt_y</p:attrName>
                                        </p:attrNameLst>
                                      </p:cBhvr>
                                      <p:tavLst>
                                        <p:tav tm="0">
                                          <p:val>
                                            <p:strVal val="#ppt_y+0.04"/>
                                          </p:val>
                                        </p:tav>
                                        <p:tav tm="100000">
                                          <p:val>
                                            <p:strVal val="#ppt_y"/>
                                          </p:val>
                                        </p:tav>
                                      </p:tavLst>
                                    </p:anim>
                                  </p:childTnLst>
                                </p:cTn>
                              </p:par>
                              <p:par>
                                <p:cTn id="37" presetID="42" presetClass="entr" presetSubtype="0" fill="hold" grpId="0" nodeType="withEffect">
                                  <p:stCondLst>
                                    <p:cond delay="41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50"/>
                                        <p:tgtEl>
                                          <p:spTgt spid="15"/>
                                        </p:tgtEl>
                                      </p:cBhvr>
                                    </p:animEffect>
                                    <p:anim calcmode="lin" valueType="num">
                                      <p:cBhvr>
                                        <p:cTn id="38" dur="550" decel="100000" fill="hold"/>
                                        <p:tgtEl>
                                          <p:spTgt spid="15"/>
                                        </p:tgtEl>
                                        <p:attrNameLst>
                                          <p:attrName>ppt_x</p:attrName>
                                        </p:attrNameLst>
                                      </p:cBhvr>
                                      <p:tavLst>
                                        <p:tav tm="0">
                                          <p:val>
                                            <p:strVal val="#ppt_x"/>
                                          </p:val>
                                        </p:tav>
                                        <p:tav tm="100000">
                                          <p:val>
                                            <p:strVal val="#ppt_x"/>
                                          </p:val>
                                        </p:tav>
                                      </p:tavLst>
                                    </p:anim>
                                    <p:anim calcmode="lin" valueType="num">
                                      <p:cBhvr>
                                        <p:cTn id="39" dur="550" decel="100000" fill="hold"/>
                                        <p:tgtEl>
                                          <p:spTgt spid="15"/>
                                        </p:tgtEl>
                                        <p:attrNameLst>
                                          <p:attrName>ppt_y</p:attrName>
                                        </p:attrNameLst>
                                      </p:cBhvr>
                                      <p:tavLst>
                                        <p:tav tm="0">
                                          <p:val>
                                            <p:strVal val="#ppt_y+0.04"/>
                                          </p:val>
                                        </p:tav>
                                        <p:tav tm="100000">
                                          <p:val>
                                            <p:strVal val="#ppt_y"/>
                                          </p:val>
                                        </p:tav>
                                      </p:tavLst>
                                    </p:anim>
                                  </p:childTnLst>
                                </p:cTn>
                              </p:par>
                              <p:par>
                                <p:cTn id="42" presetID="42" presetClass="entr" presetSubtype="0" fill="hold" grpId="0" nodeType="withEffect">
                                  <p:stCondLst>
                                    <p:cond delay="41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50"/>
                                        <p:tgtEl>
                                          <p:spTgt spid="16"/>
                                        </p:tgtEl>
                                      </p:cBhvr>
                                    </p:animEffect>
                                    <p:anim calcmode="lin" valueType="num">
                                      <p:cBhvr>
                                        <p:cTn id="43" dur="550" decel="100000" fill="hold"/>
                                        <p:tgtEl>
                                          <p:spTgt spid="16"/>
                                        </p:tgtEl>
                                        <p:attrNameLst>
                                          <p:attrName>ppt_x</p:attrName>
                                        </p:attrNameLst>
                                      </p:cBhvr>
                                      <p:tavLst>
                                        <p:tav tm="0">
                                          <p:val>
                                            <p:strVal val="#ppt_x"/>
                                          </p:val>
                                        </p:tav>
                                        <p:tav tm="100000">
                                          <p:val>
                                            <p:strVal val="#ppt_x"/>
                                          </p:val>
                                        </p:tav>
                                      </p:tavLst>
                                    </p:anim>
                                    <p:anim calcmode="lin" valueType="num">
                                      <p:cBhvr>
                                        <p:cTn id="44" dur="550" decel="100000" fill="hold"/>
                                        <p:tgtEl>
                                          <p:spTgt spid="16"/>
                                        </p:tgtEl>
                                        <p:attrNameLst>
                                          <p:attrName>ppt_y</p:attrName>
                                        </p:attrNameLst>
                                      </p:cBhvr>
                                      <p:tavLst>
                                        <p:tav tm="0">
                                          <p:val>
                                            <p:strVal val="#ppt_y+0.04"/>
                                          </p:val>
                                        </p:tav>
                                        <p:tav tm="100000">
                                          <p:val>
                                            <p:strVal val="#ppt_y"/>
                                          </p:val>
                                        </p:tav>
                                      </p:tavLst>
                                    </p:anim>
                                  </p:childTnLst>
                                </p:cTn>
                              </p:par>
                              <p:par>
                                <p:cTn id="47" presetID="42" presetClass="entr" presetSubtype="0" fill="hold" grpId="0" nodeType="withEffect">
                                  <p:stCondLst>
                                    <p:cond delay="41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50"/>
                                        <p:tgtEl>
                                          <p:spTgt spid="17"/>
                                        </p:tgtEl>
                                      </p:cBhvr>
                                    </p:animEffect>
                                    <p:anim calcmode="lin" valueType="num">
                                      <p:cBhvr>
                                        <p:cTn id="48" dur="550" decel="100000" fill="hold"/>
                                        <p:tgtEl>
                                          <p:spTgt spid="17"/>
                                        </p:tgtEl>
                                        <p:attrNameLst>
                                          <p:attrName>ppt_x</p:attrName>
                                        </p:attrNameLst>
                                      </p:cBhvr>
                                      <p:tavLst>
                                        <p:tav tm="0">
                                          <p:val>
                                            <p:strVal val="#ppt_x"/>
                                          </p:val>
                                        </p:tav>
                                        <p:tav tm="100000">
                                          <p:val>
                                            <p:strVal val="#ppt_x"/>
                                          </p:val>
                                        </p:tav>
                                      </p:tavLst>
                                    </p:anim>
                                    <p:anim calcmode="lin" valueType="num">
                                      <p:cBhvr>
                                        <p:cTn id="49" dur="550" decel="100000" fill="hold"/>
                                        <p:tgtEl>
                                          <p:spTgt spid="17"/>
                                        </p:tgtEl>
                                        <p:attrNameLst>
                                          <p:attrName>ppt_y</p:attrName>
                                        </p:attrNameLst>
                                      </p:cBhvr>
                                      <p:tavLst>
                                        <p:tav tm="0">
                                          <p:val>
                                            <p:strVal val="#ppt_y+0.04"/>
                                          </p:val>
                                        </p:tav>
                                        <p:tav tm="100000">
                                          <p:val>
                                            <p:strVal val="#ppt_y"/>
                                          </p:val>
                                        </p:tav>
                                      </p:tavLst>
                                    </p:anim>
                                  </p:childTnLst>
                                </p:cTn>
                              </p:par>
                              <p:par>
                                <p:cTn id="52" presetID="42" presetClass="entr" presetSubtype="0" fill="hold" grpId="0" nodeType="withEffect">
                                  <p:stCondLst>
                                    <p:cond delay="54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50"/>
                                        <p:tgtEl>
                                          <p:spTgt spid="18"/>
                                        </p:tgtEl>
                                      </p:cBhvr>
                                    </p:animEffect>
                                    <p:anim calcmode="lin" valueType="num">
                                      <p:cBhvr>
                                        <p:cTn id="53" dur="550" decel="100000" fill="hold"/>
                                        <p:tgtEl>
                                          <p:spTgt spid="18"/>
                                        </p:tgtEl>
                                        <p:attrNameLst>
                                          <p:attrName>ppt_x</p:attrName>
                                        </p:attrNameLst>
                                      </p:cBhvr>
                                      <p:tavLst>
                                        <p:tav tm="0">
                                          <p:val>
                                            <p:strVal val="#ppt_x"/>
                                          </p:val>
                                        </p:tav>
                                        <p:tav tm="100000">
                                          <p:val>
                                            <p:strVal val="#ppt_x"/>
                                          </p:val>
                                        </p:tav>
                                      </p:tavLst>
                                    </p:anim>
                                    <p:anim calcmode="lin" valueType="num">
                                      <p:cBhvr>
                                        <p:cTn id="54" dur="550" decel="100000" fill="hold"/>
                                        <p:tgtEl>
                                          <p:spTgt spid="18"/>
                                        </p:tgtEl>
                                        <p:attrNameLst>
                                          <p:attrName>ppt_y</p:attrName>
                                        </p:attrNameLst>
                                      </p:cBhvr>
                                      <p:tavLst>
                                        <p:tav tm="0">
                                          <p:val>
                                            <p:strVal val="#ppt_y+0.04"/>
                                          </p:val>
                                        </p:tav>
                                        <p:tav tm="100000">
                                          <p:val>
                                            <p:strVal val="#ppt_y"/>
                                          </p:val>
                                        </p:tav>
                                      </p:tavLst>
                                    </p:anim>
                                  </p:childTnLst>
                                </p:cTn>
                              </p:par>
                              <p:par>
                                <p:cTn id="57" presetID="42" presetClass="entr" presetSubtype="0" fill="hold" grpId="0" nodeType="withEffect">
                                  <p:stCondLst>
                                    <p:cond delay="54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50"/>
                                        <p:tgtEl>
                                          <p:spTgt spid="19"/>
                                        </p:tgtEl>
                                      </p:cBhvr>
                                    </p:animEffect>
                                    <p:anim calcmode="lin" valueType="num">
                                      <p:cBhvr>
                                        <p:cTn id="58" dur="550" decel="100000" fill="hold"/>
                                        <p:tgtEl>
                                          <p:spTgt spid="19"/>
                                        </p:tgtEl>
                                        <p:attrNameLst>
                                          <p:attrName>ppt_x</p:attrName>
                                        </p:attrNameLst>
                                      </p:cBhvr>
                                      <p:tavLst>
                                        <p:tav tm="0">
                                          <p:val>
                                            <p:strVal val="#ppt_x"/>
                                          </p:val>
                                        </p:tav>
                                        <p:tav tm="100000">
                                          <p:val>
                                            <p:strVal val="#ppt_x"/>
                                          </p:val>
                                        </p:tav>
                                      </p:tavLst>
                                    </p:anim>
                                    <p:anim calcmode="lin" valueType="num">
                                      <p:cBhvr>
                                        <p:cTn id="59" dur="550" decel="100000" fill="hold"/>
                                        <p:tgtEl>
                                          <p:spTgt spid="19"/>
                                        </p:tgtEl>
                                        <p:attrNameLst>
                                          <p:attrName>ppt_y</p:attrName>
                                        </p:attrNameLst>
                                      </p:cBhvr>
                                      <p:tavLst>
                                        <p:tav tm="0">
                                          <p:val>
                                            <p:strVal val="#ppt_y+0.04"/>
                                          </p:val>
                                        </p:tav>
                                        <p:tav tm="100000">
                                          <p:val>
                                            <p:strVal val="#ppt_y"/>
                                          </p:val>
                                        </p:tav>
                                      </p:tavLst>
                                    </p:anim>
                                  </p:childTnLst>
                                </p:cTn>
                              </p:par>
                              <p:par>
                                <p:cTn id="62" presetID="42" presetClass="entr" presetSubtype="0" fill="hold" grpId="0" nodeType="withEffect">
                                  <p:stCondLst>
                                    <p:cond delay="54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50"/>
                                        <p:tgtEl>
                                          <p:spTgt spid="20"/>
                                        </p:tgtEl>
                                      </p:cBhvr>
                                    </p:animEffect>
                                    <p:anim calcmode="lin" valueType="num">
                                      <p:cBhvr>
                                        <p:cTn id="63" dur="550" decel="100000" fill="hold"/>
                                        <p:tgtEl>
                                          <p:spTgt spid="20"/>
                                        </p:tgtEl>
                                        <p:attrNameLst>
                                          <p:attrName>ppt_x</p:attrName>
                                        </p:attrNameLst>
                                      </p:cBhvr>
                                      <p:tavLst>
                                        <p:tav tm="0">
                                          <p:val>
                                            <p:strVal val="#ppt_x"/>
                                          </p:val>
                                        </p:tav>
                                        <p:tav tm="100000">
                                          <p:val>
                                            <p:strVal val="#ppt_x"/>
                                          </p:val>
                                        </p:tav>
                                      </p:tavLst>
                                    </p:anim>
                                    <p:anim calcmode="lin" valueType="num">
                                      <p:cBhvr>
                                        <p:cTn id="64" dur="550" decel="100000" fill="hold"/>
                                        <p:tgtEl>
                                          <p:spTgt spid="20"/>
                                        </p:tgtEl>
                                        <p:attrNameLst>
                                          <p:attrName>ppt_y</p:attrName>
                                        </p:attrNameLst>
                                      </p:cBhvr>
                                      <p:tavLst>
                                        <p:tav tm="0">
                                          <p:val>
                                            <p:strVal val="#ppt_y+0.04"/>
                                          </p:val>
                                        </p:tav>
                                        <p:tav tm="100000">
                                          <p:val>
                                            <p:strVal val="#ppt_y"/>
                                          </p:val>
                                        </p:tav>
                                      </p:tavLst>
                                    </p:anim>
                                  </p:childTnLst>
                                </p:cTn>
                              </p:par>
                              <p:par>
                                <p:cTn id="67" presetID="53" presetClass="entr" presetSubtype="16" fill="hold" grpId="0" nodeType="withEffect">
                                  <p:stCondLst>
                                    <p:cond delay="670"/>
                                  </p:stCondLst>
                                  <p:childTnLst>
                                    <p:set>
                                      <p:cBhvr>
                                        <p:cTn id="65" dur="1" fill="hold">
                                          <p:stCondLst>
                                            <p:cond delay="0"/>
                                          </p:stCondLst>
                                        </p:cTn>
                                        <p:tgtEl>
                                          <p:spTgt spid="21"/>
                                        </p:tgtEl>
                                        <p:attrNameLst>
                                          <p:attrName>style.visibility</p:attrName>
                                        </p:attrNameLst>
                                      </p:cBhvr>
                                      <p:to>
                                        <p:strVal val="visible"/>
                                      </p:to>
                                    </p:set>
                                    <p:anim calcmode="lin" valueType="num">
                                      <p:cBhvr>
                                        <p:cTn id="68" dur="600" decel="100000" fill="hold"/>
                                        <p:tgtEl>
                                          <p:spTgt spid="21"/>
                                        </p:tgtEl>
                                        <p:attrNameLst>
                                          <p:attrName>ppt_w</p:attrName>
                                        </p:attrNameLst>
                                      </p:cBhvr>
                                      <p:tavLst>
                                        <p:tav tm="0">
                                          <p:val>
                                            <p:strVal val="#ppt_w*0.7"/>
                                          </p:val>
                                        </p:tav>
                                        <p:tav tm="100000">
                                          <p:val>
                                            <p:strVal val="#ppt_w"/>
                                          </p:val>
                                        </p:tav>
                                      </p:tavLst>
                                    </p:anim>
                                    <p:anim calcmode="lin" valueType="num">
                                      <p:cBhvr>
                                        <p:cTn id="69" dur="600" decel="100000" fill="hold"/>
                                        <p:tgtEl>
                                          <p:spTgt spid="21"/>
                                        </p:tgtEl>
                                        <p:attrNameLst>
                                          <p:attrName>ppt_h</p:attrName>
                                        </p:attrNameLst>
                                      </p:cBhvr>
                                      <p:tavLst>
                                        <p:tav tm="0">
                                          <p:val>
                                            <p:strVal val="#ppt_h*0.7"/>
                                          </p:val>
                                        </p:tav>
                                        <p:tav tm="100000">
                                          <p:val>
                                            <p:strVal val="#ppt_h"/>
                                          </p:val>
                                        </p:tav>
                                      </p:tavLst>
                                    </p:anim>
                                    <p:animEffect transition="in" filter="fade">
                                      <p:cBhvr>
                                        <p:cTn id="66" dur="600"/>
                                        <p:tgtEl>
                                          <p:spTgt spid="21"/>
                                        </p:tgtEl>
                                      </p:cBhvr>
                                    </p:animEffect>
                                  </p:childTnLst>
                                </p:cTn>
                              </p:par>
                              <p:par>
                                <p:cTn id="72" presetID="53" presetClass="entr" presetSubtype="16" fill="hold" grpId="0" nodeType="withEffect">
                                  <p:stCondLst>
                                    <p:cond delay="670"/>
                                  </p:stCondLst>
                                  <p:childTnLst>
                                    <p:set>
                                      <p:cBhvr>
                                        <p:cTn id="70" dur="1" fill="hold">
                                          <p:stCondLst>
                                            <p:cond delay="0"/>
                                          </p:stCondLst>
                                        </p:cTn>
                                        <p:tgtEl>
                                          <p:spTgt spid="22"/>
                                        </p:tgtEl>
                                        <p:attrNameLst>
                                          <p:attrName>style.visibility</p:attrName>
                                        </p:attrNameLst>
                                      </p:cBhvr>
                                      <p:to>
                                        <p:strVal val="visible"/>
                                      </p:to>
                                    </p:set>
                                    <p:anim calcmode="lin" valueType="num">
                                      <p:cBhvr>
                                        <p:cTn id="73" dur="600" decel="100000" fill="hold"/>
                                        <p:tgtEl>
                                          <p:spTgt spid="22"/>
                                        </p:tgtEl>
                                        <p:attrNameLst>
                                          <p:attrName>ppt_w</p:attrName>
                                        </p:attrNameLst>
                                      </p:cBhvr>
                                      <p:tavLst>
                                        <p:tav tm="0">
                                          <p:val>
                                            <p:strVal val="#ppt_w*0.7"/>
                                          </p:val>
                                        </p:tav>
                                        <p:tav tm="100000">
                                          <p:val>
                                            <p:strVal val="#ppt_w"/>
                                          </p:val>
                                        </p:tav>
                                      </p:tavLst>
                                    </p:anim>
                                    <p:anim calcmode="lin" valueType="num">
                                      <p:cBhvr>
                                        <p:cTn id="74" dur="600" decel="100000" fill="hold"/>
                                        <p:tgtEl>
                                          <p:spTgt spid="22"/>
                                        </p:tgtEl>
                                        <p:attrNameLst>
                                          <p:attrName>ppt_h</p:attrName>
                                        </p:attrNameLst>
                                      </p:cBhvr>
                                      <p:tavLst>
                                        <p:tav tm="0">
                                          <p:val>
                                            <p:strVal val="#ppt_h*0.7"/>
                                          </p:val>
                                        </p:tav>
                                        <p:tav tm="100000">
                                          <p:val>
                                            <p:strVal val="#ppt_h"/>
                                          </p:val>
                                        </p:tav>
                                      </p:tavLst>
                                    </p:anim>
                                    <p:animEffect transition="in" filter="fade">
                                      <p:cBhvr>
                                        <p:cTn id="71" dur="600"/>
                                        <p:tgtEl>
                                          <p:spTgt spid="22"/>
                                        </p:tgtEl>
                                      </p:cBhvr>
                                    </p:animEffect>
                                  </p:childTnLst>
                                </p:cTn>
                              </p:par>
                              <p:par>
                                <p:cTn id="77" presetID="10" presetClass="entr" presetSubtype="0" fill="hold" grpId="0" nodeType="withEffect">
                                  <p:stCondLst>
                                    <p:cond delay="80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5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4" grpId="0" animBg="1"/>
      <p:bldP spid="15" grpId="0" animBg="1"/>
      <p:bldP spid="17" grpId="0" animBg="1"/>
      <p:bldP spid="18" grpId="0" animBg="1"/>
      <p:bldP spid="20" grpId="0" animBg="1"/>
      <p:bldP spid="22" grpId="0" animBg="1"/>
      <p:bldP spid="23" grpId="0" animBg="1"/>
    </p:bldLst>
  </p:timing>
</p:sld>
</file>

<file path=ppt/slides/slide15.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15">
    <p:bg>
      <p:bgPr>
        <a:solidFill>
          <a:srgbClr val="0A0405"/>
        </a:solidFill>
      </p:bgPr>
    </p:bg>
    <p:spTree>
      <p:nvGrpSpPr>
        <p:cNvPr id="1" name=""/>
        <p:cNvGrpSpPr/>
        <p:nvPr/>
      </p:nvGrpSpPr>
      <p:grpSpPr>
        <a:xfrm>
          <a:off x="0" y="0"/>
          <a:ext cx="0" cy="0"/>
          <a:chOff x="0" y="0"/>
          <a:chExt cx="0" cy="0"/>
        </a:xfrm>
      </p:grpSpPr>
      <p:pic>
        <p:nvPicPr>
          <p:cNvPr id="2" name="!!bg" descr="Macro photo of a female Anopheles mosquito">    </p:cNvPr>
          <p:cNvPicPr>
            <a:picLocks noChangeAspect="1"/>
          </p:cNvPicPr>
          <p:nvPr/>
        </p:nvPicPr>
        <p:blipFill>
          <a:blip r:embed="rId1"/>
          <a:stretch>
            <a:fillRect/>
          </a:stretch>
        </p:blipFill>
        <p:spPr>
          <a:xfrm>
            <a:off x="-1463040" y="-822960"/>
            <a:ext cx="15087600" cy="8485632"/>
          </a:xfrm>
          <a:prstGeom prst="rect">
            <a:avLst/>
          </a:prstGeom>
        </p:spPr>
      </p:pic>
      <p:pic>
        <p:nvPicPr>
          <p:cNvPr id="3" name="!!shade" descr="/home/user/mdist-tracker/presentations/malaria/build/shade_L.png">    </p:cNvPr>
          <p:cNvPicPr>
            <a:picLocks noChangeAspect="1"/>
          </p:cNvPicPr>
          <p:nvPr/>
        </p:nvPicPr>
        <p:blipFill>
          <a:blip r:embed="rId2"/>
          <a:stretch>
            <a:fillRect/>
          </a:stretch>
        </p:blipFill>
        <p:spPr>
          <a:xfrm>
            <a:off x="0" y="0"/>
            <a:ext cx="12191695" cy="6858000"/>
          </a:xfrm>
          <a:prstGeom prst="rect">
            <a:avLst/>
          </a:prstGeom>
        </p:spPr>
      </p:pic>
      <p:pic>
        <p:nvPicPr>
          <p:cNvPr id="4" name="!!logo" descr="MDIS Tashkent logo">    </p:cNvPr>
          <p:cNvPicPr>
            <a:picLocks noChangeAspect="1"/>
          </p:cNvPicPr>
          <p:nvPr/>
        </p:nvPicPr>
        <p:blipFill>
          <a:blip r:embed="rId3"/>
          <a:stretch>
            <a:fillRect/>
          </a:stretch>
        </p:blipFill>
        <p:spPr>
          <a:xfrm>
            <a:off x="548640" y="502920"/>
            <a:ext cx="3838045" cy="457200"/>
          </a:xfrm>
          <a:prstGeom prst="rect">
            <a:avLst/>
          </a:prstGeom>
        </p:spPr>
      </p:pic>
      <p:pic>
        <p:nvPicPr>
          <p:cNvPr id="5" name="!!title" descr="Thank you">    </p:cNvPr>
          <p:cNvPicPr>
            <a:picLocks noChangeAspect="1"/>
          </p:cNvPicPr>
          <p:nvPr/>
        </p:nvPicPr>
        <p:blipFill>
          <a:blip r:embed="rId4"/>
          <a:stretch>
            <a:fillRect/>
          </a:stretch>
        </p:blipFill>
        <p:spPr>
          <a:xfrm>
            <a:off x="484632" y="1828800"/>
            <a:ext cx="8467576" cy="1229023"/>
          </a:xfrm>
          <a:prstGeom prst="rect">
            <a:avLst/>
          </a:prstGeom>
        </p:spPr>
      </p:pic>
      <p:pic>
        <p:nvPicPr>
          <p:cNvPr id="6" name="fx:1:up:sub" descr="for your attention">    </p:cNvPr>
          <p:cNvPicPr>
            <a:picLocks noChangeAspect="1"/>
          </p:cNvPicPr>
          <p:nvPr/>
        </p:nvPicPr>
        <p:blipFill>
          <a:blip r:embed="rId5"/>
          <a:stretch>
            <a:fillRect/>
          </a:stretch>
        </p:blipFill>
        <p:spPr>
          <a:xfrm>
            <a:off x="548640" y="3154680"/>
            <a:ext cx="4012853" cy="307032"/>
          </a:xfrm>
          <a:prstGeom prst="rect">
            <a:avLst/>
          </a:prstGeom>
        </p:spPr>
      </p:pic>
      <p:sp>
        <p:nvSpPr>
          <p:cNvPr id="7" name="fx:1:up:dia"/>
          <p:cNvSpPr txBox="1"/>
          <p:nvPr/>
        </p:nvSpPr>
        <p:spPr>
          <a:xfrm>
            <a:off x="548640" y="3794760"/>
            <a:ext cx="1097280" cy="182880"/>
          </a:xfrm>
          <a:prstGeom prst="rect">
            <a:avLst/>
          </a:prstGeom>
          <a:noFill/>
          <a:ln/>
        </p:spPr>
        <p:txBody>
          <a:bodyPr wrap="square" lIns="0" tIns="0" rIns="0" bIns="0" rtlCol="0" anchor="t"/>
          <a:lstStyle/>
          <a:p>
            <a:pPr algn="l" indent="0" marL="0">
              <a:buNone/>
            </a:pPr>
            <a:r>
              <a:rPr lang="en-US" sz="700" dirty="0">
                <a:solidFill>
                  <a:srgbClr val="E5333D"/>
                </a:solidFill>
                <a:latin typeface="Arial" pitchFamily="34" charset="0"/>
                <a:ea typeface="Arial" pitchFamily="34" charset="-122"/>
                <a:cs typeface="Arial" pitchFamily="34" charset="-120"/>
              </a:rPr>
              <a:t>◆  ◆  ◆</a:t>
            </a:r>
            <a:endParaRPr lang="en-US" sz="700" dirty="0"/>
          </a:p>
        </p:txBody>
      </p:sp>
      <p:sp>
        <p:nvSpPr>
          <p:cNvPr id="8" name="fx:1:up:q"/>
          <p:cNvSpPr/>
          <p:nvPr/>
        </p:nvSpPr>
        <p:spPr>
          <a:xfrm>
            <a:off x="548640" y="4114800"/>
            <a:ext cx="2454250" cy="274320"/>
          </a:xfrm>
          <a:prstGeom prst="roundRect">
            <a:avLst>
              <a:gd name="adj" fmla="val 50000"/>
            </a:avLst>
          </a:prstGeom>
          <a:solidFill>
            <a:srgbClr val="0A0405">
              <a:alpha val="65000"/>
            </a:srgbClr>
          </a:solidFill>
          <a:ln w="9525">
            <a:solidFill>
              <a:srgbClr val="E5333D"/>
            </a:solidFill>
            <a:prstDash val="solid"/>
          </a:ln>
        </p:spPr>
      </p:sp>
      <p:sp>
        <p:nvSpPr>
          <p:cNvPr id="9" name="fx:1:up:qt"/>
          <p:cNvSpPr txBox="1"/>
          <p:nvPr/>
        </p:nvSpPr>
        <p:spPr>
          <a:xfrm>
            <a:off x="548640" y="4114800"/>
            <a:ext cx="2454250" cy="274320"/>
          </a:xfrm>
          <a:prstGeom prst="rect">
            <a:avLst/>
          </a:prstGeom>
          <a:noFill/>
          <a:ln/>
        </p:spPr>
        <p:txBody>
          <a:bodyPr wrap="square" lIns="0" tIns="0" rIns="0" bIns="0" rtlCol="0" anchor="ctr"/>
          <a:lstStyle/>
          <a:p>
            <a:pPr algn="ctr" indent="0" marL="0">
              <a:buNone/>
            </a:pPr>
            <a:r>
              <a:rPr lang="en-US" sz="1000" b="1" spc="150" kern="0" dirty="0">
                <a:solidFill>
                  <a:srgbClr val="F4ECE8"/>
                </a:solidFill>
                <a:latin typeface="Arial" pitchFamily="34" charset="0"/>
                <a:ea typeface="Arial" pitchFamily="34" charset="-122"/>
                <a:cs typeface="Arial" pitchFamily="34" charset="-120"/>
              </a:rPr>
              <a:t>QUESTIONS ARE WELCOME</a:t>
            </a:r>
            <a:endParaRPr lang="en-US" sz="1000" dirty="0"/>
          </a:p>
        </p:txBody>
      </p:sp>
      <p:sp>
        <p:nvSpPr>
          <p:cNvPr id="10" name="fx:2:fade:names"/>
          <p:cNvSpPr txBox="1"/>
          <p:nvPr/>
        </p:nvSpPr>
        <p:spPr>
          <a:xfrm>
            <a:off x="548640" y="5989320"/>
            <a:ext cx="8686800" cy="274320"/>
          </a:xfrm>
          <a:prstGeom prst="rect">
            <a:avLst/>
          </a:prstGeom>
          <a:noFill/>
          <a:ln/>
        </p:spPr>
        <p:txBody>
          <a:bodyPr wrap="square" lIns="0" tIns="0" rIns="0" bIns="0" rtlCol="0" anchor="t"/>
          <a:lstStyle/>
          <a:p>
            <a:pPr indent="0" marL="0">
              <a:buNone/>
            </a:pPr>
            <a:r>
              <a:rPr lang="en-US" sz="1200" dirty="0">
                <a:solidFill>
                  <a:srgbClr val="C9B2AE"/>
                </a:solidFill>
                <a:latin typeface="Arial" pitchFamily="34" charset="0"/>
                <a:ea typeface="Arial" pitchFamily="34" charset="-122"/>
                <a:cs typeface="Arial" pitchFamily="34" charset="-120"/>
              </a:rPr>
              <a:t>Javohir Azamov   ·   Muhammadrizo Asatullayev   ·   Ramazan Bakiyev   ·   Akmalbek Abduraimov</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42"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anim calcmode="lin" valueType="num">
                                      <p:cBhvr>
                                        <p:cTn id="8" dur="550" decel="100000" fill="hold"/>
                                        <p:tgtEl>
                                          <p:spTgt spid="6"/>
                                        </p:tgtEl>
                                        <p:attrNameLst>
                                          <p:attrName>ppt_x</p:attrName>
                                        </p:attrNameLst>
                                      </p:cBhvr>
                                      <p:tavLst>
                                        <p:tav tm="0">
                                          <p:val>
                                            <p:strVal val="#ppt_x"/>
                                          </p:val>
                                        </p:tav>
                                        <p:tav tm="100000">
                                          <p:val>
                                            <p:strVal val="#ppt_x"/>
                                          </p:val>
                                        </p:tav>
                                      </p:tavLst>
                                    </p:anim>
                                    <p:anim calcmode="lin" valueType="num">
                                      <p:cBhvr>
                                        <p:cTn id="9" dur="550" decel="100000" fill="hold"/>
                                        <p:tgtEl>
                                          <p:spTgt spid="6"/>
                                        </p:tgtEl>
                                        <p:attrNameLst>
                                          <p:attrName>ppt_y</p:attrName>
                                        </p:attrNameLst>
                                      </p:cBhvr>
                                      <p:tavLst>
                                        <p:tav tm="0">
                                          <p:val>
                                            <p:strVal val="#ppt_y+0.04"/>
                                          </p:val>
                                        </p:tav>
                                        <p:tav tm="100000">
                                          <p:val>
                                            <p:strVal val="#ppt_y"/>
                                          </p:val>
                                        </p:tav>
                                      </p:tavLst>
                                    </p:anim>
                                  </p:childTnLst>
                                </p:cTn>
                              </p:par>
                              <p:par>
                                <p:cTn id="12" presetID="42" presetClass="entr" presetSubtype="0" fill="hold" grpId="0" nodeType="withEffect">
                                  <p:stCondLst>
                                    <p:cond delay="15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50"/>
                                        <p:tgtEl>
                                          <p:spTgt spid="7"/>
                                        </p:tgtEl>
                                      </p:cBhvr>
                                    </p:animEffect>
                                    <p:anim calcmode="lin" valueType="num">
                                      <p:cBhvr>
                                        <p:cTn id="13" dur="550" decel="100000" fill="hold"/>
                                        <p:tgtEl>
                                          <p:spTgt spid="7"/>
                                        </p:tgtEl>
                                        <p:attrNameLst>
                                          <p:attrName>ppt_x</p:attrName>
                                        </p:attrNameLst>
                                      </p:cBhvr>
                                      <p:tavLst>
                                        <p:tav tm="0">
                                          <p:val>
                                            <p:strVal val="#ppt_x"/>
                                          </p:val>
                                        </p:tav>
                                        <p:tav tm="100000">
                                          <p:val>
                                            <p:strVal val="#ppt_x"/>
                                          </p:val>
                                        </p:tav>
                                      </p:tavLst>
                                    </p:anim>
                                    <p:anim calcmode="lin" valueType="num">
                                      <p:cBhvr>
                                        <p:cTn id="14" dur="550" decel="100000" fill="hold"/>
                                        <p:tgtEl>
                                          <p:spTgt spid="7"/>
                                        </p:tgtEl>
                                        <p:attrNameLst>
                                          <p:attrName>ppt_y</p:attrName>
                                        </p:attrNameLst>
                                      </p:cBhvr>
                                      <p:tavLst>
                                        <p:tav tm="0">
                                          <p:val>
                                            <p:strVal val="#ppt_y+0.04"/>
                                          </p:val>
                                        </p:tav>
                                        <p:tav tm="100000">
                                          <p:val>
                                            <p:strVal val="#ppt_y"/>
                                          </p:val>
                                        </p:tav>
                                      </p:tavLst>
                                    </p:anim>
                                  </p:childTnLst>
                                </p:cTn>
                              </p:par>
                              <p:par>
                                <p:cTn id="17" presetID="42" presetClass="entr" presetSubtype="0" fill="hold" grpId="0" nodeType="withEffect">
                                  <p:stCondLst>
                                    <p:cond delay="15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50"/>
                                        <p:tgtEl>
                                          <p:spTgt spid="8"/>
                                        </p:tgtEl>
                                      </p:cBhvr>
                                    </p:animEffect>
                                    <p:anim calcmode="lin" valueType="num">
                                      <p:cBhvr>
                                        <p:cTn id="18" dur="550" decel="100000" fill="hold"/>
                                        <p:tgtEl>
                                          <p:spTgt spid="8"/>
                                        </p:tgtEl>
                                        <p:attrNameLst>
                                          <p:attrName>ppt_x</p:attrName>
                                        </p:attrNameLst>
                                      </p:cBhvr>
                                      <p:tavLst>
                                        <p:tav tm="0">
                                          <p:val>
                                            <p:strVal val="#ppt_x"/>
                                          </p:val>
                                        </p:tav>
                                        <p:tav tm="100000">
                                          <p:val>
                                            <p:strVal val="#ppt_x"/>
                                          </p:val>
                                        </p:tav>
                                      </p:tavLst>
                                    </p:anim>
                                    <p:anim calcmode="lin" valueType="num">
                                      <p:cBhvr>
                                        <p:cTn id="19" dur="550" decel="100000" fill="hold"/>
                                        <p:tgtEl>
                                          <p:spTgt spid="8"/>
                                        </p:tgtEl>
                                        <p:attrNameLst>
                                          <p:attrName>ppt_y</p:attrName>
                                        </p:attrNameLst>
                                      </p:cBhvr>
                                      <p:tavLst>
                                        <p:tav tm="0">
                                          <p:val>
                                            <p:strVal val="#ppt_y+0.04"/>
                                          </p:val>
                                        </p:tav>
                                        <p:tav tm="100000">
                                          <p:val>
                                            <p:strVal val="#ppt_y"/>
                                          </p:val>
                                        </p:tav>
                                      </p:tavLst>
                                    </p:anim>
                                  </p:childTnLst>
                                </p:cTn>
                              </p:par>
                              <p:par>
                                <p:cTn id="22" presetID="42" presetClass="entr" presetSubtype="0" fill="hold" grpId="0" nodeType="withEffect">
                                  <p:stCondLst>
                                    <p:cond delay="15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50"/>
                                        <p:tgtEl>
                                          <p:spTgt spid="9"/>
                                        </p:tgtEl>
                                      </p:cBhvr>
                                    </p:animEffect>
                                    <p:anim calcmode="lin" valueType="num">
                                      <p:cBhvr>
                                        <p:cTn id="23" dur="550" decel="100000" fill="hold"/>
                                        <p:tgtEl>
                                          <p:spTgt spid="9"/>
                                        </p:tgtEl>
                                        <p:attrNameLst>
                                          <p:attrName>ppt_x</p:attrName>
                                        </p:attrNameLst>
                                      </p:cBhvr>
                                      <p:tavLst>
                                        <p:tav tm="0">
                                          <p:val>
                                            <p:strVal val="#ppt_x"/>
                                          </p:val>
                                        </p:tav>
                                        <p:tav tm="100000">
                                          <p:val>
                                            <p:strVal val="#ppt_x"/>
                                          </p:val>
                                        </p:tav>
                                      </p:tavLst>
                                    </p:anim>
                                    <p:anim calcmode="lin" valueType="num">
                                      <p:cBhvr>
                                        <p:cTn id="24" dur="550" decel="100000" fill="hold"/>
                                        <p:tgtEl>
                                          <p:spTgt spid="9"/>
                                        </p:tgtEl>
                                        <p:attrNameLst>
                                          <p:attrName>ppt_y</p:attrName>
                                        </p:attrNameLst>
                                      </p:cBhvr>
                                      <p:tavLst>
                                        <p:tav tm="0">
                                          <p:val>
                                            <p:strVal val="#ppt_y+0.04"/>
                                          </p:val>
                                        </p:tav>
                                        <p:tav tm="100000">
                                          <p:val>
                                            <p:strVal val="#ppt_y"/>
                                          </p:val>
                                        </p:tav>
                                      </p:tavLst>
                                    </p:anim>
                                  </p:childTnLst>
                                </p:cTn>
                              </p:par>
                              <p:par>
                                <p:cTn id="27" presetID="10" presetClass="entr" presetSubtype="0" fill="hold" grpId="0" nodeType="withEffect">
                                  <p:stCondLst>
                                    <p:cond delay="28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16.xml><?xml version="1.0" encoding="utf-8"?>
<p:sld xmlns:p14="http://schemas.microsoft.com/office/powerpoint/2010/main" xmlns:a="http://schemas.openxmlformats.org/drawingml/2006/main" xmlns:r="http://schemas.openxmlformats.org/officeDocument/2006/relationships" xmlns:p="http://schemas.openxmlformats.org/presentationml/2006/main">
  <p:cSld name="Slide 16">
    <p:bg>
      <p:bgPr>
        <a:solidFill>
          <a:srgbClr val="0A0405"/>
        </a:solidFill>
      </p:bgPr>
    </p:bg>
    <p:spTree>
      <p:nvGrpSpPr>
        <p:cNvPr id="1" name=""/>
        <p:cNvGrpSpPr/>
        <p:nvPr/>
      </p:nvGrpSpPr>
      <p:grpSpPr>
        <a:xfrm>
          <a:off x="0" y="0"/>
          <a:ext cx="0" cy="0"/>
          <a:chOff x="0" y="0"/>
          <a:chExt cx="0" cy="0"/>
        </a:xfrm>
      </p:grpSpPr>
      <p:pic>
        <p:nvPicPr>
          <p:cNvPr id="2" name="!!bg" descr="Dark red smoke texture">    </p:cNvPr>
          <p:cNvPicPr>
            <a:picLocks noChangeAspect="1"/>
          </p:cNvPicPr>
          <p:nvPr/>
        </p:nvPicPr>
        <p:blipFill>
          <a:blip r:embed="rId1"/>
          <a:stretch>
            <a:fillRect/>
          </a:stretch>
        </p:blipFill>
        <p:spPr>
          <a:xfrm>
            <a:off x="0" y="0"/>
            <a:ext cx="12191695" cy="6858000"/>
          </a:xfrm>
          <a:prstGeom prst="rect">
            <a:avLst/>
          </a:prstGeom>
        </p:spPr>
      </p:pic>
      <p:pic>
        <p:nvPicPr>
          <p:cNvPr id="3" name="!!shade" descr="/home/user/mdist-tracker/presentations/malaria/build/shade_full.png">    </p:cNvPr>
          <p:cNvPicPr>
            <a:picLocks noChangeAspect="1"/>
          </p:cNvPicPr>
          <p:nvPr/>
        </p:nvPicPr>
        <p:blipFill>
          <a:blip r:embed="rId2"/>
          <a:stretch>
            <a:fillRect/>
          </a:stretch>
        </p:blipFill>
        <p:spPr>
          <a:xfrm>
            <a:off x="0" y="0"/>
            <a:ext cx="12191695" cy="6858000"/>
          </a:xfrm>
          <a:prstGeom prst="rect">
            <a:avLst/>
          </a:prstGeom>
        </p:spPr>
      </p:pic>
      <p:sp>
        <p:nvSpPr>
          <p:cNvPr id="4" name="!!pill"/>
          <p:cNvSpPr/>
          <p:nvPr/>
        </p:nvSpPr>
        <p:spPr>
          <a:xfrm>
            <a:off x="548640" y="411480"/>
            <a:ext cx="2644445" cy="274320"/>
          </a:xfrm>
          <a:prstGeom prst="roundRect">
            <a:avLst>
              <a:gd name="adj" fmla="val 50000"/>
            </a:avLst>
          </a:prstGeom>
          <a:solidFill>
            <a:srgbClr val="0A0405">
              <a:alpha val="65000"/>
            </a:srgbClr>
          </a:solidFill>
          <a:ln w="9525">
            <a:solidFill>
              <a:srgbClr val="7A3038"/>
            </a:solidFill>
            <a:prstDash val="solid"/>
          </a:ln>
        </p:spPr>
      </p:sp>
      <p:sp>
        <p:nvSpPr>
          <p:cNvPr id="5" name="!!pilltext"/>
          <p:cNvSpPr txBox="1"/>
          <p:nvPr/>
        </p:nvSpPr>
        <p:spPr>
          <a:xfrm>
            <a:off x="548640" y="411480"/>
            <a:ext cx="2644445" cy="274320"/>
          </a:xfrm>
          <a:prstGeom prst="rect">
            <a:avLst/>
          </a:prstGeom>
          <a:noFill/>
          <a:ln/>
        </p:spPr>
        <p:txBody>
          <a:bodyPr wrap="square" lIns="0" tIns="0" rIns="0" bIns="0" rtlCol="0" anchor="ctr"/>
          <a:lstStyle/>
          <a:p>
            <a:pPr algn="ctr" indent="0" marL="0">
              <a:buNone/>
            </a:pPr>
            <a:r>
              <a:rPr lang="en-US" sz="1000" b="1" spc="150" kern="0" dirty="0">
                <a:solidFill>
                  <a:srgbClr val="C9B2AE"/>
                </a:solidFill>
                <a:latin typeface="Arial" pitchFamily="34" charset="0"/>
                <a:ea typeface="Arial" pitchFamily="34" charset="-122"/>
                <a:cs typeface="Arial" pitchFamily="34" charset="-120"/>
              </a:rPr>
              <a:t>SOURCES · HARVARD STYLE</a:t>
            </a:r>
            <a:endParaRPr lang="en-US" sz="1000" dirty="0"/>
          </a:p>
        </p:txBody>
      </p:sp>
      <p:pic>
        <p:nvPicPr>
          <p:cNvPr id="6" name="!!title" descr="References">    </p:cNvPr>
          <p:cNvPicPr>
            <a:picLocks noChangeAspect="1"/>
          </p:cNvPicPr>
          <p:nvPr/>
        </p:nvPicPr>
        <p:blipFill>
          <a:blip r:embed="rId3"/>
          <a:stretch>
            <a:fillRect/>
          </a:stretch>
        </p:blipFill>
        <p:spPr>
          <a:xfrm>
            <a:off x="521208" y="822960"/>
            <a:ext cx="4286399" cy="530721"/>
          </a:xfrm>
          <a:prstGeom prst="rect">
            <a:avLst/>
          </a:prstGeom>
        </p:spPr>
      </p:pic>
      <p:pic>
        <p:nvPicPr>
          <p:cNvPr id="7" name="!!crest" descr="MDIS Tashkent crest">    </p:cNvPr>
          <p:cNvPicPr>
            <a:picLocks noChangeAspect="1"/>
          </p:cNvPicPr>
          <p:nvPr/>
        </p:nvPicPr>
        <p:blipFill>
          <a:blip r:embed="rId4"/>
          <a:stretch>
            <a:fillRect/>
          </a:stretch>
        </p:blipFill>
        <p:spPr>
          <a:xfrm>
            <a:off x="11249708" y="384048"/>
            <a:ext cx="393347" cy="384048"/>
          </a:xfrm>
          <a:prstGeom prst="rect">
            <a:avLst/>
          </a:prstGeom>
        </p:spPr>
      </p:pic>
      <p:sp>
        <p:nvSpPr>
          <p:cNvPr id="8" name="Text 2"/>
          <p:cNvSpPr txBox="1"/>
          <p:nvPr/>
        </p:nvSpPr>
        <p:spPr>
          <a:xfrm>
            <a:off x="7802575" y="6382512"/>
            <a:ext cx="3840480" cy="256032"/>
          </a:xfrm>
          <a:prstGeom prst="rect">
            <a:avLst/>
          </a:prstGeom>
          <a:noFill/>
          <a:ln/>
        </p:spPr>
        <p:txBody>
          <a:bodyPr wrap="square" lIns="0" tIns="0" rIns="0" bIns="0" rtlCol="0" anchor="ctr"/>
          <a:lstStyle/>
          <a:p>
            <a:pPr algn="r" indent="0" marL="0">
              <a:buNone/>
            </a:pPr>
            <a:r>
              <a:rPr lang="en-US" sz="1000" b="1" spc="100" kern="0" dirty="0">
                <a:solidFill>
                  <a:srgbClr val="C9B2AE"/>
                </a:solidFill>
                <a:latin typeface="Arial" pitchFamily="34" charset="0"/>
                <a:ea typeface="Arial" pitchFamily="34" charset="-122"/>
                <a:cs typeface="Arial" pitchFamily="34" charset="-120"/>
              </a:rPr>
              <a:t>16 / 16</a:t>
            </a:r>
            <a:endParaRPr lang="en-US" sz="1000" dirty="0"/>
          </a:p>
        </p:txBody>
      </p:sp>
      <p:sp>
        <p:nvSpPr>
          <p:cNvPr id="9" name="Text 3"/>
          <p:cNvSpPr txBox="1"/>
          <p:nvPr/>
        </p:nvSpPr>
        <p:spPr>
          <a:xfrm>
            <a:off x="548640" y="1691640"/>
            <a:ext cx="5440680" cy="4572000"/>
          </a:xfrm>
          <a:prstGeom prst="rect">
            <a:avLst/>
          </a:prstGeom>
          <a:noFill/>
          <a:ln/>
        </p:spPr>
        <p:txBody>
          <a:bodyPr wrap="square" lIns="0" tIns="0" rIns="0" bIns="0" rtlCol="0" anchor="t"/>
          <a:lstStyle/>
          <a:p>
            <a:pPr indent="0" marL="0">
              <a:lnSpc>
                <a:spcPct val="100000"/>
              </a:lnSpc>
              <a:spcAft>
                <a:spcPts val="600"/>
              </a:spcAft>
              <a:buNone/>
            </a:pPr>
            <a:r>
              <a:rPr lang="en-US" sz="1000" dirty="0">
                <a:solidFill>
                  <a:srgbClr val="C9B2AE"/>
                </a:solidFill>
                <a:latin typeface="Arial" pitchFamily="34" charset="0"/>
                <a:ea typeface="Arial" pitchFamily="34" charset="-122"/>
                <a:cs typeface="Arial" pitchFamily="34" charset="-120"/>
              </a:rPr>
              <a:t>Achan, J. et al. (2011) ‘Quinine, an old anti-malarial drug in a modern world: role in the treatment of malaria’, Malaria Journal, 10, 144. Available at: https://doi.org/10.1186/1475-2875-10-144</a:t>
            </a:r>
            <a:endParaRPr lang="en-US" sz="1000" dirty="0"/>
          </a:p>
          <a:p>
            <a:pPr indent="0" marL="0">
              <a:lnSpc>
                <a:spcPct val="100000"/>
              </a:lnSpc>
              <a:spcAft>
                <a:spcPts val="600"/>
              </a:spcAft>
              <a:buNone/>
            </a:pPr>
            <a:r>
              <a:rPr lang="en-US" sz="1000" dirty="0">
                <a:solidFill>
                  <a:srgbClr val="C9B2AE"/>
                </a:solidFill>
                <a:latin typeface="Arial" pitchFamily="34" charset="0"/>
                <a:ea typeface="Arial" pitchFamily="34" charset="-122"/>
                <a:cs typeface="Arial" pitchFamily="34" charset="-120"/>
              </a:rPr>
              <a:t>Bhatt, S. et al. (2015) ‘The effect of malaria control on Plasmodium falciparum in Africa between 2000 and 2015’, Nature, 526(7572), pp. 207–211. Available at: https://doi.org/10.1038/nature15535</a:t>
            </a:r>
            <a:endParaRPr lang="en-US" sz="1000" dirty="0"/>
          </a:p>
          <a:p>
            <a:pPr indent="0" marL="0">
              <a:lnSpc>
                <a:spcPct val="100000"/>
              </a:lnSpc>
              <a:spcAft>
                <a:spcPts val="600"/>
              </a:spcAft>
              <a:buNone/>
            </a:pPr>
            <a:r>
              <a:rPr lang="en-US" sz="1000" dirty="0">
                <a:solidFill>
                  <a:srgbClr val="C9B2AE"/>
                </a:solidFill>
                <a:latin typeface="Arial" pitchFamily="34" charset="0"/>
                <a:ea typeface="Arial" pitchFamily="34" charset="-122"/>
                <a:cs typeface="Arial" pitchFamily="34" charset="-120"/>
              </a:rPr>
              <a:t>Cox, F.E.G. (2010) ‘History of the discovery of the malaria parasites and their vectors’, Parasites &amp; Vectors, 3, 5. Available at: https://doi.org/10.1186/1756-3305-3-5</a:t>
            </a:r>
            <a:endParaRPr lang="en-US" sz="1000" dirty="0"/>
          </a:p>
          <a:p>
            <a:pPr indent="0" marL="0">
              <a:lnSpc>
                <a:spcPct val="100000"/>
              </a:lnSpc>
              <a:spcAft>
                <a:spcPts val="600"/>
              </a:spcAft>
              <a:buNone/>
            </a:pPr>
            <a:r>
              <a:rPr lang="en-US" sz="1000" dirty="0">
                <a:solidFill>
                  <a:srgbClr val="C9B2AE"/>
                </a:solidFill>
                <a:latin typeface="Arial" pitchFamily="34" charset="0"/>
                <a:ea typeface="Arial" pitchFamily="34" charset="-122"/>
                <a:cs typeface="Arial" pitchFamily="34" charset="-120"/>
              </a:rPr>
              <a:t>Fontaine, R.E., Najjar, A.E. and Prince, J.S. (1961) ‘The 1958 malaria epidemic in Ethiopia’, American Journal of Tropical Medicine and Hygiene, 10, pp. 795–803. Available at: https://doi.org/10.4269/ajtmh.1961.10.795</a:t>
            </a:r>
            <a:endParaRPr lang="en-US" sz="1000" dirty="0"/>
          </a:p>
          <a:p>
            <a:pPr indent="0" marL="0">
              <a:lnSpc>
                <a:spcPct val="100000"/>
              </a:lnSpc>
              <a:spcAft>
                <a:spcPts val="600"/>
              </a:spcAft>
              <a:buNone/>
            </a:pPr>
            <a:r>
              <a:rPr lang="en-US" sz="1000" dirty="0">
                <a:solidFill>
                  <a:srgbClr val="C9B2AE"/>
                </a:solidFill>
                <a:latin typeface="Arial" pitchFamily="34" charset="0"/>
                <a:ea typeface="Arial" pitchFamily="34" charset="-122"/>
                <a:cs typeface="Arial" pitchFamily="34" charset="-120"/>
              </a:rPr>
              <a:t>Gill, C.A. (1935) Report on the malaria epidemic in Ceylon in 1934–35. Sessional Paper XXIII. Colombo: Ceylon Government Press.</a:t>
            </a:r>
            <a:endParaRPr lang="en-US" sz="1000" dirty="0"/>
          </a:p>
          <a:p>
            <a:pPr indent="0" marL="0">
              <a:lnSpc>
                <a:spcPct val="100000"/>
              </a:lnSpc>
              <a:spcAft>
                <a:spcPts val="600"/>
              </a:spcAft>
              <a:buNone/>
            </a:pPr>
            <a:r>
              <a:rPr lang="en-US" sz="1000" dirty="0">
                <a:solidFill>
                  <a:srgbClr val="C9B2AE"/>
                </a:solidFill>
                <a:latin typeface="Arial" pitchFamily="34" charset="0"/>
                <a:ea typeface="Arial" pitchFamily="34" charset="-122"/>
                <a:cs typeface="Arial" pitchFamily="34" charset="-120"/>
              </a:rPr>
              <a:t>Hawass, Z. et al. (2010) ‘Ancestry and pathology in King Tutankhamun’s family’, JAMA, 303(7), pp. 638–647. Available at: https://doi.org/10.1001/jama.2010.121</a:t>
            </a:r>
            <a:endParaRPr lang="en-US" sz="1000" dirty="0"/>
          </a:p>
          <a:p>
            <a:pPr indent="0" marL="0">
              <a:lnSpc>
                <a:spcPct val="100000"/>
              </a:lnSpc>
              <a:spcAft>
                <a:spcPts val="600"/>
              </a:spcAft>
              <a:buNone/>
            </a:pPr>
            <a:r>
              <a:rPr lang="en-US" sz="1000" dirty="0">
                <a:solidFill>
                  <a:srgbClr val="C9B2AE"/>
                </a:solidFill>
                <a:latin typeface="Arial" pitchFamily="34" charset="0"/>
                <a:ea typeface="Arial" pitchFamily="34" charset="-122"/>
                <a:cs typeface="Arial" pitchFamily="34" charset="-120"/>
              </a:rPr>
              <a:t>Nobel Prize Outreach (2026) All Nobel Prizes in Physiology or Medicine. Available at: https://www.nobelprize.org/prizes/lists/all-nobel-laureates-in-physiology-or-medicine/ (Accessed: 27 October 2026).</a:t>
            </a:r>
            <a:endParaRPr lang="en-US" sz="1000" dirty="0"/>
          </a:p>
          <a:p>
            <a:pPr indent="0" marL="0">
              <a:lnSpc>
                <a:spcPct val="100000"/>
              </a:lnSpc>
              <a:spcAft>
                <a:spcPts val="600"/>
              </a:spcAft>
              <a:buNone/>
            </a:pPr>
            <a:r>
              <a:rPr lang="en-US" sz="1000" dirty="0">
                <a:solidFill>
                  <a:srgbClr val="C9B2AE"/>
                </a:solidFill>
                <a:latin typeface="Arial" pitchFamily="34" charset="0"/>
                <a:ea typeface="Arial" pitchFamily="34" charset="-122"/>
                <a:cs typeface="Arial" pitchFamily="34" charset="-120"/>
              </a:rPr>
              <a:t>University of Oxford (2023) Highly effective R21/Matrix-M malaria vaccine developed by University of Oxford and Serum Institute of India receives WHO prequalification, 21 December. Available at: https://www.ox.ac.uk/news/2023-12-21-highly-effective-r21matrix-m-malaria-vaccine-developed-university-oxford-and-serum (Accessed: 27 October 2026).</a:t>
            </a:r>
            <a:endParaRPr lang="en-US" sz="1000" dirty="0"/>
          </a:p>
        </p:txBody>
      </p:sp>
      <p:sp>
        <p:nvSpPr>
          <p:cNvPr id="10" name="Text 4"/>
          <p:cNvSpPr txBox="1"/>
          <p:nvPr/>
        </p:nvSpPr>
        <p:spPr>
          <a:xfrm>
            <a:off x="6199632" y="1691640"/>
            <a:ext cx="5440680" cy="4572000"/>
          </a:xfrm>
          <a:prstGeom prst="rect">
            <a:avLst/>
          </a:prstGeom>
          <a:noFill/>
          <a:ln/>
        </p:spPr>
        <p:txBody>
          <a:bodyPr wrap="square" lIns="0" tIns="0" rIns="0" bIns="0" rtlCol="0" anchor="t"/>
          <a:lstStyle/>
          <a:p>
            <a:pPr indent="0" marL="0">
              <a:lnSpc>
                <a:spcPct val="100000"/>
              </a:lnSpc>
              <a:spcAft>
                <a:spcPts val="600"/>
              </a:spcAft>
              <a:buNone/>
            </a:pPr>
            <a:r>
              <a:rPr lang="en-US" sz="1000" dirty="0">
                <a:solidFill>
                  <a:srgbClr val="C9B2AE"/>
                </a:solidFill>
                <a:latin typeface="Arial" pitchFamily="34" charset="0"/>
                <a:ea typeface="Arial" pitchFamily="34" charset="-122"/>
                <a:cs typeface="Arial" pitchFamily="34" charset="-120"/>
              </a:rPr>
              <a:t>World Health Organization (2015) Guidelines for the treatment of malaria. 3rd edn. Geneva: WHO. Available at: https://www.ncbi.nlm.nih.gov/books/NBK294445/ (Accessed: 27 October 2026).</a:t>
            </a:r>
            <a:endParaRPr lang="en-US" sz="1000" dirty="0"/>
          </a:p>
          <a:p>
            <a:pPr indent="0" marL="0">
              <a:lnSpc>
                <a:spcPct val="100000"/>
              </a:lnSpc>
              <a:spcAft>
                <a:spcPts val="600"/>
              </a:spcAft>
              <a:buNone/>
            </a:pPr>
            <a:r>
              <a:rPr lang="en-US" sz="1000" dirty="0">
                <a:solidFill>
                  <a:srgbClr val="C9B2AE"/>
                </a:solidFill>
                <a:latin typeface="Arial" pitchFamily="34" charset="0"/>
                <a:ea typeface="Arial" pitchFamily="34" charset="-122"/>
                <a:cs typeface="Arial" pitchFamily="34" charset="-120"/>
              </a:rPr>
              <a:t>World Health Organization (2018) WHO certifies that Uzbekistan has eliminated malaria, 7 December. Available at: https://www.who.int/news/item/07-12-2018-who-certifies-that-uzbekistan-has-eliminated-malaria (Accessed: 27 October 2026).</a:t>
            </a:r>
            <a:endParaRPr lang="en-US" sz="1000" dirty="0"/>
          </a:p>
          <a:p>
            <a:pPr indent="0" marL="0">
              <a:lnSpc>
                <a:spcPct val="100000"/>
              </a:lnSpc>
              <a:spcAft>
                <a:spcPts val="600"/>
              </a:spcAft>
              <a:buNone/>
            </a:pPr>
            <a:r>
              <a:rPr lang="en-US" sz="1000" dirty="0">
                <a:solidFill>
                  <a:srgbClr val="C9B2AE"/>
                </a:solidFill>
                <a:latin typeface="Arial" pitchFamily="34" charset="0"/>
                <a:ea typeface="Arial" pitchFamily="34" charset="-122"/>
                <a:cs typeface="Arial" pitchFamily="34" charset="-120"/>
              </a:rPr>
              <a:t>World Health Organization (2021) WHO recommends groundbreaking malaria vaccine for children at risk, 6 October. Available at: https://www.who.int/news/item/06-10-2021-who-recommends-groundbreaking-malaria-vaccine-for-children-at-risk (Accessed: 27 October 2026).</a:t>
            </a:r>
            <a:endParaRPr lang="en-US" sz="1000" dirty="0"/>
          </a:p>
          <a:p>
            <a:pPr indent="0" marL="0">
              <a:lnSpc>
                <a:spcPct val="100000"/>
              </a:lnSpc>
              <a:spcAft>
                <a:spcPts val="600"/>
              </a:spcAft>
              <a:buNone/>
            </a:pPr>
            <a:r>
              <a:rPr lang="en-US" sz="1000" dirty="0">
                <a:solidFill>
                  <a:srgbClr val="C9B2AE"/>
                </a:solidFill>
                <a:latin typeface="Arial" pitchFamily="34" charset="0"/>
                <a:ea typeface="Arial" pitchFamily="34" charset="-122"/>
                <a:cs typeface="Arial" pitchFamily="34" charset="-120"/>
              </a:rPr>
              <a:t>World Health Organization (2023a) ‘It was just the perfect storm for malaria’: Pakistan responds to surge in cases following the 2022 floods. Available at: https://www.who.int/news-room/feature-stories/detail/It-was-just-the-perfect-storm-for-malaria-pakistan-responds-to-surge-in-cases-following-the-2022-floods (Accessed: 27 October 2026).</a:t>
            </a:r>
            <a:endParaRPr lang="en-US" sz="1000" dirty="0"/>
          </a:p>
          <a:p>
            <a:pPr indent="0" marL="0">
              <a:lnSpc>
                <a:spcPct val="100000"/>
              </a:lnSpc>
              <a:spcAft>
                <a:spcPts val="600"/>
              </a:spcAft>
              <a:buNone/>
            </a:pPr>
            <a:r>
              <a:rPr lang="en-US" sz="1000" dirty="0">
                <a:solidFill>
                  <a:srgbClr val="C9B2AE"/>
                </a:solidFill>
                <a:latin typeface="Arial" pitchFamily="34" charset="0"/>
                <a:ea typeface="Arial" pitchFamily="34" charset="-122"/>
                <a:cs typeface="Arial" pitchFamily="34" charset="-120"/>
              </a:rPr>
              <a:t>World Health Organization (2023b) WHO recommends R21/Matrix-M vaccine for malaria prevention in updated advice on immunization, 2 October. Available at: https://www.who.int/news/item/02-10-2023-who-recommends-r21-matrix-m-vaccine-for-malaria-prevention-in-updated-advice-on-immunization (Accessed: 27 October 2026).</a:t>
            </a:r>
            <a:endParaRPr lang="en-US" sz="1000" dirty="0"/>
          </a:p>
          <a:p>
            <a:pPr indent="0" marL="0">
              <a:lnSpc>
                <a:spcPct val="100000"/>
              </a:lnSpc>
              <a:spcAft>
                <a:spcPts val="600"/>
              </a:spcAft>
              <a:buNone/>
            </a:pPr>
            <a:r>
              <a:rPr lang="en-US" sz="1000" dirty="0">
                <a:solidFill>
                  <a:srgbClr val="C9B2AE"/>
                </a:solidFill>
                <a:latin typeface="Arial" pitchFamily="34" charset="0"/>
                <a:ea typeface="Arial" pitchFamily="34" charset="-122"/>
                <a:cs typeface="Arial" pitchFamily="34" charset="-120"/>
              </a:rPr>
              <a:t>World Health Organization (2025a) Malaria: fact sheet. Available at: https://www.who.int/news-room/fact-sheets/detail/malaria (Accessed: 27 October 2026).</a:t>
            </a:r>
            <a:endParaRPr lang="en-US" sz="1000" dirty="0"/>
          </a:p>
          <a:p>
            <a:pPr indent="0" marL="0">
              <a:lnSpc>
                <a:spcPct val="100000"/>
              </a:lnSpc>
              <a:spcAft>
                <a:spcPts val="600"/>
              </a:spcAft>
              <a:buNone/>
            </a:pPr>
            <a:r>
              <a:rPr lang="en-US" sz="1000" dirty="0">
                <a:solidFill>
                  <a:srgbClr val="C9B2AE"/>
                </a:solidFill>
                <a:latin typeface="Arial" pitchFamily="34" charset="0"/>
                <a:ea typeface="Arial" pitchFamily="34" charset="-122"/>
                <a:cs typeface="Arial" pitchFamily="34" charset="-120"/>
              </a:rPr>
              <a:t>World Health Organization (2025b) World malaria report 2025. Geneva: WHO. Available at: https://www.who.int/teams/global-malaria-programme/reports/world-malaria-report-2025 (Accessed: 27 October 2026).</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4:dur="14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MDIS Tashkent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Malaria: an ancient parasite, a modern fight</dc:title>
  <dc:subject>PptxGenJS Presentation</dc:subject>
  <dc:creator>Javohir Azamov, Muhammadrizo Asatullayev, Ramazan Bakiyev, Akmalbek Abduraimov</dc:creator>
  <cp:lastModifiedBy>Javohir Azamov, Muhammadrizo Asatullayev, Ramazan Bakiyev, Akmalbek Abduraimov</cp:lastModifiedBy>
  <cp:revision>1</cp:revision>
  <dcterms:created xsi:type="dcterms:W3CDTF">2026-10-27T16:36:53Z</dcterms:created>
  <dcterms:modified xsi:type="dcterms:W3CDTF">2026-10-27T16:36:53Z</dcterms:modified>
</cp:coreProperties>
</file>